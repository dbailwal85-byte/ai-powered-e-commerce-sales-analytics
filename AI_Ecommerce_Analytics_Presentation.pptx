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5.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52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Sales Distribution</c:v>
                </c:pt>
              </c:strCache>
            </c:strRef>
          </c:tx>
          <c:spPr>
            <a:solidFill>
              <a:srgbClr val="0891B2"/>
            </a:solidFill>
            <a:effectLst/>
          </c:spPr>
          <c:invertIfNegative val="0"/>
          <c:dPt>
            <c:idx val="0"/>
            <c:invertIfNegative val="0"/>
            <c:bubble3D val="0"/>
            <c:extLst>
              <c:ext xmlns:c16="http://schemas.microsoft.com/office/drawing/2014/chart" uri="{C3380CC4-5D6E-409C-BE32-E72D297353CC}">
                <c16:uniqueId val="{00000001-8570-451E-A0FB-4FE576ED5C74}"/>
              </c:ext>
            </c:extLst>
          </c:dPt>
          <c:dPt>
            <c:idx val="1"/>
            <c:invertIfNegative val="0"/>
            <c:bubble3D val="0"/>
            <c:spPr>
              <a:solidFill>
                <a:srgbClr val="22D3EE"/>
              </a:solidFill>
              <a:effectLst/>
            </c:spPr>
            <c:extLst>
              <c:ext xmlns:c16="http://schemas.microsoft.com/office/drawing/2014/chart" uri="{C3380CC4-5D6E-409C-BE32-E72D297353CC}">
                <c16:uniqueId val="{00000003-8570-451E-A0FB-4FE576ED5C74}"/>
              </c:ext>
            </c:extLst>
          </c:dPt>
          <c:dPt>
            <c:idx val="2"/>
            <c:invertIfNegative val="0"/>
            <c:bubble3D val="0"/>
            <c:spPr>
              <a:solidFill>
                <a:srgbClr val="0A1F44"/>
              </a:solidFill>
              <a:effectLst/>
            </c:spPr>
            <c:extLst>
              <c:ext xmlns:c16="http://schemas.microsoft.com/office/drawing/2014/chart" uri="{C3380CC4-5D6E-409C-BE32-E72D297353CC}">
                <c16:uniqueId val="{00000005-8570-451E-A0FB-4FE576ED5C74}"/>
              </c:ext>
            </c:extLst>
          </c:dPt>
          <c:dPt>
            <c:idx val="3"/>
            <c:invertIfNegative val="0"/>
            <c:bubble3D val="0"/>
            <c:spPr>
              <a:solidFill>
                <a:srgbClr val="64748B"/>
              </a:solidFill>
              <a:effectLst/>
            </c:spPr>
            <c:extLst>
              <c:ext xmlns:c16="http://schemas.microsoft.com/office/drawing/2014/chart" uri="{C3380CC4-5D6E-409C-BE32-E72D297353CC}">
                <c16:uniqueId val="{00000007-8570-451E-A0FB-4FE576ED5C74}"/>
              </c:ext>
            </c:extLst>
          </c:dPt>
          <c:dPt>
            <c:idx val="4"/>
            <c:invertIfNegative val="0"/>
            <c:bubble3D val="0"/>
            <c:spPr>
              <a:solidFill>
                <a:srgbClr val="0F3460"/>
              </a:solidFill>
              <a:effectLst/>
            </c:spPr>
            <c:extLst>
              <c:ext xmlns:c16="http://schemas.microsoft.com/office/drawing/2014/chart" uri="{C3380CC4-5D6E-409C-BE32-E72D297353CC}">
                <c16:uniqueId val="{00000009-8570-451E-A0FB-4FE576ED5C74}"/>
              </c:ext>
            </c:extLst>
          </c:dPt>
          <c:cat>
            <c:strRef>
              <c:f>Sheet1!$A$2:$A$6</c:f>
              <c:strCache>
                <c:ptCount val="5"/>
                <c:pt idx="0">
                  <c:v>&lt;100</c:v>
                </c:pt>
                <c:pt idx="1">
                  <c:v>100-500</c:v>
                </c:pt>
                <c:pt idx="2">
                  <c:v>500-1k</c:v>
                </c:pt>
                <c:pt idx="3">
                  <c:v>1k-5k</c:v>
                </c:pt>
                <c:pt idx="4">
                  <c:v>5k+</c:v>
                </c:pt>
              </c:strCache>
            </c:strRef>
          </c:cat>
          <c:val>
            <c:numRef>
              <c:f>Sheet1!$B$2:$B$6</c:f>
              <c:numCache>
                <c:formatCode>General</c:formatCode>
                <c:ptCount val="5"/>
                <c:pt idx="0">
                  <c:v>3200</c:v>
                </c:pt>
                <c:pt idx="1">
                  <c:v>4100</c:v>
                </c:pt>
                <c:pt idx="2">
                  <c:v>1600</c:v>
                </c:pt>
                <c:pt idx="3">
                  <c:v>850</c:v>
                </c:pt>
                <c:pt idx="4">
                  <c:v>244</c:v>
                </c:pt>
              </c:numCache>
            </c:numRef>
          </c:val>
          <c:extLst>
            <c:ext xmlns:c16="http://schemas.microsoft.com/office/drawing/2014/chart" uri="{C3380CC4-5D6E-409C-BE32-E72D297353CC}">
              <c16:uniqueId val="{0000000A-8570-451E-A0FB-4FE576ED5C7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Region-wise Sales</c:v>
                </c:pt>
              </c:strCache>
            </c:strRef>
          </c:tx>
          <c:spPr>
            <a:solidFill>
              <a:schemeClr val="accent1"/>
            </a:solidFill>
            <a:ln w="9525" cap="flat">
              <a:solidFill>
                <a:srgbClr val="F9F9F9"/>
              </a:solidFill>
              <a:prstDash val="solid"/>
              <a:round/>
            </a:ln>
            <a:effectLst/>
          </c:spPr>
          <c:dPt>
            <c:idx val="0"/>
            <c:bubble3D val="0"/>
            <c:spPr>
              <a:solidFill>
                <a:srgbClr val="0891B2"/>
              </a:solidFill>
              <a:effectLst/>
            </c:spPr>
            <c:extLst>
              <c:ext xmlns:c16="http://schemas.microsoft.com/office/drawing/2014/chart" uri="{C3380CC4-5D6E-409C-BE32-E72D297353CC}">
                <c16:uniqueId val="{00000001-8623-4091-B1CD-E66BA818A80A}"/>
              </c:ext>
            </c:extLst>
          </c:dPt>
          <c:dPt>
            <c:idx val="1"/>
            <c:bubble3D val="0"/>
            <c:spPr>
              <a:solidFill>
                <a:srgbClr val="22D3EE"/>
              </a:solidFill>
              <a:effectLst/>
            </c:spPr>
            <c:extLst>
              <c:ext xmlns:c16="http://schemas.microsoft.com/office/drawing/2014/chart" uri="{C3380CC4-5D6E-409C-BE32-E72D297353CC}">
                <c16:uniqueId val="{00000003-8623-4091-B1CD-E66BA818A80A}"/>
              </c:ext>
            </c:extLst>
          </c:dPt>
          <c:dPt>
            <c:idx val="2"/>
            <c:bubble3D val="0"/>
            <c:spPr>
              <a:solidFill>
                <a:srgbClr val="0A1F44"/>
              </a:solidFill>
              <a:effectLst/>
            </c:spPr>
            <c:extLst>
              <c:ext xmlns:c16="http://schemas.microsoft.com/office/drawing/2014/chart" uri="{C3380CC4-5D6E-409C-BE32-E72D297353CC}">
                <c16:uniqueId val="{00000005-8623-4091-B1CD-E66BA818A80A}"/>
              </c:ext>
            </c:extLst>
          </c:dPt>
          <c:dPt>
            <c:idx val="3"/>
            <c:bubble3D val="0"/>
            <c:spPr>
              <a:solidFill>
                <a:srgbClr val="64748B"/>
              </a:solidFill>
              <a:effectLst/>
            </c:spPr>
            <c:extLst>
              <c:ext xmlns:c16="http://schemas.microsoft.com/office/drawing/2014/chart" uri="{C3380CC4-5D6E-409C-BE32-E72D297353CC}">
                <c16:uniqueId val="{00000007-8623-4091-B1CD-E66BA818A80A}"/>
              </c:ext>
            </c:extLst>
          </c:dPt>
          <c:dLbls>
            <c:dLbl>
              <c:idx val="0"/>
              <c:numFmt formatCode="0%" sourceLinked="0"/>
              <c:spPr/>
              <c:txPr>
                <a:bodyPr/>
                <a:lstStyle/>
                <a:p>
                  <a:pPr>
                    <a:defRPr sz="700" b="0" i="0" u="none" strike="noStrike">
                      <a:solidFill>
                        <a:srgbClr val="0F172A"/>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623-4091-B1CD-E66BA818A80A}"/>
                </c:ext>
              </c:extLst>
            </c:dLbl>
            <c:dLbl>
              <c:idx val="1"/>
              <c:numFmt formatCode="0%" sourceLinked="0"/>
              <c:spPr/>
              <c:txPr>
                <a:bodyPr/>
                <a:lstStyle/>
                <a:p>
                  <a:pPr>
                    <a:defRPr sz="700" b="0" i="0" u="none" strike="noStrike">
                      <a:solidFill>
                        <a:srgbClr val="0F172A"/>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623-4091-B1CD-E66BA818A80A}"/>
                </c:ext>
              </c:extLst>
            </c:dLbl>
            <c:dLbl>
              <c:idx val="2"/>
              <c:numFmt formatCode="0%" sourceLinked="0"/>
              <c:spPr/>
              <c:txPr>
                <a:bodyPr/>
                <a:lstStyle/>
                <a:p>
                  <a:pPr>
                    <a:defRPr sz="700" b="0" i="0" u="none" strike="noStrike">
                      <a:solidFill>
                        <a:srgbClr val="0F172A"/>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623-4091-B1CD-E66BA818A80A}"/>
                </c:ext>
              </c:extLst>
            </c:dLbl>
            <c:dLbl>
              <c:idx val="3"/>
              <c:numFmt formatCode="0%" sourceLinked="0"/>
              <c:spPr/>
              <c:txPr>
                <a:bodyPr/>
                <a:lstStyle/>
                <a:p>
                  <a:pPr>
                    <a:defRPr sz="700" b="0" i="0" u="none" strike="noStrike">
                      <a:solidFill>
                        <a:srgbClr val="0F172A"/>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623-4091-B1CD-E66BA818A80A}"/>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West</c:v>
                </c:pt>
                <c:pt idx="1">
                  <c:v>East</c:v>
                </c:pt>
                <c:pt idx="2">
                  <c:v>Central</c:v>
                </c:pt>
                <c:pt idx="3">
                  <c:v>South</c:v>
                </c:pt>
              </c:strCache>
            </c:strRef>
          </c:cat>
          <c:val>
            <c:numRef>
              <c:f>Sheet1!$B$2:$B$5</c:f>
              <c:numCache>
                <c:formatCode>General</c:formatCode>
                <c:ptCount val="4"/>
                <c:pt idx="0">
                  <c:v>32</c:v>
                </c:pt>
                <c:pt idx="1">
                  <c:v>28</c:v>
                </c:pt>
                <c:pt idx="2">
                  <c:v>22</c:v>
                </c:pt>
                <c:pt idx="3">
                  <c:v>18</c:v>
                </c:pt>
              </c:numCache>
            </c:numRef>
          </c:val>
          <c:extLst>
            <c:ext xmlns:c16="http://schemas.microsoft.com/office/drawing/2014/chart" uri="{C3380CC4-5D6E-409C-BE32-E72D297353CC}">
              <c16:uniqueId val="{00000008-8623-4091-B1CD-E66BA818A80A}"/>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8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Category-wise Sales</c:v>
                </c:pt>
              </c:strCache>
            </c:strRef>
          </c:tx>
          <c:spPr>
            <a:solidFill>
              <a:srgbClr val="0891B2"/>
            </a:solidFill>
            <a:effectLst/>
          </c:spPr>
          <c:invertIfNegative val="0"/>
          <c:dPt>
            <c:idx val="0"/>
            <c:invertIfNegative val="0"/>
            <c:bubble3D val="0"/>
            <c:extLst>
              <c:ext xmlns:c16="http://schemas.microsoft.com/office/drawing/2014/chart" uri="{C3380CC4-5D6E-409C-BE32-E72D297353CC}">
                <c16:uniqueId val="{00000001-0E9E-456C-A949-1CC2866E72DD}"/>
              </c:ext>
            </c:extLst>
          </c:dPt>
          <c:dPt>
            <c:idx val="1"/>
            <c:invertIfNegative val="0"/>
            <c:bubble3D val="0"/>
            <c:spPr>
              <a:solidFill>
                <a:srgbClr val="22D3EE"/>
              </a:solidFill>
              <a:effectLst/>
            </c:spPr>
            <c:extLst>
              <c:ext xmlns:c16="http://schemas.microsoft.com/office/drawing/2014/chart" uri="{C3380CC4-5D6E-409C-BE32-E72D297353CC}">
                <c16:uniqueId val="{00000003-0E9E-456C-A949-1CC2866E72DD}"/>
              </c:ext>
            </c:extLst>
          </c:dPt>
          <c:dPt>
            <c:idx val="2"/>
            <c:invertIfNegative val="0"/>
            <c:bubble3D val="0"/>
            <c:spPr>
              <a:solidFill>
                <a:srgbClr val="0A1F44"/>
              </a:solidFill>
              <a:effectLst/>
            </c:spPr>
            <c:extLst>
              <c:ext xmlns:c16="http://schemas.microsoft.com/office/drawing/2014/chart" uri="{C3380CC4-5D6E-409C-BE32-E72D297353CC}">
                <c16:uniqueId val="{00000005-0E9E-456C-A949-1CC2866E72DD}"/>
              </c:ext>
            </c:extLst>
          </c:dPt>
          <c:cat>
            <c:strRef>
              <c:f>Sheet1!$A$2:$A$4</c:f>
              <c:strCache>
                <c:ptCount val="3"/>
                <c:pt idx="0">
                  <c:v>Furniture</c:v>
                </c:pt>
                <c:pt idx="1">
                  <c:v>Office Sup.</c:v>
                </c:pt>
                <c:pt idx="2">
                  <c:v>Technology</c:v>
                </c:pt>
              </c:strCache>
            </c:strRef>
          </c:cat>
          <c:val>
            <c:numRef>
              <c:f>Sheet1!$B$2:$B$4</c:f>
              <c:numCache>
                <c:formatCode>General</c:formatCode>
                <c:ptCount val="3"/>
                <c:pt idx="0">
                  <c:v>742</c:v>
                </c:pt>
                <c:pt idx="1">
                  <c:v>705</c:v>
                </c:pt>
                <c:pt idx="2">
                  <c:v>836</c:v>
                </c:pt>
              </c:numCache>
            </c:numRef>
          </c:val>
          <c:extLst>
            <c:ext xmlns:c16="http://schemas.microsoft.com/office/drawing/2014/chart" uri="{C3380CC4-5D6E-409C-BE32-E72D297353CC}">
              <c16:uniqueId val="{00000006-0E9E-456C-A949-1CC2866E72D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Monthly Revenue Trend</c:v>
                </c:pt>
              </c:strCache>
            </c:strRef>
          </c:tx>
          <c:spPr>
            <a:ln w="31750" cap="flat">
              <a:solidFill>
                <a:srgbClr val="0891B2"/>
              </a:solidFill>
              <a:prstDash val="solid"/>
              <a:round/>
            </a:ln>
            <a:effectLst/>
          </c:spPr>
          <c:marker>
            <c:symbol val="circle"/>
            <c:size val="6"/>
            <c:spPr>
              <a:solidFill>
                <a:srgbClr val="0891B2"/>
              </a:solidFill>
              <a:ln w="9525" cap="flat">
                <a:solidFill>
                  <a:srgbClr val="0891B2"/>
                </a:solidFill>
                <a:prstDash val="solid"/>
                <a:round/>
              </a:ln>
              <a:effectLst/>
            </c:spPr>
          </c:marker>
          <c:cat>
            <c:strRef>
              <c:f>Sheet1!$A$2:$A$7</c:f>
              <c:strCache>
                <c:ptCount val="6"/>
                <c:pt idx="0">
                  <c:v>Jan</c:v>
                </c:pt>
                <c:pt idx="1">
                  <c:v>Mar</c:v>
                </c:pt>
                <c:pt idx="2">
                  <c:v>May</c:v>
                </c:pt>
                <c:pt idx="3">
                  <c:v>Jul</c:v>
                </c:pt>
                <c:pt idx="4">
                  <c:v>Sep</c:v>
                </c:pt>
                <c:pt idx="5">
                  <c:v>Nov</c:v>
                </c:pt>
              </c:strCache>
            </c:strRef>
          </c:cat>
          <c:val>
            <c:numRef>
              <c:f>Sheet1!$B$2:$B$7</c:f>
              <c:numCache>
                <c:formatCode>General</c:formatCode>
                <c:ptCount val="6"/>
                <c:pt idx="0">
                  <c:v>42</c:v>
                </c:pt>
                <c:pt idx="1">
                  <c:v>45</c:v>
                </c:pt>
                <c:pt idx="2">
                  <c:v>50</c:v>
                </c:pt>
                <c:pt idx="3">
                  <c:v>48</c:v>
                </c:pt>
                <c:pt idx="4">
                  <c:v>55</c:v>
                </c:pt>
                <c:pt idx="5">
                  <c:v>72</c:v>
                </c:pt>
              </c:numCache>
            </c:numRef>
          </c:val>
          <c:smooth val="1"/>
          <c:extLst>
            <c:ext xmlns:c16="http://schemas.microsoft.com/office/drawing/2014/chart" uri="{C3380CC4-5D6E-409C-BE32-E72D297353CC}">
              <c16:uniqueId val="{00000000-827E-406F-9209-A5EA4844676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Forecast</c:v>
                </c:pt>
              </c:strCache>
            </c:strRef>
          </c:tx>
          <c:spPr>
            <a:ln w="31750" cap="flat">
              <a:solidFill>
                <a:srgbClr val="0891B2"/>
              </a:solidFill>
              <a:prstDash val="solid"/>
              <a:round/>
            </a:ln>
            <a:effectLst/>
          </c:spPr>
          <c:marker>
            <c:symbol val="circle"/>
            <c:size val="6"/>
            <c:spPr>
              <a:solidFill>
                <a:srgbClr val="0891B2"/>
              </a:solidFill>
              <a:ln w="9525" cap="flat">
                <a:solidFill>
                  <a:srgbClr val="0891B2"/>
                </a:solidFill>
                <a:prstDash val="solid"/>
                <a:round/>
              </a:ln>
              <a:effectLst/>
            </c:spPr>
          </c:marker>
          <c:cat>
            <c:strRef>
              <c:f>Sheet1!$A$2:$A$9</c:f>
              <c:strCache>
                <c:ptCount val="8"/>
                <c:pt idx="0">
                  <c:v>W1</c:v>
                </c:pt>
                <c:pt idx="1">
                  <c:v>W2</c:v>
                </c:pt>
                <c:pt idx="2">
                  <c:v>W3</c:v>
                </c:pt>
                <c:pt idx="3">
                  <c:v>W4</c:v>
                </c:pt>
                <c:pt idx="4">
                  <c:v>W5</c:v>
                </c:pt>
                <c:pt idx="5">
                  <c:v>W6</c:v>
                </c:pt>
                <c:pt idx="6">
                  <c:v>W7</c:v>
                </c:pt>
                <c:pt idx="7">
                  <c:v>W8</c:v>
                </c:pt>
              </c:strCache>
            </c:strRef>
          </c:cat>
          <c:val>
            <c:numRef>
              <c:f>Sheet1!$B$2:$B$9</c:f>
              <c:numCache>
                <c:formatCode>General</c:formatCode>
                <c:ptCount val="8"/>
                <c:pt idx="0">
                  <c:v>40</c:v>
                </c:pt>
                <c:pt idx="1">
                  <c:v>44</c:v>
                </c:pt>
                <c:pt idx="2">
                  <c:v>41</c:v>
                </c:pt>
                <c:pt idx="3">
                  <c:v>47</c:v>
                </c:pt>
                <c:pt idx="4">
                  <c:v>52</c:v>
                </c:pt>
                <c:pt idx="5">
                  <c:v>50</c:v>
                </c:pt>
                <c:pt idx="6">
                  <c:v>58</c:v>
                </c:pt>
                <c:pt idx="7">
                  <c:v>63</c:v>
                </c:pt>
              </c:numCache>
            </c:numRef>
          </c:val>
          <c:smooth val="1"/>
          <c:extLst>
            <c:ext xmlns:c16="http://schemas.microsoft.com/office/drawing/2014/chart" uri="{C3380CC4-5D6E-409C-BE32-E72D297353CC}">
              <c16:uniqueId val="{00000000-BC90-4743-886E-F321A7D13E4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145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Introduce yourself, the project title, and give a one-line hook: this project takes raw e-commerce transaction data and turns it into forecasts and dashboards a business can actually 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quickly - tell them you'll move from the business problem, through the technical build, to the final working product and results. Keep this to 20-30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e-commerce analytics means in your own words, then pivot to why AI specifically adds value over plain reporting - it doesn't just describe the past, it predicts the future and groups customers automatically.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pain points of manual analysis with what your pipeline solves. If the examiner asks 'why not just use Excel', point to the automation, scale and forecasting capability that manual review cannot provide.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map directly to your ten-stage roadmap. Mention that each objective produced a concrete deliverable - the cleaned dataset, the SQL schema, the two models, and the two deployed interfaces.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a single technical pipeline serves multiple business roles - this shows recruiters you think about impact, not just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pipeline left to right. Mention that each arrow represents a real file handoff: cleaned_sales.csv into MySQL, model .pkl files into the dashboard and app, so it's a genuine working system, not a slideware diagram.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Kaggle Superstore dataset. If asked, be ready to state the actual row/column counts from your final cleaned_sales.csv rather than the illustrative numbers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master diagram - use it if the examiner asks 'walk me through your whole project.' Point along the arrows stage by stage.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your actual cleaning steps performed in pandas - be ready to open your notebook if asked. Mention the before/after row count as concrete proof of the cleaning's impact.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through each chart's business insight, not just the chart itself. Recruiters care that you can turn a chart into a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headline numbers a business owner checks first. Be ready to explain how each KPI is calculated from the cleaned dataset (e.g., profit margin = profit / sales).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normalized schema and why it matters - avoiding data duplication and enabling efficient joins. Mention one real SQL query you wrote, such as a window function ranking customers by total spend.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two-model approach: one supervised for forecasting, one unsupervised for segmentation. This pairing shows breadth across ML paradigms.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forecasting pipeline step by step, then discuss your evaluation metrics honestly - explain what R-squared, MAE and RMSE mean in plain language for a non-technical examiner.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K-Means groups customers using RFM-style features (recency, frequency, monetary value), and how each segment maps to a specific marketing action.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four dashboard views and how a business user would navigate between them day-to-day. If you have the real dashboard.pbix, offer to show it live here.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Streamlit app's purpose - making the models accessible without needing Python or Power BI installed. Offer to demo the live app if available.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concrete outcomes - insights, forecast accuracy, working segments, and a working dashboard - as proof the project met its objectives.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stretch goals, not commitments - frame them as 'if I had more time' to show maturity about scope versus ambition.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home: this project demonstrates the full data analyst/data scientist skill set end-to-end. Reiterate that all claims and metrics are honest and verifiable from your own files.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invite questions, and be ready to open your actual notebook, SQL scripts, dashboard or app live if asked.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2.png"/><Relationship Id="rId10" Type="http://schemas.openxmlformats.org/officeDocument/2006/relationships/image" Target="../media/image25.png"/><Relationship Id="rId4" Type="http://schemas.openxmlformats.org/officeDocument/2006/relationships/image" Target="../media/image21.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29.png"/><Relationship Id="rId12"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23.png"/><Relationship Id="rId5" Type="http://schemas.openxmlformats.org/officeDocument/2006/relationships/image" Target="../media/image27.png"/><Relationship Id="rId10" Type="http://schemas.openxmlformats.org/officeDocument/2006/relationships/image" Target="../media/image6.png"/><Relationship Id="rId4" Type="http://schemas.openxmlformats.org/officeDocument/2006/relationships/image" Target="../media/image21.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9.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4.png"/><Relationship Id="rId4" Type="http://schemas.openxmlformats.org/officeDocument/2006/relationships/image" Target="../media/image4.png"/><Relationship Id="rId9" Type="http://schemas.openxmlformats.org/officeDocument/2006/relationships/image" Target="../media/image3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9.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image" Target="../media/image23.png"/><Relationship Id="rId7"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3.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6.png"/><Relationship Id="rId7"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2.png"/><Relationship Id="rId9"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44"/>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F3460">
              <a:alpha val="70000"/>
            </a:srgbClr>
          </a:solidFill>
          <a:ln/>
        </p:spPr>
      </p:sp>
      <p:sp>
        <p:nvSpPr>
          <p:cNvPr id="3" name="Shape 1"/>
          <p:cNvSpPr/>
          <p:nvPr/>
        </p:nvSpPr>
        <p:spPr>
          <a:xfrm>
            <a:off x="9875520" y="-1005840"/>
            <a:ext cx="3840480" cy="3840480"/>
          </a:xfrm>
          <a:prstGeom prst="ellipse">
            <a:avLst/>
          </a:prstGeom>
          <a:solidFill>
            <a:srgbClr val="0891B2">
              <a:alpha val="45000"/>
            </a:srgbClr>
          </a:solidFill>
          <a:ln/>
        </p:spPr>
      </p:sp>
      <p:sp>
        <p:nvSpPr>
          <p:cNvPr id="4" name="Shape 2"/>
          <p:cNvSpPr/>
          <p:nvPr/>
        </p:nvSpPr>
        <p:spPr>
          <a:xfrm>
            <a:off x="-2286000" y="4389120"/>
            <a:ext cx="4572000" cy="4572000"/>
          </a:xfrm>
          <a:prstGeom prst="ellipse">
            <a:avLst/>
          </a:prstGeom>
          <a:solidFill>
            <a:srgbClr val="0F3460">
              <a:alpha val="60000"/>
            </a:srgbClr>
          </a:solidFill>
          <a:ln/>
        </p:spPr>
      </p:sp>
      <p:sp>
        <p:nvSpPr>
          <p:cNvPr id="5" name="Text 3"/>
          <p:cNvSpPr/>
          <p:nvPr/>
        </p:nvSpPr>
        <p:spPr>
          <a:xfrm>
            <a:off x="822960" y="1234440"/>
            <a:ext cx="8229600" cy="365760"/>
          </a:xfrm>
          <a:prstGeom prst="rect">
            <a:avLst/>
          </a:prstGeom>
          <a:noFill/>
          <a:ln/>
        </p:spPr>
        <p:txBody>
          <a:bodyPr wrap="square" lIns="0" tIns="0" rIns="0" bIns="0" rtlCol="0" anchor="ctr"/>
          <a:lstStyle/>
          <a:p>
            <a:pPr marL="0" indent="0">
              <a:buNone/>
            </a:pPr>
            <a:r>
              <a:rPr lang="en-US" sz="1300" b="1" kern="0" spc="300" dirty="0">
                <a:solidFill>
                  <a:srgbClr val="22D3EE"/>
                </a:solidFill>
                <a:latin typeface="Calibri" pitchFamily="34" charset="0"/>
                <a:ea typeface="Calibri" pitchFamily="34" charset="-122"/>
                <a:cs typeface="Calibri" pitchFamily="34" charset="-120"/>
              </a:rPr>
              <a:t>FINAL YEAR DATA SCIENCE PROJECT</a:t>
            </a:r>
            <a:endParaRPr lang="en-US" sz="1300" dirty="0"/>
          </a:p>
        </p:txBody>
      </p:sp>
      <p:sp>
        <p:nvSpPr>
          <p:cNvPr id="6" name="Text 4"/>
          <p:cNvSpPr/>
          <p:nvPr/>
        </p:nvSpPr>
        <p:spPr>
          <a:xfrm>
            <a:off x="777240" y="1691640"/>
            <a:ext cx="9601200" cy="2286000"/>
          </a:xfrm>
          <a:prstGeom prst="rect">
            <a:avLst/>
          </a:prstGeom>
          <a:noFill/>
          <a:ln/>
        </p:spPr>
        <p:txBody>
          <a:bodyPr wrap="square" lIns="0" tIns="0" rIns="0" bIns="0" rtlCol="0" anchor="ctr"/>
          <a:lstStyle/>
          <a:p>
            <a:pPr marL="0" indent="0">
              <a:lnSpc>
                <a:spcPct val="108000"/>
              </a:lnSpc>
              <a:buNone/>
            </a:pPr>
            <a:r>
              <a:rPr lang="en-US" sz="4400" b="1" dirty="0">
                <a:solidFill>
                  <a:srgbClr val="FFFFFF"/>
                </a:solidFill>
                <a:latin typeface="Cambria" pitchFamily="34" charset="0"/>
                <a:ea typeface="Cambria" pitchFamily="34" charset="-122"/>
                <a:cs typeface="Cambria" pitchFamily="34" charset="-120"/>
              </a:rPr>
              <a:t>AI-Powered E-Commerce</a:t>
            </a:r>
            <a:endParaRPr lang="en-US" sz="4400" dirty="0"/>
          </a:p>
          <a:p>
            <a:pPr marL="0" indent="0">
              <a:lnSpc>
                <a:spcPct val="108000"/>
              </a:lnSpc>
              <a:buNone/>
            </a:pPr>
            <a:r>
              <a:rPr lang="en-US" sz="4400" b="1" dirty="0">
                <a:solidFill>
                  <a:srgbClr val="FFFFFF"/>
                </a:solidFill>
                <a:latin typeface="Cambria" pitchFamily="34" charset="0"/>
                <a:ea typeface="Cambria" pitchFamily="34" charset="-122"/>
                <a:cs typeface="Cambria" pitchFamily="34" charset="-120"/>
              </a:rPr>
              <a:t>Analytics &amp; Sales</a:t>
            </a:r>
            <a:endParaRPr lang="en-US" sz="4400" dirty="0"/>
          </a:p>
          <a:p>
            <a:pPr marL="0" indent="0">
              <a:lnSpc>
                <a:spcPct val="108000"/>
              </a:lnSpc>
              <a:buNone/>
            </a:pPr>
            <a:r>
              <a:rPr lang="en-US" sz="4400" b="1" dirty="0">
                <a:solidFill>
                  <a:srgbClr val="FFFFFF"/>
                </a:solidFill>
                <a:latin typeface="Cambria" pitchFamily="34" charset="0"/>
                <a:ea typeface="Cambria" pitchFamily="34" charset="-122"/>
                <a:cs typeface="Cambria" pitchFamily="34" charset="-120"/>
              </a:rPr>
              <a:t>Forecasting Platform</a:t>
            </a:r>
            <a:endParaRPr lang="en-US" sz="4400" dirty="0"/>
          </a:p>
        </p:txBody>
      </p:sp>
      <p:sp>
        <p:nvSpPr>
          <p:cNvPr id="7" name="Text 5"/>
          <p:cNvSpPr/>
          <p:nvPr/>
        </p:nvSpPr>
        <p:spPr>
          <a:xfrm>
            <a:off x="822960" y="3977640"/>
            <a:ext cx="7955280" cy="548640"/>
          </a:xfrm>
          <a:prstGeom prst="rect">
            <a:avLst/>
          </a:prstGeom>
          <a:noFill/>
          <a:ln/>
        </p:spPr>
        <p:txBody>
          <a:bodyPr wrap="square" lIns="0" tIns="0" rIns="0" bIns="0" rtlCol="0" anchor="ctr"/>
          <a:lstStyle/>
          <a:p>
            <a:pPr marL="0" indent="0">
              <a:buNone/>
            </a:pPr>
            <a:r>
              <a:rPr lang="en-US" sz="1500" i="1" dirty="0">
                <a:solidFill>
                  <a:srgbClr val="94A3B8"/>
                </a:solidFill>
                <a:latin typeface="Calibri" pitchFamily="34" charset="0"/>
                <a:ea typeface="Calibri" pitchFamily="34" charset="-122"/>
                <a:cs typeface="Calibri" pitchFamily="34" charset="-120"/>
              </a:rPr>
              <a:t>From raw transactional data to predictive business intelligence — a complete, end-to-end data science pipeline.</a:t>
            </a:r>
            <a:endParaRPr lang="en-US" sz="1500" dirty="0"/>
          </a:p>
        </p:txBody>
      </p:sp>
      <p:sp>
        <p:nvSpPr>
          <p:cNvPr id="8" name="Shape 6"/>
          <p:cNvSpPr/>
          <p:nvPr/>
        </p:nvSpPr>
        <p:spPr>
          <a:xfrm>
            <a:off x="822960" y="4892040"/>
            <a:ext cx="7863840" cy="1417320"/>
          </a:xfrm>
          <a:prstGeom prst="roundRect">
            <a:avLst>
              <a:gd name="adj" fmla="val 5161"/>
            </a:avLst>
          </a:prstGeom>
          <a:solidFill>
            <a:srgbClr val="0F2A5C"/>
          </a:solidFill>
          <a:ln/>
          <a:effectLst>
            <a:outerShdw blurRad="152400" dist="50800" dir="5400000" algn="bl" rotWithShape="0">
              <a:srgbClr val="000000">
                <a:alpha val="16000"/>
              </a:srgbClr>
            </a:outerShdw>
          </a:effectLst>
        </p:spPr>
        <p:txBody>
          <a:bodyPr/>
          <a:lstStyle/>
          <a:p>
            <a:endParaRPr lang="en-IN" dirty="0"/>
          </a:p>
        </p:txBody>
      </p:sp>
      <p:sp>
        <p:nvSpPr>
          <p:cNvPr id="9" name="Text 7"/>
          <p:cNvSpPr/>
          <p:nvPr/>
        </p:nvSpPr>
        <p:spPr>
          <a:xfrm>
            <a:off x="1097280" y="5074920"/>
            <a:ext cx="3566160" cy="256032"/>
          </a:xfrm>
          <a:prstGeom prst="rect">
            <a:avLst/>
          </a:prstGeom>
          <a:noFill/>
          <a:ln/>
        </p:spPr>
        <p:txBody>
          <a:bodyPr wrap="square" lIns="0" tIns="0" rIns="0" bIns="0" rtlCol="0" anchor="ctr"/>
          <a:lstStyle/>
          <a:p>
            <a:pPr marL="0" indent="0">
              <a:buNone/>
            </a:pPr>
            <a:r>
              <a:rPr lang="en-US" sz="950" b="1" kern="0" spc="100" dirty="0">
                <a:solidFill>
                  <a:srgbClr val="22D3EE"/>
                </a:solidFill>
                <a:latin typeface="Calibri" pitchFamily="34" charset="0"/>
                <a:ea typeface="Calibri" pitchFamily="34" charset="-122"/>
                <a:cs typeface="Calibri" pitchFamily="34" charset="-120"/>
              </a:rPr>
              <a:t>STUDENT</a:t>
            </a:r>
            <a:endParaRPr lang="en-US" sz="950" dirty="0"/>
          </a:p>
        </p:txBody>
      </p:sp>
      <p:sp>
        <p:nvSpPr>
          <p:cNvPr id="10" name="Text 8"/>
          <p:cNvSpPr/>
          <p:nvPr/>
        </p:nvSpPr>
        <p:spPr>
          <a:xfrm>
            <a:off x="1097280" y="5321808"/>
            <a:ext cx="356616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Deepak Bailwal</a:t>
            </a:r>
            <a:endParaRPr lang="en-US" sz="1300" dirty="0"/>
          </a:p>
        </p:txBody>
      </p:sp>
      <p:sp>
        <p:nvSpPr>
          <p:cNvPr id="11" name="Text 9"/>
          <p:cNvSpPr/>
          <p:nvPr/>
        </p:nvSpPr>
        <p:spPr>
          <a:xfrm>
            <a:off x="4892040" y="5074920"/>
            <a:ext cx="3566160" cy="256032"/>
          </a:xfrm>
          <a:prstGeom prst="rect">
            <a:avLst/>
          </a:prstGeom>
          <a:noFill/>
          <a:ln/>
        </p:spPr>
        <p:txBody>
          <a:bodyPr wrap="square" lIns="0" tIns="0" rIns="0" bIns="0" rtlCol="0" anchor="ctr"/>
          <a:lstStyle/>
          <a:p>
            <a:pPr marL="0" indent="0">
              <a:buNone/>
            </a:pPr>
            <a:r>
              <a:rPr lang="en-US" sz="950" b="1" kern="0" spc="100" dirty="0">
                <a:solidFill>
                  <a:srgbClr val="22D3EE"/>
                </a:solidFill>
                <a:latin typeface="Calibri" pitchFamily="34" charset="0"/>
                <a:ea typeface="Calibri" pitchFamily="34" charset="-122"/>
                <a:cs typeface="Calibri" pitchFamily="34" charset="-120"/>
              </a:rPr>
              <a:t>PROGRAM</a:t>
            </a:r>
            <a:endParaRPr lang="en-US" sz="950" dirty="0"/>
          </a:p>
        </p:txBody>
      </p:sp>
      <p:sp>
        <p:nvSpPr>
          <p:cNvPr id="12" name="Text 10"/>
          <p:cNvSpPr/>
          <p:nvPr/>
        </p:nvSpPr>
        <p:spPr>
          <a:xfrm>
            <a:off x="4892040" y="5321808"/>
            <a:ext cx="356616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Diploma in Data Science/analyst</a:t>
            </a:r>
            <a:endParaRPr lang="en-US" sz="1300" dirty="0"/>
          </a:p>
        </p:txBody>
      </p:sp>
      <p:sp>
        <p:nvSpPr>
          <p:cNvPr id="13" name="Text 11"/>
          <p:cNvSpPr/>
          <p:nvPr/>
        </p:nvSpPr>
        <p:spPr>
          <a:xfrm>
            <a:off x="1097280" y="5715000"/>
            <a:ext cx="3566160" cy="256032"/>
          </a:xfrm>
          <a:prstGeom prst="rect">
            <a:avLst/>
          </a:prstGeom>
          <a:noFill/>
          <a:ln/>
        </p:spPr>
        <p:txBody>
          <a:bodyPr wrap="square" lIns="0" tIns="0" rIns="0" bIns="0" rtlCol="0" anchor="ctr"/>
          <a:lstStyle/>
          <a:p>
            <a:pPr marL="0" indent="0">
              <a:buNone/>
            </a:pPr>
            <a:r>
              <a:rPr lang="en-US" sz="950" b="1" kern="0" spc="100" dirty="0">
                <a:solidFill>
                  <a:srgbClr val="22D3EE"/>
                </a:solidFill>
                <a:latin typeface="Calibri" pitchFamily="34" charset="0"/>
                <a:ea typeface="Calibri" pitchFamily="34" charset="-122"/>
                <a:cs typeface="Calibri" pitchFamily="34" charset="-120"/>
              </a:rPr>
              <a:t>GUIDE</a:t>
            </a:r>
            <a:endParaRPr lang="en-US" sz="950" dirty="0"/>
          </a:p>
        </p:txBody>
      </p:sp>
      <p:sp>
        <p:nvSpPr>
          <p:cNvPr id="14" name="Text 12"/>
          <p:cNvSpPr/>
          <p:nvPr/>
        </p:nvSpPr>
        <p:spPr>
          <a:xfrm>
            <a:off x="1097280" y="5961888"/>
            <a:ext cx="356616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Project Supervisor  </a:t>
            </a:r>
            <a:endParaRPr lang="en-US" sz="1300" dirty="0"/>
          </a:p>
        </p:txBody>
      </p:sp>
      <p:sp>
        <p:nvSpPr>
          <p:cNvPr id="15" name="Text 13"/>
          <p:cNvSpPr/>
          <p:nvPr/>
        </p:nvSpPr>
        <p:spPr>
          <a:xfrm>
            <a:off x="4892040" y="5715000"/>
            <a:ext cx="3566160" cy="256032"/>
          </a:xfrm>
          <a:prstGeom prst="rect">
            <a:avLst/>
          </a:prstGeom>
          <a:noFill/>
          <a:ln/>
        </p:spPr>
        <p:txBody>
          <a:bodyPr wrap="square" lIns="0" tIns="0" rIns="0" bIns="0" rtlCol="0" anchor="ctr"/>
          <a:lstStyle/>
          <a:p>
            <a:pPr marL="0" indent="0">
              <a:buNone/>
            </a:pPr>
            <a:r>
              <a:rPr lang="en-US" sz="950" b="1" kern="0" spc="100" dirty="0">
                <a:solidFill>
                  <a:srgbClr val="22D3EE"/>
                </a:solidFill>
                <a:latin typeface="Calibri" pitchFamily="34" charset="0"/>
                <a:ea typeface="Calibri" pitchFamily="34" charset="-122"/>
                <a:cs typeface="Calibri" pitchFamily="34" charset="-120"/>
              </a:rPr>
              <a:t>YEAR</a:t>
            </a:r>
            <a:endParaRPr lang="en-US" sz="950" dirty="0"/>
          </a:p>
        </p:txBody>
      </p:sp>
      <p:sp>
        <p:nvSpPr>
          <p:cNvPr id="16" name="Text 14"/>
          <p:cNvSpPr/>
          <p:nvPr/>
        </p:nvSpPr>
        <p:spPr>
          <a:xfrm>
            <a:off x="4892040" y="5961888"/>
            <a:ext cx="356616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2026</a:t>
            </a:r>
            <a:endParaRPr lang="en-US" sz="1300" dirty="0"/>
          </a:p>
        </p:txBody>
      </p:sp>
      <p:sp>
        <p:nvSpPr>
          <p:cNvPr id="18" name="Text 15"/>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F44"/>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21792"/>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Agenda</a:t>
            </a:r>
            <a:endParaRPr lang="en-US" sz="3200" dirty="0"/>
          </a:p>
        </p:txBody>
      </p:sp>
      <p:sp>
        <p:nvSpPr>
          <p:cNvPr id="4" name="Text 2"/>
          <p:cNvSpPr/>
          <p:nvPr/>
        </p:nvSpPr>
        <p:spPr>
          <a:xfrm>
            <a:off x="548640" y="1234440"/>
            <a:ext cx="10515600" cy="45720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A guided journey from raw data to a deployed, decision-ready platform</a:t>
            </a:r>
            <a:endParaRPr lang="en-US" sz="1500" dirty="0"/>
          </a:p>
        </p:txBody>
      </p:sp>
      <p:sp>
        <p:nvSpPr>
          <p:cNvPr id="5" name="Shape 3"/>
          <p:cNvSpPr/>
          <p:nvPr/>
        </p:nvSpPr>
        <p:spPr>
          <a:xfrm>
            <a:off x="548640" y="1874520"/>
            <a:ext cx="3550920" cy="955548"/>
          </a:xfrm>
          <a:prstGeom prst="roundRect">
            <a:avLst>
              <a:gd name="adj" fmla="val 6699"/>
            </a:avLst>
          </a:prstGeom>
          <a:solidFill>
            <a:srgbClr val="0F2A5C"/>
          </a:solidFill>
          <a:ln/>
        </p:spPr>
      </p:sp>
      <p:sp>
        <p:nvSpPr>
          <p:cNvPr id="6" name="Text 4"/>
          <p:cNvSpPr/>
          <p:nvPr/>
        </p:nvSpPr>
        <p:spPr>
          <a:xfrm>
            <a:off x="731520" y="198424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01</a:t>
            </a:r>
            <a:endParaRPr lang="en-US" sz="1800" dirty="0"/>
          </a:p>
        </p:txBody>
      </p:sp>
      <p:sp>
        <p:nvSpPr>
          <p:cNvPr id="7" name="Text 5"/>
          <p:cNvSpPr/>
          <p:nvPr/>
        </p:nvSpPr>
        <p:spPr>
          <a:xfrm>
            <a:off x="731520" y="237744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Introduction</a:t>
            </a:r>
            <a:endParaRPr lang="en-US" sz="1350" dirty="0"/>
          </a:p>
        </p:txBody>
      </p:sp>
      <p:sp>
        <p:nvSpPr>
          <p:cNvPr id="8" name="Shape 6"/>
          <p:cNvSpPr/>
          <p:nvPr/>
        </p:nvSpPr>
        <p:spPr>
          <a:xfrm>
            <a:off x="4373880" y="1874520"/>
            <a:ext cx="3550920" cy="955548"/>
          </a:xfrm>
          <a:prstGeom prst="roundRect">
            <a:avLst>
              <a:gd name="adj" fmla="val 6699"/>
            </a:avLst>
          </a:prstGeom>
          <a:solidFill>
            <a:srgbClr val="0F2A5C"/>
          </a:solidFill>
          <a:ln/>
        </p:spPr>
      </p:sp>
      <p:sp>
        <p:nvSpPr>
          <p:cNvPr id="9" name="Text 7"/>
          <p:cNvSpPr/>
          <p:nvPr/>
        </p:nvSpPr>
        <p:spPr>
          <a:xfrm>
            <a:off x="4556760" y="198424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02</a:t>
            </a:r>
            <a:endParaRPr lang="en-US" sz="1800" dirty="0"/>
          </a:p>
        </p:txBody>
      </p:sp>
      <p:sp>
        <p:nvSpPr>
          <p:cNvPr id="10" name="Text 8"/>
          <p:cNvSpPr/>
          <p:nvPr/>
        </p:nvSpPr>
        <p:spPr>
          <a:xfrm>
            <a:off x="4556760" y="237744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Problem Statement</a:t>
            </a:r>
            <a:endParaRPr lang="en-US" sz="1350" dirty="0"/>
          </a:p>
        </p:txBody>
      </p:sp>
      <p:sp>
        <p:nvSpPr>
          <p:cNvPr id="11" name="Shape 9"/>
          <p:cNvSpPr/>
          <p:nvPr/>
        </p:nvSpPr>
        <p:spPr>
          <a:xfrm>
            <a:off x="8199120" y="1874520"/>
            <a:ext cx="3550920" cy="955548"/>
          </a:xfrm>
          <a:prstGeom prst="roundRect">
            <a:avLst>
              <a:gd name="adj" fmla="val 6699"/>
            </a:avLst>
          </a:prstGeom>
          <a:solidFill>
            <a:srgbClr val="0F2A5C"/>
          </a:solidFill>
          <a:ln/>
        </p:spPr>
      </p:sp>
      <p:sp>
        <p:nvSpPr>
          <p:cNvPr id="12" name="Text 10"/>
          <p:cNvSpPr/>
          <p:nvPr/>
        </p:nvSpPr>
        <p:spPr>
          <a:xfrm>
            <a:off x="8382000" y="198424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03</a:t>
            </a:r>
            <a:endParaRPr lang="en-US" sz="1800" dirty="0"/>
          </a:p>
        </p:txBody>
      </p:sp>
      <p:sp>
        <p:nvSpPr>
          <p:cNvPr id="13" name="Text 11"/>
          <p:cNvSpPr/>
          <p:nvPr/>
        </p:nvSpPr>
        <p:spPr>
          <a:xfrm>
            <a:off x="8382000" y="237744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Objectives</a:t>
            </a:r>
            <a:endParaRPr lang="en-US" sz="1350" dirty="0"/>
          </a:p>
        </p:txBody>
      </p:sp>
      <p:sp>
        <p:nvSpPr>
          <p:cNvPr id="14" name="Shape 12"/>
          <p:cNvSpPr/>
          <p:nvPr/>
        </p:nvSpPr>
        <p:spPr>
          <a:xfrm>
            <a:off x="548640" y="3040380"/>
            <a:ext cx="3550920" cy="955548"/>
          </a:xfrm>
          <a:prstGeom prst="roundRect">
            <a:avLst>
              <a:gd name="adj" fmla="val 6699"/>
            </a:avLst>
          </a:prstGeom>
          <a:solidFill>
            <a:srgbClr val="0F2A5C"/>
          </a:solidFill>
          <a:ln/>
        </p:spPr>
      </p:sp>
      <p:sp>
        <p:nvSpPr>
          <p:cNvPr id="15" name="Text 13"/>
          <p:cNvSpPr/>
          <p:nvPr/>
        </p:nvSpPr>
        <p:spPr>
          <a:xfrm>
            <a:off x="731520" y="315010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04</a:t>
            </a:r>
            <a:endParaRPr lang="en-US" sz="1800" dirty="0"/>
          </a:p>
        </p:txBody>
      </p:sp>
      <p:sp>
        <p:nvSpPr>
          <p:cNvPr id="16" name="Text 14"/>
          <p:cNvSpPr/>
          <p:nvPr/>
        </p:nvSpPr>
        <p:spPr>
          <a:xfrm>
            <a:off x="731520" y="354330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Technology Stack</a:t>
            </a:r>
            <a:endParaRPr lang="en-US" sz="1350" dirty="0"/>
          </a:p>
        </p:txBody>
      </p:sp>
      <p:sp>
        <p:nvSpPr>
          <p:cNvPr id="17" name="Shape 15"/>
          <p:cNvSpPr/>
          <p:nvPr/>
        </p:nvSpPr>
        <p:spPr>
          <a:xfrm>
            <a:off x="4373880" y="3040380"/>
            <a:ext cx="3550920" cy="955548"/>
          </a:xfrm>
          <a:prstGeom prst="roundRect">
            <a:avLst>
              <a:gd name="adj" fmla="val 6699"/>
            </a:avLst>
          </a:prstGeom>
          <a:solidFill>
            <a:srgbClr val="0F2A5C"/>
          </a:solidFill>
          <a:ln/>
        </p:spPr>
      </p:sp>
      <p:sp>
        <p:nvSpPr>
          <p:cNvPr id="18" name="Text 16"/>
          <p:cNvSpPr/>
          <p:nvPr/>
        </p:nvSpPr>
        <p:spPr>
          <a:xfrm>
            <a:off x="4556760" y="315010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05</a:t>
            </a:r>
            <a:endParaRPr lang="en-US" sz="1800" dirty="0"/>
          </a:p>
        </p:txBody>
      </p:sp>
      <p:sp>
        <p:nvSpPr>
          <p:cNvPr id="19" name="Text 17"/>
          <p:cNvSpPr/>
          <p:nvPr/>
        </p:nvSpPr>
        <p:spPr>
          <a:xfrm>
            <a:off x="4556760" y="354330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Dataset</a:t>
            </a:r>
            <a:endParaRPr lang="en-US" sz="1350" dirty="0"/>
          </a:p>
        </p:txBody>
      </p:sp>
      <p:sp>
        <p:nvSpPr>
          <p:cNvPr id="20" name="Shape 18"/>
          <p:cNvSpPr/>
          <p:nvPr/>
        </p:nvSpPr>
        <p:spPr>
          <a:xfrm>
            <a:off x="8199120" y="3040380"/>
            <a:ext cx="3550920" cy="955548"/>
          </a:xfrm>
          <a:prstGeom prst="roundRect">
            <a:avLst>
              <a:gd name="adj" fmla="val 6699"/>
            </a:avLst>
          </a:prstGeom>
          <a:solidFill>
            <a:srgbClr val="0F2A5C"/>
          </a:solidFill>
          <a:ln/>
        </p:spPr>
      </p:sp>
      <p:sp>
        <p:nvSpPr>
          <p:cNvPr id="21" name="Text 19"/>
          <p:cNvSpPr/>
          <p:nvPr/>
        </p:nvSpPr>
        <p:spPr>
          <a:xfrm>
            <a:off x="8382000" y="315010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06</a:t>
            </a:r>
            <a:endParaRPr lang="en-US" sz="1800" dirty="0"/>
          </a:p>
        </p:txBody>
      </p:sp>
      <p:sp>
        <p:nvSpPr>
          <p:cNvPr id="22" name="Text 20"/>
          <p:cNvSpPr/>
          <p:nvPr/>
        </p:nvSpPr>
        <p:spPr>
          <a:xfrm>
            <a:off x="8382000" y="354330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Methodology &amp; Cleaning</a:t>
            </a:r>
            <a:endParaRPr lang="en-US" sz="1350" dirty="0"/>
          </a:p>
        </p:txBody>
      </p:sp>
      <p:sp>
        <p:nvSpPr>
          <p:cNvPr id="23" name="Shape 21"/>
          <p:cNvSpPr/>
          <p:nvPr/>
        </p:nvSpPr>
        <p:spPr>
          <a:xfrm>
            <a:off x="548640" y="4206240"/>
            <a:ext cx="3550920" cy="955548"/>
          </a:xfrm>
          <a:prstGeom prst="roundRect">
            <a:avLst>
              <a:gd name="adj" fmla="val 6699"/>
            </a:avLst>
          </a:prstGeom>
          <a:solidFill>
            <a:srgbClr val="0F2A5C"/>
          </a:solidFill>
          <a:ln/>
        </p:spPr>
      </p:sp>
      <p:sp>
        <p:nvSpPr>
          <p:cNvPr id="24" name="Text 22"/>
          <p:cNvSpPr/>
          <p:nvPr/>
        </p:nvSpPr>
        <p:spPr>
          <a:xfrm>
            <a:off x="731520" y="431596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07</a:t>
            </a:r>
            <a:endParaRPr lang="en-US" sz="1800" dirty="0"/>
          </a:p>
        </p:txBody>
      </p:sp>
      <p:sp>
        <p:nvSpPr>
          <p:cNvPr id="25" name="Text 23"/>
          <p:cNvSpPr/>
          <p:nvPr/>
        </p:nvSpPr>
        <p:spPr>
          <a:xfrm>
            <a:off x="731520" y="470916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Exploratory Data Analysis</a:t>
            </a:r>
            <a:endParaRPr lang="en-US" sz="1350" dirty="0"/>
          </a:p>
        </p:txBody>
      </p:sp>
      <p:sp>
        <p:nvSpPr>
          <p:cNvPr id="26" name="Shape 24"/>
          <p:cNvSpPr/>
          <p:nvPr/>
        </p:nvSpPr>
        <p:spPr>
          <a:xfrm>
            <a:off x="4373880" y="4206240"/>
            <a:ext cx="3550920" cy="955548"/>
          </a:xfrm>
          <a:prstGeom prst="roundRect">
            <a:avLst>
              <a:gd name="adj" fmla="val 6699"/>
            </a:avLst>
          </a:prstGeom>
          <a:solidFill>
            <a:srgbClr val="0F2A5C"/>
          </a:solidFill>
          <a:ln/>
        </p:spPr>
      </p:sp>
      <p:sp>
        <p:nvSpPr>
          <p:cNvPr id="27" name="Text 25"/>
          <p:cNvSpPr/>
          <p:nvPr/>
        </p:nvSpPr>
        <p:spPr>
          <a:xfrm>
            <a:off x="4556760" y="431596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08</a:t>
            </a:r>
            <a:endParaRPr lang="en-US" sz="1800" dirty="0"/>
          </a:p>
        </p:txBody>
      </p:sp>
      <p:sp>
        <p:nvSpPr>
          <p:cNvPr id="28" name="Text 26"/>
          <p:cNvSpPr/>
          <p:nvPr/>
        </p:nvSpPr>
        <p:spPr>
          <a:xfrm>
            <a:off x="4556760" y="470916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SQL Database</a:t>
            </a:r>
            <a:endParaRPr lang="en-US" sz="1350" dirty="0"/>
          </a:p>
        </p:txBody>
      </p:sp>
      <p:sp>
        <p:nvSpPr>
          <p:cNvPr id="29" name="Shape 27"/>
          <p:cNvSpPr/>
          <p:nvPr/>
        </p:nvSpPr>
        <p:spPr>
          <a:xfrm>
            <a:off x="8199120" y="4206240"/>
            <a:ext cx="3550920" cy="955548"/>
          </a:xfrm>
          <a:prstGeom prst="roundRect">
            <a:avLst>
              <a:gd name="adj" fmla="val 6699"/>
            </a:avLst>
          </a:prstGeom>
          <a:solidFill>
            <a:srgbClr val="0F2A5C"/>
          </a:solidFill>
          <a:ln/>
        </p:spPr>
      </p:sp>
      <p:sp>
        <p:nvSpPr>
          <p:cNvPr id="30" name="Text 28"/>
          <p:cNvSpPr/>
          <p:nvPr/>
        </p:nvSpPr>
        <p:spPr>
          <a:xfrm>
            <a:off x="8382000" y="431596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09</a:t>
            </a:r>
            <a:endParaRPr lang="en-US" sz="1800" dirty="0"/>
          </a:p>
        </p:txBody>
      </p:sp>
      <p:sp>
        <p:nvSpPr>
          <p:cNvPr id="31" name="Text 29"/>
          <p:cNvSpPr/>
          <p:nvPr/>
        </p:nvSpPr>
        <p:spPr>
          <a:xfrm>
            <a:off x="8382000" y="470916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Machine Learning Models</a:t>
            </a:r>
            <a:endParaRPr lang="en-US" sz="1350" dirty="0"/>
          </a:p>
        </p:txBody>
      </p:sp>
      <p:sp>
        <p:nvSpPr>
          <p:cNvPr id="32" name="Shape 30"/>
          <p:cNvSpPr/>
          <p:nvPr/>
        </p:nvSpPr>
        <p:spPr>
          <a:xfrm>
            <a:off x="548640" y="5372100"/>
            <a:ext cx="3550920" cy="955548"/>
          </a:xfrm>
          <a:prstGeom prst="roundRect">
            <a:avLst>
              <a:gd name="adj" fmla="val 6699"/>
            </a:avLst>
          </a:prstGeom>
          <a:solidFill>
            <a:srgbClr val="0F2A5C"/>
          </a:solidFill>
          <a:ln/>
        </p:spPr>
      </p:sp>
      <p:sp>
        <p:nvSpPr>
          <p:cNvPr id="33" name="Text 31"/>
          <p:cNvSpPr/>
          <p:nvPr/>
        </p:nvSpPr>
        <p:spPr>
          <a:xfrm>
            <a:off x="731520" y="548182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10</a:t>
            </a:r>
            <a:endParaRPr lang="en-US" sz="1800" dirty="0"/>
          </a:p>
        </p:txBody>
      </p:sp>
      <p:sp>
        <p:nvSpPr>
          <p:cNvPr id="34" name="Text 32"/>
          <p:cNvSpPr/>
          <p:nvPr/>
        </p:nvSpPr>
        <p:spPr>
          <a:xfrm>
            <a:off x="731520" y="587502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Power BI Dashboard</a:t>
            </a:r>
            <a:endParaRPr lang="en-US" sz="1350" dirty="0"/>
          </a:p>
        </p:txBody>
      </p:sp>
      <p:sp>
        <p:nvSpPr>
          <p:cNvPr id="35" name="Shape 33"/>
          <p:cNvSpPr/>
          <p:nvPr/>
        </p:nvSpPr>
        <p:spPr>
          <a:xfrm>
            <a:off x="4373880" y="5372100"/>
            <a:ext cx="3550920" cy="955548"/>
          </a:xfrm>
          <a:prstGeom prst="roundRect">
            <a:avLst>
              <a:gd name="adj" fmla="val 6699"/>
            </a:avLst>
          </a:prstGeom>
          <a:solidFill>
            <a:srgbClr val="0F2A5C"/>
          </a:solidFill>
          <a:ln/>
        </p:spPr>
      </p:sp>
      <p:sp>
        <p:nvSpPr>
          <p:cNvPr id="36" name="Text 34"/>
          <p:cNvSpPr/>
          <p:nvPr/>
        </p:nvSpPr>
        <p:spPr>
          <a:xfrm>
            <a:off x="4556760" y="548182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11</a:t>
            </a:r>
            <a:endParaRPr lang="en-US" sz="1800" dirty="0"/>
          </a:p>
        </p:txBody>
      </p:sp>
      <p:sp>
        <p:nvSpPr>
          <p:cNvPr id="37" name="Text 35"/>
          <p:cNvSpPr/>
          <p:nvPr/>
        </p:nvSpPr>
        <p:spPr>
          <a:xfrm>
            <a:off x="4556760" y="587502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Streamlit Application</a:t>
            </a:r>
            <a:endParaRPr lang="en-US" sz="1350" dirty="0"/>
          </a:p>
        </p:txBody>
      </p:sp>
      <p:sp>
        <p:nvSpPr>
          <p:cNvPr id="38" name="Shape 36"/>
          <p:cNvSpPr/>
          <p:nvPr/>
        </p:nvSpPr>
        <p:spPr>
          <a:xfrm>
            <a:off x="8199120" y="5372100"/>
            <a:ext cx="3550920" cy="955548"/>
          </a:xfrm>
          <a:prstGeom prst="roundRect">
            <a:avLst>
              <a:gd name="adj" fmla="val 6699"/>
            </a:avLst>
          </a:prstGeom>
          <a:solidFill>
            <a:srgbClr val="0F2A5C"/>
          </a:solidFill>
          <a:ln/>
        </p:spPr>
      </p:sp>
      <p:sp>
        <p:nvSpPr>
          <p:cNvPr id="39" name="Text 37"/>
          <p:cNvSpPr/>
          <p:nvPr/>
        </p:nvSpPr>
        <p:spPr>
          <a:xfrm>
            <a:off x="8382000" y="5481828"/>
            <a:ext cx="914400" cy="365760"/>
          </a:xfrm>
          <a:prstGeom prst="rect">
            <a:avLst/>
          </a:prstGeom>
          <a:noFill/>
          <a:ln/>
        </p:spPr>
        <p:txBody>
          <a:bodyPr wrap="square" lIns="0" tIns="0" rIns="0" bIns="0" rtlCol="0" anchor="ctr"/>
          <a:lstStyle/>
          <a:p>
            <a:pPr marL="0" indent="0">
              <a:buNone/>
            </a:pPr>
            <a:r>
              <a:rPr lang="en-US" sz="1800" b="1" dirty="0">
                <a:solidFill>
                  <a:srgbClr val="22D3EE"/>
                </a:solidFill>
                <a:latin typeface="Cambria" pitchFamily="34" charset="0"/>
                <a:ea typeface="Cambria" pitchFamily="34" charset="-122"/>
                <a:cs typeface="Cambria" pitchFamily="34" charset="-120"/>
              </a:rPr>
              <a:t>12</a:t>
            </a:r>
            <a:endParaRPr lang="en-US" sz="1800" dirty="0"/>
          </a:p>
        </p:txBody>
      </p:sp>
      <p:sp>
        <p:nvSpPr>
          <p:cNvPr id="40" name="Text 38"/>
          <p:cNvSpPr/>
          <p:nvPr/>
        </p:nvSpPr>
        <p:spPr>
          <a:xfrm>
            <a:off x="8382000" y="5875020"/>
            <a:ext cx="3230880" cy="59436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Results, Future Scope &amp; Conclusion</a:t>
            </a:r>
            <a:endParaRPr lang="en-US" sz="1350" dirty="0"/>
          </a:p>
        </p:txBody>
      </p:sp>
      <p:sp>
        <p:nvSpPr>
          <p:cNvPr id="42" name="Text 39"/>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21792"/>
            <a:ext cx="10881360" cy="7315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Turning Transactions Into Intelligence</a:t>
            </a:r>
            <a:endParaRPr lang="en-US" sz="30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What e-commerce analytics is, and why AI changes the game</a:t>
            </a:r>
            <a:endParaRPr lang="en-US" sz="1400" dirty="0"/>
          </a:p>
        </p:txBody>
      </p:sp>
      <p:pic>
        <p:nvPicPr>
          <p:cNvPr id="5" name="Image 0" descr="/home/claude/deck/icons/cart_white.png"/>
          <p:cNvPicPr>
            <a:picLocks noChangeAspect="1"/>
          </p:cNvPicPr>
          <p:nvPr/>
        </p:nvPicPr>
        <p:blipFill>
          <a:blip r:embed="rId3"/>
          <a:stretch>
            <a:fillRect/>
          </a:stretch>
        </p:blipFill>
        <p:spPr>
          <a:xfrm>
            <a:off x="640080" y="1920240"/>
            <a:ext cx="457200" cy="457200"/>
          </a:xfrm>
          <a:prstGeom prst="rect">
            <a:avLst/>
          </a:prstGeom>
        </p:spPr>
      </p:pic>
      <p:sp>
        <p:nvSpPr>
          <p:cNvPr id="6" name="Shape 3"/>
          <p:cNvSpPr/>
          <p:nvPr/>
        </p:nvSpPr>
        <p:spPr>
          <a:xfrm>
            <a:off x="566928" y="1847088"/>
            <a:ext cx="603504" cy="603504"/>
          </a:xfrm>
          <a:prstGeom prst="ellipse">
            <a:avLst/>
          </a:prstGeom>
          <a:solidFill>
            <a:srgbClr val="0F3460"/>
          </a:solidFill>
          <a:ln/>
        </p:spPr>
      </p:sp>
      <p:pic>
        <p:nvPicPr>
          <p:cNvPr id="7" name="Image 1" descr="/home/claude/deck/icons/cart_cyan.png"/>
          <p:cNvPicPr>
            <a:picLocks noChangeAspect="1"/>
          </p:cNvPicPr>
          <p:nvPr/>
        </p:nvPicPr>
        <p:blipFill>
          <a:blip r:embed="rId4"/>
          <a:stretch>
            <a:fillRect/>
          </a:stretch>
        </p:blipFill>
        <p:spPr>
          <a:xfrm>
            <a:off x="722376" y="2002536"/>
            <a:ext cx="292608" cy="292608"/>
          </a:xfrm>
          <a:prstGeom prst="rect">
            <a:avLst/>
          </a:prstGeom>
        </p:spPr>
      </p:pic>
      <p:sp>
        <p:nvSpPr>
          <p:cNvPr id="8" name="Text 4"/>
          <p:cNvSpPr/>
          <p:nvPr/>
        </p:nvSpPr>
        <p:spPr>
          <a:xfrm>
            <a:off x="1371600" y="1856232"/>
            <a:ext cx="603504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What is E-Commerce Analytics?</a:t>
            </a:r>
            <a:endParaRPr lang="en-US" sz="1600" dirty="0"/>
          </a:p>
        </p:txBody>
      </p:sp>
      <p:sp>
        <p:nvSpPr>
          <p:cNvPr id="9" name="Text 5"/>
          <p:cNvSpPr/>
          <p:nvPr/>
        </p:nvSpPr>
        <p:spPr>
          <a:xfrm>
            <a:off x="1371600" y="2194560"/>
            <a:ext cx="6126480" cy="822960"/>
          </a:xfrm>
          <a:prstGeom prst="rect">
            <a:avLst/>
          </a:prstGeom>
          <a:noFill/>
          <a:ln/>
        </p:spPr>
        <p:txBody>
          <a:bodyPr wrap="square" lIns="0" tIns="0" rIns="0" bIns="0" rtlCol="0" anchor="t"/>
          <a:lstStyle/>
          <a:p>
            <a:pPr marL="0" indent="0">
              <a:buNone/>
            </a:pPr>
            <a:r>
              <a:rPr lang="en-US" sz="1250" dirty="0">
                <a:solidFill>
                  <a:srgbClr val="334155"/>
                </a:solidFill>
                <a:latin typeface="Calibri" pitchFamily="34" charset="0"/>
                <a:ea typeface="Calibri" pitchFamily="34" charset="-122"/>
                <a:cs typeface="Calibri" pitchFamily="34" charset="-120"/>
              </a:rPr>
              <a:t>The practice of collecting, cleaning, and interpreting sales, customer and product data to understand what is happening in an online business — and why.</a:t>
            </a:r>
            <a:endParaRPr lang="en-US" sz="1250" dirty="0"/>
          </a:p>
        </p:txBody>
      </p:sp>
      <p:pic>
        <p:nvPicPr>
          <p:cNvPr id="10" name="Image 2" descr="/home/claude/deck/icons/chartLine_white.png"/>
          <p:cNvPicPr>
            <a:picLocks noChangeAspect="1"/>
          </p:cNvPicPr>
          <p:nvPr/>
        </p:nvPicPr>
        <p:blipFill>
          <a:blip r:embed="rId5"/>
          <a:stretch>
            <a:fillRect/>
          </a:stretch>
        </p:blipFill>
        <p:spPr>
          <a:xfrm>
            <a:off x="640080" y="3337560"/>
            <a:ext cx="457200" cy="457200"/>
          </a:xfrm>
          <a:prstGeom prst="rect">
            <a:avLst/>
          </a:prstGeom>
        </p:spPr>
      </p:pic>
      <p:sp>
        <p:nvSpPr>
          <p:cNvPr id="11" name="Shape 6"/>
          <p:cNvSpPr/>
          <p:nvPr/>
        </p:nvSpPr>
        <p:spPr>
          <a:xfrm>
            <a:off x="566928" y="3264408"/>
            <a:ext cx="603504" cy="603504"/>
          </a:xfrm>
          <a:prstGeom prst="ellipse">
            <a:avLst/>
          </a:prstGeom>
          <a:solidFill>
            <a:srgbClr val="0F3460"/>
          </a:solidFill>
          <a:ln/>
        </p:spPr>
      </p:sp>
      <p:pic>
        <p:nvPicPr>
          <p:cNvPr id="12" name="Image 3" descr="/home/claude/deck/icons/chartLine_cyan.png"/>
          <p:cNvPicPr>
            <a:picLocks noChangeAspect="1"/>
          </p:cNvPicPr>
          <p:nvPr/>
        </p:nvPicPr>
        <p:blipFill>
          <a:blip r:embed="rId6"/>
          <a:stretch>
            <a:fillRect/>
          </a:stretch>
        </p:blipFill>
        <p:spPr>
          <a:xfrm>
            <a:off x="722376" y="3419856"/>
            <a:ext cx="292608" cy="292608"/>
          </a:xfrm>
          <a:prstGeom prst="rect">
            <a:avLst/>
          </a:prstGeom>
        </p:spPr>
      </p:pic>
      <p:sp>
        <p:nvSpPr>
          <p:cNvPr id="13" name="Text 7"/>
          <p:cNvSpPr/>
          <p:nvPr/>
        </p:nvSpPr>
        <p:spPr>
          <a:xfrm>
            <a:off x="1371600" y="3273552"/>
            <a:ext cx="603504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Why Businesses Need It</a:t>
            </a:r>
            <a:endParaRPr lang="en-US" sz="1600" dirty="0"/>
          </a:p>
        </p:txBody>
      </p:sp>
      <p:sp>
        <p:nvSpPr>
          <p:cNvPr id="14" name="Text 8"/>
          <p:cNvSpPr/>
          <p:nvPr/>
        </p:nvSpPr>
        <p:spPr>
          <a:xfrm>
            <a:off x="1371600" y="3611880"/>
            <a:ext cx="6126480" cy="822960"/>
          </a:xfrm>
          <a:prstGeom prst="rect">
            <a:avLst/>
          </a:prstGeom>
          <a:noFill/>
          <a:ln/>
        </p:spPr>
        <p:txBody>
          <a:bodyPr wrap="square" lIns="0" tIns="0" rIns="0" bIns="0" rtlCol="0" anchor="t"/>
          <a:lstStyle/>
          <a:p>
            <a:pPr marL="0" indent="0">
              <a:buNone/>
            </a:pPr>
            <a:r>
              <a:rPr lang="en-US" sz="1250" dirty="0">
                <a:solidFill>
                  <a:srgbClr val="334155"/>
                </a:solidFill>
                <a:latin typeface="Calibri" pitchFamily="34" charset="0"/>
                <a:ea typeface="Calibri" pitchFamily="34" charset="-122"/>
                <a:cs typeface="Calibri" pitchFamily="34" charset="-120"/>
              </a:rPr>
              <a:t>Every order, click, and return generates data. Businesses that systematically analyze it price smarter, stock better, and market to the right customer.</a:t>
            </a:r>
            <a:endParaRPr lang="en-US" sz="1250" dirty="0"/>
          </a:p>
        </p:txBody>
      </p:sp>
      <p:pic>
        <p:nvPicPr>
          <p:cNvPr id="15" name="Image 4" descr="/home/claude/deck/icons/brain_white.png"/>
          <p:cNvPicPr>
            <a:picLocks noChangeAspect="1"/>
          </p:cNvPicPr>
          <p:nvPr/>
        </p:nvPicPr>
        <p:blipFill>
          <a:blip r:embed="rId7"/>
          <a:stretch>
            <a:fillRect/>
          </a:stretch>
        </p:blipFill>
        <p:spPr>
          <a:xfrm>
            <a:off x="640080" y="4754880"/>
            <a:ext cx="457200" cy="457200"/>
          </a:xfrm>
          <a:prstGeom prst="rect">
            <a:avLst/>
          </a:prstGeom>
        </p:spPr>
      </p:pic>
      <p:sp>
        <p:nvSpPr>
          <p:cNvPr id="16" name="Shape 9"/>
          <p:cNvSpPr/>
          <p:nvPr/>
        </p:nvSpPr>
        <p:spPr>
          <a:xfrm>
            <a:off x="566928" y="4681728"/>
            <a:ext cx="603504" cy="603504"/>
          </a:xfrm>
          <a:prstGeom prst="ellipse">
            <a:avLst/>
          </a:prstGeom>
          <a:solidFill>
            <a:srgbClr val="0F3460"/>
          </a:solidFill>
          <a:ln/>
        </p:spPr>
      </p:sp>
      <p:pic>
        <p:nvPicPr>
          <p:cNvPr id="17" name="Image 5" descr="/home/claude/deck/icons/brain_cyan.png"/>
          <p:cNvPicPr>
            <a:picLocks noChangeAspect="1"/>
          </p:cNvPicPr>
          <p:nvPr/>
        </p:nvPicPr>
        <p:blipFill>
          <a:blip r:embed="rId8"/>
          <a:stretch>
            <a:fillRect/>
          </a:stretch>
        </p:blipFill>
        <p:spPr>
          <a:xfrm>
            <a:off x="722376" y="4837176"/>
            <a:ext cx="292608" cy="292608"/>
          </a:xfrm>
          <a:prstGeom prst="rect">
            <a:avLst/>
          </a:prstGeom>
        </p:spPr>
      </p:pic>
      <p:sp>
        <p:nvSpPr>
          <p:cNvPr id="18" name="Text 10"/>
          <p:cNvSpPr/>
          <p:nvPr/>
        </p:nvSpPr>
        <p:spPr>
          <a:xfrm>
            <a:off x="1371600" y="4690872"/>
            <a:ext cx="603504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Why AI Matters Here</a:t>
            </a:r>
            <a:endParaRPr lang="en-US" sz="1600" dirty="0"/>
          </a:p>
        </p:txBody>
      </p:sp>
      <p:sp>
        <p:nvSpPr>
          <p:cNvPr id="19" name="Text 11"/>
          <p:cNvSpPr/>
          <p:nvPr/>
        </p:nvSpPr>
        <p:spPr>
          <a:xfrm>
            <a:off x="1371600" y="5029200"/>
            <a:ext cx="6126480" cy="822960"/>
          </a:xfrm>
          <a:prstGeom prst="rect">
            <a:avLst/>
          </a:prstGeom>
          <a:noFill/>
          <a:ln/>
        </p:spPr>
        <p:txBody>
          <a:bodyPr wrap="square" lIns="0" tIns="0" rIns="0" bIns="0" rtlCol="0" anchor="t"/>
          <a:lstStyle/>
          <a:p>
            <a:pPr marL="0" indent="0">
              <a:buNone/>
            </a:pPr>
            <a:r>
              <a:rPr lang="en-US" sz="1250" dirty="0">
                <a:solidFill>
                  <a:srgbClr val="334155"/>
                </a:solidFill>
                <a:latin typeface="Calibri" pitchFamily="34" charset="0"/>
                <a:ea typeface="Calibri" pitchFamily="34" charset="-122"/>
                <a:cs typeface="Calibri" pitchFamily="34" charset="-120"/>
              </a:rPr>
              <a:t>Beyond dashboards, machine learning forecasts future demand and automatically segments customers — turning hindsight into foresight.</a:t>
            </a:r>
            <a:endParaRPr lang="en-US" sz="1250" dirty="0"/>
          </a:p>
        </p:txBody>
      </p:sp>
      <p:sp>
        <p:nvSpPr>
          <p:cNvPr id="20" name="Shape 12"/>
          <p:cNvSpPr/>
          <p:nvPr/>
        </p:nvSpPr>
        <p:spPr>
          <a:xfrm>
            <a:off x="8092440" y="1828800"/>
            <a:ext cx="3566160" cy="4251960"/>
          </a:xfrm>
          <a:prstGeom prst="roundRect">
            <a:avLst>
              <a:gd name="adj" fmla="val 2564"/>
            </a:avLst>
          </a:prstGeom>
          <a:solidFill>
            <a:srgbClr val="0A1F44"/>
          </a:solidFill>
          <a:ln/>
          <a:effectLst>
            <a:outerShdw blurRad="152400" dist="50800" dir="5400000" algn="bl" rotWithShape="0">
              <a:srgbClr val="000000">
                <a:alpha val="16000"/>
              </a:srgbClr>
            </a:outerShdw>
          </a:effectLst>
        </p:spPr>
      </p:sp>
      <p:sp>
        <p:nvSpPr>
          <p:cNvPr id="21" name="Text 13"/>
          <p:cNvSpPr/>
          <p:nvPr/>
        </p:nvSpPr>
        <p:spPr>
          <a:xfrm>
            <a:off x="8412480" y="2057400"/>
            <a:ext cx="301752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THE OPPORTUNITY</a:t>
            </a:r>
            <a:endParaRPr lang="en-US" sz="1100" dirty="0"/>
          </a:p>
        </p:txBody>
      </p:sp>
      <p:sp>
        <p:nvSpPr>
          <p:cNvPr id="22" name="Text 14"/>
          <p:cNvSpPr/>
          <p:nvPr/>
        </p:nvSpPr>
        <p:spPr>
          <a:xfrm>
            <a:off x="8412480" y="2468880"/>
            <a:ext cx="30175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$6.3T</a:t>
            </a:r>
            <a:endParaRPr lang="en-US" sz="3000" dirty="0"/>
          </a:p>
        </p:txBody>
      </p:sp>
      <p:sp>
        <p:nvSpPr>
          <p:cNvPr id="23" name="Text 15"/>
          <p:cNvSpPr/>
          <p:nvPr/>
        </p:nvSpPr>
        <p:spPr>
          <a:xfrm>
            <a:off x="8412480" y="2999232"/>
            <a:ext cx="3017520" cy="45720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Global e-commerce sales (est.)</a:t>
            </a:r>
            <a:endParaRPr lang="en-US" sz="1150" dirty="0"/>
          </a:p>
        </p:txBody>
      </p:sp>
      <p:sp>
        <p:nvSpPr>
          <p:cNvPr id="24" name="Text 16"/>
          <p:cNvSpPr/>
          <p:nvPr/>
        </p:nvSpPr>
        <p:spPr>
          <a:xfrm>
            <a:off x="8412480" y="3611880"/>
            <a:ext cx="30175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73%</a:t>
            </a:r>
            <a:endParaRPr lang="en-US" sz="3000" dirty="0"/>
          </a:p>
        </p:txBody>
      </p:sp>
      <p:sp>
        <p:nvSpPr>
          <p:cNvPr id="25" name="Text 17"/>
          <p:cNvSpPr/>
          <p:nvPr/>
        </p:nvSpPr>
        <p:spPr>
          <a:xfrm>
            <a:off x="8412480" y="4142232"/>
            <a:ext cx="3017520" cy="45720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Firms citing data as top growth lever</a:t>
            </a:r>
            <a:endParaRPr lang="en-US" sz="1150" dirty="0"/>
          </a:p>
        </p:txBody>
      </p:sp>
      <p:sp>
        <p:nvSpPr>
          <p:cNvPr id="26" name="Text 18"/>
          <p:cNvSpPr/>
          <p:nvPr/>
        </p:nvSpPr>
        <p:spPr>
          <a:xfrm>
            <a:off x="8412480" y="4754880"/>
            <a:ext cx="30175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24/7</a:t>
            </a:r>
            <a:endParaRPr lang="en-US" sz="3000" dirty="0"/>
          </a:p>
        </p:txBody>
      </p:sp>
      <p:sp>
        <p:nvSpPr>
          <p:cNvPr id="27" name="Text 19"/>
          <p:cNvSpPr/>
          <p:nvPr/>
        </p:nvSpPr>
        <p:spPr>
          <a:xfrm>
            <a:off x="8412480" y="5285232"/>
            <a:ext cx="3017520" cy="45720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Continuous data generation</a:t>
            </a:r>
            <a:endParaRPr lang="en-US" sz="1150" dirty="0"/>
          </a:p>
        </p:txBody>
      </p:sp>
      <p:sp>
        <p:nvSpPr>
          <p:cNvPr id="29" name="Text 20"/>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621792"/>
            <a:ext cx="10881360" cy="7315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Why Traditional Sales Analysis Falls Short</a:t>
            </a:r>
            <a:endParaRPr lang="en-US" sz="30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Current problem versus the proposed solution</a:t>
            </a:r>
            <a:endParaRPr lang="en-US" sz="1400" dirty="0"/>
          </a:p>
        </p:txBody>
      </p:sp>
      <p:sp>
        <p:nvSpPr>
          <p:cNvPr id="5" name="Shape 3"/>
          <p:cNvSpPr/>
          <p:nvPr/>
        </p:nvSpPr>
        <p:spPr>
          <a:xfrm>
            <a:off x="548640" y="1828800"/>
            <a:ext cx="5349240" cy="4251960"/>
          </a:xfrm>
          <a:prstGeom prst="roundRect">
            <a:avLst>
              <a:gd name="adj" fmla="val 2151"/>
            </a:avLst>
          </a:prstGeom>
          <a:solidFill>
            <a:srgbClr val="F1F5F9"/>
          </a:solidFill>
          <a:ln/>
        </p:spPr>
      </p:sp>
      <p:pic>
        <p:nvPicPr>
          <p:cNvPr id="6" name="Image 0" descr="/home/claude/deck/icons/warn_navy.png"/>
          <p:cNvPicPr>
            <a:picLocks noChangeAspect="1"/>
          </p:cNvPicPr>
          <p:nvPr/>
        </p:nvPicPr>
        <p:blipFill>
          <a:blip r:embed="rId3"/>
          <a:stretch>
            <a:fillRect/>
          </a:stretch>
        </p:blipFill>
        <p:spPr>
          <a:xfrm>
            <a:off x="868680" y="2103120"/>
            <a:ext cx="384048" cy="384048"/>
          </a:xfrm>
          <a:prstGeom prst="rect">
            <a:avLst/>
          </a:prstGeom>
        </p:spPr>
      </p:pic>
      <p:sp>
        <p:nvSpPr>
          <p:cNvPr id="7" name="Text 4"/>
          <p:cNvSpPr/>
          <p:nvPr/>
        </p:nvSpPr>
        <p:spPr>
          <a:xfrm>
            <a:off x="1371600" y="2103120"/>
            <a:ext cx="4023360" cy="365760"/>
          </a:xfrm>
          <a:prstGeom prst="rect">
            <a:avLst/>
          </a:prstGeom>
          <a:noFill/>
          <a:ln/>
        </p:spPr>
        <p:txBody>
          <a:bodyPr wrap="square" lIns="0" tIns="0" rIns="0" bIns="0" rtlCol="0" anchor="ctr"/>
          <a:lstStyle/>
          <a:p>
            <a:pPr marL="0" indent="0">
              <a:buNone/>
            </a:pPr>
            <a:r>
              <a:rPr lang="en-US" sz="1800" b="1" dirty="0">
                <a:solidFill>
                  <a:srgbClr val="0F172A"/>
                </a:solidFill>
                <a:latin typeface="Cambria" pitchFamily="34" charset="0"/>
                <a:ea typeface="Cambria" pitchFamily="34" charset="-122"/>
                <a:cs typeface="Cambria" pitchFamily="34" charset="-120"/>
              </a:rPr>
              <a:t>Current Problem</a:t>
            </a:r>
            <a:endParaRPr lang="en-US" sz="1800" dirty="0"/>
          </a:p>
        </p:txBody>
      </p:sp>
      <p:sp>
        <p:nvSpPr>
          <p:cNvPr id="8" name="Shape 5"/>
          <p:cNvSpPr/>
          <p:nvPr/>
        </p:nvSpPr>
        <p:spPr>
          <a:xfrm>
            <a:off x="868680" y="2743200"/>
            <a:ext cx="109728" cy="109728"/>
          </a:xfrm>
          <a:prstGeom prst="ellipse">
            <a:avLst/>
          </a:prstGeom>
          <a:solidFill>
            <a:srgbClr val="EF4444"/>
          </a:solidFill>
          <a:ln/>
        </p:spPr>
      </p:sp>
      <p:sp>
        <p:nvSpPr>
          <p:cNvPr id="9" name="Text 6"/>
          <p:cNvSpPr/>
          <p:nvPr/>
        </p:nvSpPr>
        <p:spPr>
          <a:xfrm>
            <a:off x="1097280" y="2624328"/>
            <a:ext cx="4480560" cy="502920"/>
          </a:xfrm>
          <a:prstGeom prst="rect">
            <a:avLst/>
          </a:prstGeom>
          <a:noFill/>
          <a:ln/>
        </p:spPr>
        <p:txBody>
          <a:bodyPr wrap="square" lIns="0" tIns="0" rIns="0" bIns="0" rtlCol="0" anchor="t"/>
          <a:lstStyle/>
          <a:p>
            <a:pPr marL="0" indent="0">
              <a:buNone/>
            </a:pPr>
            <a:r>
              <a:rPr lang="en-US" sz="1250" dirty="0">
                <a:solidFill>
                  <a:srgbClr val="334155"/>
                </a:solidFill>
                <a:latin typeface="Calibri" pitchFamily="34" charset="0"/>
                <a:ea typeface="Calibri" pitchFamily="34" charset="-122"/>
                <a:cs typeface="Calibri" pitchFamily="34" charset="-120"/>
              </a:rPr>
              <a:t>Huge volumes of raw sales data with no structured analysis</a:t>
            </a:r>
            <a:endParaRPr lang="en-US" sz="1250" dirty="0"/>
          </a:p>
        </p:txBody>
      </p:sp>
      <p:sp>
        <p:nvSpPr>
          <p:cNvPr id="10" name="Shape 7"/>
          <p:cNvSpPr/>
          <p:nvPr/>
        </p:nvSpPr>
        <p:spPr>
          <a:xfrm>
            <a:off x="868680" y="3364992"/>
            <a:ext cx="109728" cy="109728"/>
          </a:xfrm>
          <a:prstGeom prst="ellipse">
            <a:avLst/>
          </a:prstGeom>
          <a:solidFill>
            <a:srgbClr val="EF4444"/>
          </a:solidFill>
          <a:ln/>
        </p:spPr>
      </p:sp>
      <p:sp>
        <p:nvSpPr>
          <p:cNvPr id="11" name="Text 8"/>
          <p:cNvSpPr/>
          <p:nvPr/>
        </p:nvSpPr>
        <p:spPr>
          <a:xfrm>
            <a:off x="1097280" y="3246120"/>
            <a:ext cx="4480560" cy="502920"/>
          </a:xfrm>
          <a:prstGeom prst="rect">
            <a:avLst/>
          </a:prstGeom>
          <a:noFill/>
          <a:ln/>
        </p:spPr>
        <p:txBody>
          <a:bodyPr wrap="square" lIns="0" tIns="0" rIns="0" bIns="0" rtlCol="0" anchor="t"/>
          <a:lstStyle/>
          <a:p>
            <a:pPr marL="0" indent="0">
              <a:buNone/>
            </a:pPr>
            <a:r>
              <a:rPr lang="en-US" sz="1250" dirty="0">
                <a:solidFill>
                  <a:srgbClr val="334155"/>
                </a:solidFill>
                <a:latin typeface="Calibri" pitchFamily="34" charset="0"/>
                <a:ea typeface="Calibri" pitchFamily="34" charset="-122"/>
                <a:cs typeface="Calibri" pitchFamily="34" charset="-120"/>
              </a:rPr>
              <a:t>Manual, spreadsheet-driven review is slow and error-prone</a:t>
            </a:r>
            <a:endParaRPr lang="en-US" sz="1250" dirty="0"/>
          </a:p>
        </p:txBody>
      </p:sp>
      <p:sp>
        <p:nvSpPr>
          <p:cNvPr id="12" name="Shape 9"/>
          <p:cNvSpPr/>
          <p:nvPr/>
        </p:nvSpPr>
        <p:spPr>
          <a:xfrm>
            <a:off x="868680" y="3986784"/>
            <a:ext cx="109728" cy="109728"/>
          </a:xfrm>
          <a:prstGeom prst="ellipse">
            <a:avLst/>
          </a:prstGeom>
          <a:solidFill>
            <a:srgbClr val="EF4444"/>
          </a:solidFill>
          <a:ln/>
        </p:spPr>
      </p:sp>
      <p:sp>
        <p:nvSpPr>
          <p:cNvPr id="13" name="Text 10"/>
          <p:cNvSpPr/>
          <p:nvPr/>
        </p:nvSpPr>
        <p:spPr>
          <a:xfrm>
            <a:off x="1097280" y="3867912"/>
            <a:ext cx="4480560" cy="502920"/>
          </a:xfrm>
          <a:prstGeom prst="rect">
            <a:avLst/>
          </a:prstGeom>
          <a:noFill/>
          <a:ln/>
        </p:spPr>
        <p:txBody>
          <a:bodyPr wrap="square" lIns="0" tIns="0" rIns="0" bIns="0" rtlCol="0" anchor="t"/>
          <a:lstStyle/>
          <a:p>
            <a:pPr marL="0" indent="0">
              <a:buNone/>
            </a:pPr>
            <a:r>
              <a:rPr lang="en-US" sz="1250" dirty="0">
                <a:solidFill>
                  <a:srgbClr val="334155"/>
                </a:solidFill>
                <a:latin typeface="Calibri" pitchFamily="34" charset="0"/>
                <a:ea typeface="Calibri" pitchFamily="34" charset="-122"/>
                <a:cs typeface="Calibri" pitchFamily="34" charset="-120"/>
              </a:rPr>
              <a:t>Poor understanding of customer segments and behavior</a:t>
            </a:r>
            <a:endParaRPr lang="en-US" sz="1250" dirty="0"/>
          </a:p>
        </p:txBody>
      </p:sp>
      <p:sp>
        <p:nvSpPr>
          <p:cNvPr id="14" name="Shape 11"/>
          <p:cNvSpPr/>
          <p:nvPr/>
        </p:nvSpPr>
        <p:spPr>
          <a:xfrm>
            <a:off x="868680" y="4608576"/>
            <a:ext cx="109728" cy="109728"/>
          </a:xfrm>
          <a:prstGeom prst="ellipse">
            <a:avLst/>
          </a:prstGeom>
          <a:solidFill>
            <a:srgbClr val="EF4444"/>
          </a:solidFill>
          <a:ln/>
        </p:spPr>
      </p:sp>
      <p:sp>
        <p:nvSpPr>
          <p:cNvPr id="15" name="Text 12"/>
          <p:cNvSpPr/>
          <p:nvPr/>
        </p:nvSpPr>
        <p:spPr>
          <a:xfrm>
            <a:off x="1097280" y="4489704"/>
            <a:ext cx="4480560" cy="502920"/>
          </a:xfrm>
          <a:prstGeom prst="rect">
            <a:avLst/>
          </a:prstGeom>
          <a:noFill/>
          <a:ln/>
        </p:spPr>
        <p:txBody>
          <a:bodyPr wrap="square" lIns="0" tIns="0" rIns="0" bIns="0" rtlCol="0" anchor="t"/>
          <a:lstStyle/>
          <a:p>
            <a:pPr marL="0" indent="0">
              <a:buNone/>
            </a:pPr>
            <a:r>
              <a:rPr lang="en-US" sz="1250" dirty="0">
                <a:solidFill>
                  <a:srgbClr val="334155"/>
                </a:solidFill>
                <a:latin typeface="Calibri" pitchFamily="34" charset="0"/>
                <a:ea typeface="Calibri" pitchFamily="34" charset="-122"/>
                <a:cs typeface="Calibri" pitchFamily="34" charset="-120"/>
              </a:rPr>
              <a:t>No reliable way to forecast future demand</a:t>
            </a:r>
            <a:endParaRPr lang="en-US" sz="1250" dirty="0"/>
          </a:p>
        </p:txBody>
      </p:sp>
      <p:sp>
        <p:nvSpPr>
          <p:cNvPr id="16" name="Shape 13"/>
          <p:cNvSpPr/>
          <p:nvPr/>
        </p:nvSpPr>
        <p:spPr>
          <a:xfrm>
            <a:off x="868680" y="5230368"/>
            <a:ext cx="109728" cy="109728"/>
          </a:xfrm>
          <a:prstGeom prst="ellipse">
            <a:avLst/>
          </a:prstGeom>
          <a:solidFill>
            <a:srgbClr val="EF4444"/>
          </a:solidFill>
          <a:ln/>
        </p:spPr>
      </p:sp>
      <p:sp>
        <p:nvSpPr>
          <p:cNvPr id="17" name="Text 14"/>
          <p:cNvSpPr/>
          <p:nvPr/>
        </p:nvSpPr>
        <p:spPr>
          <a:xfrm>
            <a:off x="1097280" y="5111496"/>
            <a:ext cx="4480560" cy="502920"/>
          </a:xfrm>
          <a:prstGeom prst="rect">
            <a:avLst/>
          </a:prstGeom>
          <a:noFill/>
          <a:ln/>
        </p:spPr>
        <p:txBody>
          <a:bodyPr wrap="square" lIns="0" tIns="0" rIns="0" bIns="0" rtlCol="0" anchor="t"/>
          <a:lstStyle/>
          <a:p>
            <a:pPr marL="0" indent="0">
              <a:buNone/>
            </a:pPr>
            <a:r>
              <a:rPr lang="en-US" sz="1250" dirty="0">
                <a:solidFill>
                  <a:srgbClr val="334155"/>
                </a:solidFill>
                <a:latin typeface="Calibri" pitchFamily="34" charset="0"/>
                <a:ea typeface="Calibri" pitchFamily="34" charset="-122"/>
                <a:cs typeface="Calibri" pitchFamily="34" charset="-120"/>
              </a:rPr>
              <a:t>Decision-making lags behind market changes</a:t>
            </a:r>
            <a:endParaRPr lang="en-US" sz="1250" dirty="0"/>
          </a:p>
        </p:txBody>
      </p:sp>
      <p:sp>
        <p:nvSpPr>
          <p:cNvPr id="18" name="Shape 15"/>
          <p:cNvSpPr/>
          <p:nvPr/>
        </p:nvSpPr>
        <p:spPr>
          <a:xfrm>
            <a:off x="6263640" y="1828800"/>
            <a:ext cx="5349240" cy="4251960"/>
          </a:xfrm>
          <a:prstGeom prst="roundRect">
            <a:avLst>
              <a:gd name="adj" fmla="val 2151"/>
            </a:avLst>
          </a:prstGeom>
          <a:solidFill>
            <a:srgbClr val="0A1F44"/>
          </a:solidFill>
          <a:ln/>
          <a:effectLst>
            <a:outerShdw blurRad="152400" dist="50800" dir="5400000" algn="bl" rotWithShape="0">
              <a:srgbClr val="000000">
                <a:alpha val="16000"/>
              </a:srgbClr>
            </a:outerShdw>
          </a:effectLst>
        </p:spPr>
      </p:sp>
      <p:pic>
        <p:nvPicPr>
          <p:cNvPr id="19" name="Image 1" descr="/home/claude/deck/icons/bulb_cyan.png"/>
          <p:cNvPicPr>
            <a:picLocks noChangeAspect="1"/>
          </p:cNvPicPr>
          <p:nvPr/>
        </p:nvPicPr>
        <p:blipFill>
          <a:blip r:embed="rId4"/>
          <a:stretch>
            <a:fillRect/>
          </a:stretch>
        </p:blipFill>
        <p:spPr>
          <a:xfrm>
            <a:off x="6583680" y="2103120"/>
            <a:ext cx="384048" cy="384048"/>
          </a:xfrm>
          <a:prstGeom prst="rect">
            <a:avLst/>
          </a:prstGeom>
        </p:spPr>
      </p:pic>
      <p:sp>
        <p:nvSpPr>
          <p:cNvPr id="20" name="Text 16"/>
          <p:cNvSpPr/>
          <p:nvPr/>
        </p:nvSpPr>
        <p:spPr>
          <a:xfrm>
            <a:off x="7086600" y="2103120"/>
            <a:ext cx="402336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Proposed Solution</a:t>
            </a:r>
            <a:endParaRPr lang="en-US" sz="1800" dirty="0"/>
          </a:p>
        </p:txBody>
      </p:sp>
      <p:pic>
        <p:nvPicPr>
          <p:cNvPr id="21" name="Image 2" descr="/home/claude/deck/icons/check_cyan.png"/>
          <p:cNvPicPr>
            <a:picLocks noChangeAspect="1"/>
          </p:cNvPicPr>
          <p:nvPr/>
        </p:nvPicPr>
        <p:blipFill>
          <a:blip r:embed="rId5"/>
          <a:stretch>
            <a:fillRect/>
          </a:stretch>
        </p:blipFill>
        <p:spPr>
          <a:xfrm>
            <a:off x="6583680" y="2697480"/>
            <a:ext cx="182880" cy="182880"/>
          </a:xfrm>
          <a:prstGeom prst="rect">
            <a:avLst/>
          </a:prstGeom>
        </p:spPr>
      </p:pic>
      <p:sp>
        <p:nvSpPr>
          <p:cNvPr id="22" name="Text 17"/>
          <p:cNvSpPr/>
          <p:nvPr/>
        </p:nvSpPr>
        <p:spPr>
          <a:xfrm>
            <a:off x="6903720" y="2624328"/>
            <a:ext cx="4480560" cy="502920"/>
          </a:xfrm>
          <a:prstGeom prst="rect">
            <a:avLst/>
          </a:prstGeom>
          <a:noFill/>
          <a:ln/>
        </p:spPr>
        <p:txBody>
          <a:bodyPr wrap="square" lIns="0" tIns="0" rIns="0" bIns="0" rtlCol="0" anchor="t"/>
          <a:lstStyle/>
          <a:p>
            <a:pPr marL="0" indent="0">
              <a:buNone/>
            </a:pPr>
            <a:r>
              <a:rPr lang="en-US" sz="1250" dirty="0">
                <a:solidFill>
                  <a:srgbClr val="94A3B8"/>
                </a:solidFill>
                <a:latin typeface="Calibri" pitchFamily="34" charset="0"/>
                <a:ea typeface="Calibri" pitchFamily="34" charset="-122"/>
                <a:cs typeface="Calibri" pitchFamily="34" charset="-120"/>
              </a:rPr>
              <a:t>Automated pipeline cleans and structures raw sales data</a:t>
            </a:r>
            <a:endParaRPr lang="en-US" sz="1250" dirty="0"/>
          </a:p>
        </p:txBody>
      </p:sp>
      <p:pic>
        <p:nvPicPr>
          <p:cNvPr id="23" name="Image 3" descr="/home/claude/deck/icons/check_cyan.png"/>
          <p:cNvPicPr>
            <a:picLocks noChangeAspect="1"/>
          </p:cNvPicPr>
          <p:nvPr/>
        </p:nvPicPr>
        <p:blipFill>
          <a:blip r:embed="rId5"/>
          <a:stretch>
            <a:fillRect/>
          </a:stretch>
        </p:blipFill>
        <p:spPr>
          <a:xfrm>
            <a:off x="6583680" y="3319272"/>
            <a:ext cx="182880" cy="182880"/>
          </a:xfrm>
          <a:prstGeom prst="rect">
            <a:avLst/>
          </a:prstGeom>
        </p:spPr>
      </p:pic>
      <p:sp>
        <p:nvSpPr>
          <p:cNvPr id="24" name="Text 18"/>
          <p:cNvSpPr/>
          <p:nvPr/>
        </p:nvSpPr>
        <p:spPr>
          <a:xfrm>
            <a:off x="6903720" y="3246120"/>
            <a:ext cx="4480560" cy="502920"/>
          </a:xfrm>
          <a:prstGeom prst="rect">
            <a:avLst/>
          </a:prstGeom>
          <a:noFill/>
          <a:ln/>
        </p:spPr>
        <p:txBody>
          <a:bodyPr wrap="square" lIns="0" tIns="0" rIns="0" bIns="0" rtlCol="0" anchor="t"/>
          <a:lstStyle/>
          <a:p>
            <a:pPr marL="0" indent="0">
              <a:buNone/>
            </a:pPr>
            <a:r>
              <a:rPr lang="en-US" sz="1250" dirty="0">
                <a:solidFill>
                  <a:srgbClr val="94A3B8"/>
                </a:solidFill>
                <a:latin typeface="Calibri" pitchFamily="34" charset="0"/>
                <a:ea typeface="Calibri" pitchFamily="34" charset="-122"/>
                <a:cs typeface="Calibri" pitchFamily="34" charset="-120"/>
              </a:rPr>
              <a:t>Python + SQL replace manual spreadsheet review</a:t>
            </a:r>
            <a:endParaRPr lang="en-US" sz="1250" dirty="0"/>
          </a:p>
        </p:txBody>
      </p:sp>
      <p:pic>
        <p:nvPicPr>
          <p:cNvPr id="25" name="Image 4" descr="/home/claude/deck/icons/check_cyan.png"/>
          <p:cNvPicPr>
            <a:picLocks noChangeAspect="1"/>
          </p:cNvPicPr>
          <p:nvPr/>
        </p:nvPicPr>
        <p:blipFill>
          <a:blip r:embed="rId5"/>
          <a:stretch>
            <a:fillRect/>
          </a:stretch>
        </p:blipFill>
        <p:spPr>
          <a:xfrm>
            <a:off x="6583680" y="3941064"/>
            <a:ext cx="182880" cy="182880"/>
          </a:xfrm>
          <a:prstGeom prst="rect">
            <a:avLst/>
          </a:prstGeom>
        </p:spPr>
      </p:pic>
      <p:sp>
        <p:nvSpPr>
          <p:cNvPr id="26" name="Text 19"/>
          <p:cNvSpPr/>
          <p:nvPr/>
        </p:nvSpPr>
        <p:spPr>
          <a:xfrm>
            <a:off x="6903720" y="3867912"/>
            <a:ext cx="4480560" cy="502920"/>
          </a:xfrm>
          <a:prstGeom prst="rect">
            <a:avLst/>
          </a:prstGeom>
          <a:noFill/>
          <a:ln/>
        </p:spPr>
        <p:txBody>
          <a:bodyPr wrap="square" lIns="0" tIns="0" rIns="0" bIns="0" rtlCol="0" anchor="t"/>
          <a:lstStyle/>
          <a:p>
            <a:pPr marL="0" indent="0">
              <a:buNone/>
            </a:pPr>
            <a:r>
              <a:rPr lang="en-US" sz="1250" dirty="0">
                <a:solidFill>
                  <a:srgbClr val="94A3B8"/>
                </a:solidFill>
                <a:latin typeface="Calibri" pitchFamily="34" charset="0"/>
                <a:ea typeface="Calibri" pitchFamily="34" charset="-122"/>
                <a:cs typeface="Calibri" pitchFamily="34" charset="-120"/>
              </a:rPr>
              <a:t>ML-based clustering reveals distinct customer segments</a:t>
            </a:r>
            <a:endParaRPr lang="en-US" sz="1250" dirty="0"/>
          </a:p>
        </p:txBody>
      </p:sp>
      <p:pic>
        <p:nvPicPr>
          <p:cNvPr id="27" name="Image 5" descr="/home/claude/deck/icons/check_cyan.png"/>
          <p:cNvPicPr>
            <a:picLocks noChangeAspect="1"/>
          </p:cNvPicPr>
          <p:nvPr/>
        </p:nvPicPr>
        <p:blipFill>
          <a:blip r:embed="rId5"/>
          <a:stretch>
            <a:fillRect/>
          </a:stretch>
        </p:blipFill>
        <p:spPr>
          <a:xfrm>
            <a:off x="6583680" y="4562856"/>
            <a:ext cx="182880" cy="182880"/>
          </a:xfrm>
          <a:prstGeom prst="rect">
            <a:avLst/>
          </a:prstGeom>
        </p:spPr>
      </p:pic>
      <p:sp>
        <p:nvSpPr>
          <p:cNvPr id="28" name="Text 20"/>
          <p:cNvSpPr/>
          <p:nvPr/>
        </p:nvSpPr>
        <p:spPr>
          <a:xfrm>
            <a:off x="6903720" y="4489704"/>
            <a:ext cx="4480560" cy="502920"/>
          </a:xfrm>
          <a:prstGeom prst="rect">
            <a:avLst/>
          </a:prstGeom>
          <a:noFill/>
          <a:ln/>
        </p:spPr>
        <p:txBody>
          <a:bodyPr wrap="square" lIns="0" tIns="0" rIns="0" bIns="0" rtlCol="0" anchor="t"/>
          <a:lstStyle/>
          <a:p>
            <a:pPr marL="0" indent="0">
              <a:buNone/>
            </a:pPr>
            <a:r>
              <a:rPr lang="en-US" sz="1250" dirty="0">
                <a:solidFill>
                  <a:srgbClr val="94A3B8"/>
                </a:solidFill>
                <a:latin typeface="Calibri" pitchFamily="34" charset="0"/>
                <a:ea typeface="Calibri" pitchFamily="34" charset="-122"/>
                <a:cs typeface="Calibri" pitchFamily="34" charset="-120"/>
              </a:rPr>
              <a:t>Regression model forecasts future sales with measurable accuracy</a:t>
            </a:r>
            <a:endParaRPr lang="en-US" sz="1250" dirty="0"/>
          </a:p>
        </p:txBody>
      </p:sp>
      <p:pic>
        <p:nvPicPr>
          <p:cNvPr id="29" name="Image 6" descr="/home/claude/deck/icons/check_cyan.png"/>
          <p:cNvPicPr>
            <a:picLocks noChangeAspect="1"/>
          </p:cNvPicPr>
          <p:nvPr/>
        </p:nvPicPr>
        <p:blipFill>
          <a:blip r:embed="rId5"/>
          <a:stretch>
            <a:fillRect/>
          </a:stretch>
        </p:blipFill>
        <p:spPr>
          <a:xfrm>
            <a:off x="6583680" y="5184648"/>
            <a:ext cx="182880" cy="182880"/>
          </a:xfrm>
          <a:prstGeom prst="rect">
            <a:avLst/>
          </a:prstGeom>
        </p:spPr>
      </p:pic>
      <p:sp>
        <p:nvSpPr>
          <p:cNvPr id="30" name="Text 21"/>
          <p:cNvSpPr/>
          <p:nvPr/>
        </p:nvSpPr>
        <p:spPr>
          <a:xfrm>
            <a:off x="6903720" y="5111496"/>
            <a:ext cx="4480560" cy="502920"/>
          </a:xfrm>
          <a:prstGeom prst="rect">
            <a:avLst/>
          </a:prstGeom>
          <a:noFill/>
          <a:ln/>
        </p:spPr>
        <p:txBody>
          <a:bodyPr wrap="square" lIns="0" tIns="0" rIns="0" bIns="0" rtlCol="0" anchor="t"/>
          <a:lstStyle/>
          <a:p>
            <a:pPr marL="0" indent="0">
              <a:buNone/>
            </a:pPr>
            <a:r>
              <a:rPr lang="en-US" sz="1250" dirty="0">
                <a:solidFill>
                  <a:srgbClr val="94A3B8"/>
                </a:solidFill>
                <a:latin typeface="Calibri" pitchFamily="34" charset="0"/>
                <a:ea typeface="Calibri" pitchFamily="34" charset="-122"/>
                <a:cs typeface="Calibri" pitchFamily="34" charset="-120"/>
              </a:rPr>
              <a:t>Power BI + Streamlit deliver instant, self-serve insights</a:t>
            </a:r>
            <a:endParaRPr lang="en-US" sz="1250" dirty="0"/>
          </a:p>
        </p:txBody>
      </p:sp>
      <p:sp>
        <p:nvSpPr>
          <p:cNvPr id="32" name="Text 22"/>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44"/>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548640" y="621792"/>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Project Objectives</a:t>
            </a:r>
            <a:endParaRPr lang="en-US" sz="3200" dirty="0"/>
          </a:p>
        </p:txBody>
      </p:sp>
      <p:sp>
        <p:nvSpPr>
          <p:cNvPr id="4" name="Text 2"/>
          <p:cNvSpPr/>
          <p:nvPr/>
        </p:nvSpPr>
        <p:spPr>
          <a:xfrm>
            <a:off x="548640" y="1234440"/>
            <a:ext cx="10515600" cy="45720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Six milestones that take the project from raw CSV to live web app</a:t>
            </a:r>
            <a:endParaRPr lang="en-US" sz="1500" dirty="0"/>
          </a:p>
        </p:txBody>
      </p:sp>
      <p:sp>
        <p:nvSpPr>
          <p:cNvPr id="5" name="Shape 3"/>
          <p:cNvSpPr/>
          <p:nvPr/>
        </p:nvSpPr>
        <p:spPr>
          <a:xfrm>
            <a:off x="548640" y="1920240"/>
            <a:ext cx="3474720" cy="1783080"/>
          </a:xfrm>
          <a:prstGeom prst="roundRect">
            <a:avLst>
              <a:gd name="adj" fmla="val 4103"/>
            </a:avLst>
          </a:prstGeom>
          <a:solidFill>
            <a:srgbClr val="0F2A5C"/>
          </a:solidFill>
          <a:ln/>
        </p:spPr>
      </p:sp>
      <p:sp>
        <p:nvSpPr>
          <p:cNvPr id="6" name="Shape 4"/>
          <p:cNvSpPr/>
          <p:nvPr/>
        </p:nvSpPr>
        <p:spPr>
          <a:xfrm>
            <a:off x="749808" y="2121408"/>
            <a:ext cx="502920" cy="502920"/>
          </a:xfrm>
          <a:prstGeom prst="ellipse">
            <a:avLst/>
          </a:prstGeom>
          <a:solidFill>
            <a:srgbClr val="0F3460"/>
          </a:solidFill>
          <a:ln/>
        </p:spPr>
      </p:sp>
      <p:pic>
        <p:nvPicPr>
          <p:cNvPr id="7" name="Image 0" descr="/home/claude/deck/icons/database_cyan.png"/>
          <p:cNvPicPr>
            <a:picLocks noChangeAspect="1"/>
          </p:cNvPicPr>
          <p:nvPr/>
        </p:nvPicPr>
        <p:blipFill>
          <a:blip r:embed="rId3"/>
          <a:stretch>
            <a:fillRect/>
          </a:stretch>
        </p:blipFill>
        <p:spPr>
          <a:xfrm>
            <a:off x="859536" y="2231136"/>
            <a:ext cx="283464" cy="283464"/>
          </a:xfrm>
          <a:prstGeom prst="rect">
            <a:avLst/>
          </a:prstGeom>
        </p:spPr>
      </p:pic>
      <p:sp>
        <p:nvSpPr>
          <p:cNvPr id="8" name="Text 5"/>
          <p:cNvSpPr/>
          <p:nvPr/>
        </p:nvSpPr>
        <p:spPr>
          <a:xfrm>
            <a:off x="3383280" y="2084832"/>
            <a:ext cx="548640" cy="365760"/>
          </a:xfrm>
          <a:prstGeom prst="rect">
            <a:avLst/>
          </a:prstGeom>
          <a:noFill/>
          <a:ln/>
        </p:spPr>
        <p:txBody>
          <a:bodyPr wrap="square" lIns="0" tIns="0" rIns="0" bIns="0" rtlCol="0" anchor="ctr"/>
          <a:lstStyle/>
          <a:p>
            <a:pPr marL="0" indent="0" algn="r">
              <a:buNone/>
            </a:pPr>
            <a:r>
              <a:rPr lang="en-US" sz="1600" b="1" dirty="0">
                <a:solidFill>
                  <a:srgbClr val="64748B"/>
                </a:solidFill>
                <a:latin typeface="Cambria" pitchFamily="34" charset="0"/>
                <a:ea typeface="Cambria" pitchFamily="34" charset="-122"/>
                <a:cs typeface="Cambria" pitchFamily="34" charset="-120"/>
              </a:rPr>
              <a:t>01</a:t>
            </a:r>
            <a:endParaRPr lang="en-US" sz="1600" dirty="0"/>
          </a:p>
        </p:txBody>
      </p:sp>
      <p:sp>
        <p:nvSpPr>
          <p:cNvPr id="9" name="Text 6"/>
          <p:cNvSpPr/>
          <p:nvPr/>
        </p:nvSpPr>
        <p:spPr>
          <a:xfrm>
            <a:off x="749808" y="2743200"/>
            <a:ext cx="3108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Clean &amp; Structure Data</a:t>
            </a:r>
            <a:endParaRPr lang="en-US" sz="1400" dirty="0"/>
          </a:p>
        </p:txBody>
      </p:sp>
      <p:sp>
        <p:nvSpPr>
          <p:cNvPr id="10" name="Text 7"/>
          <p:cNvSpPr/>
          <p:nvPr/>
        </p:nvSpPr>
        <p:spPr>
          <a:xfrm>
            <a:off x="749808" y="3090672"/>
            <a:ext cx="3108960" cy="59436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Transform the raw Superstore dataset into a reliable, analysis-ready foundation.</a:t>
            </a:r>
            <a:endParaRPr lang="en-US" sz="1050" dirty="0"/>
          </a:p>
        </p:txBody>
      </p:sp>
      <p:sp>
        <p:nvSpPr>
          <p:cNvPr id="11" name="Shape 8"/>
          <p:cNvSpPr/>
          <p:nvPr/>
        </p:nvSpPr>
        <p:spPr>
          <a:xfrm>
            <a:off x="4297680" y="1920240"/>
            <a:ext cx="3474720" cy="1783080"/>
          </a:xfrm>
          <a:prstGeom prst="roundRect">
            <a:avLst>
              <a:gd name="adj" fmla="val 4103"/>
            </a:avLst>
          </a:prstGeom>
          <a:solidFill>
            <a:srgbClr val="0F2A5C"/>
          </a:solidFill>
          <a:ln/>
        </p:spPr>
      </p:sp>
      <p:sp>
        <p:nvSpPr>
          <p:cNvPr id="12" name="Shape 9"/>
          <p:cNvSpPr/>
          <p:nvPr/>
        </p:nvSpPr>
        <p:spPr>
          <a:xfrm>
            <a:off x="4498848" y="2121408"/>
            <a:ext cx="502920" cy="502920"/>
          </a:xfrm>
          <a:prstGeom prst="ellipse">
            <a:avLst/>
          </a:prstGeom>
          <a:solidFill>
            <a:srgbClr val="0F3460"/>
          </a:solidFill>
          <a:ln/>
        </p:spPr>
      </p:sp>
      <p:pic>
        <p:nvPicPr>
          <p:cNvPr id="13" name="Image 1" descr="/home/claude/deck/icons/chartArea_cyan.png"/>
          <p:cNvPicPr>
            <a:picLocks noChangeAspect="1"/>
          </p:cNvPicPr>
          <p:nvPr/>
        </p:nvPicPr>
        <p:blipFill>
          <a:blip r:embed="rId4"/>
          <a:stretch>
            <a:fillRect/>
          </a:stretch>
        </p:blipFill>
        <p:spPr>
          <a:xfrm>
            <a:off x="4608576" y="2231136"/>
            <a:ext cx="283464" cy="283464"/>
          </a:xfrm>
          <a:prstGeom prst="rect">
            <a:avLst/>
          </a:prstGeom>
        </p:spPr>
      </p:pic>
      <p:sp>
        <p:nvSpPr>
          <p:cNvPr id="14" name="Text 10"/>
          <p:cNvSpPr/>
          <p:nvPr/>
        </p:nvSpPr>
        <p:spPr>
          <a:xfrm>
            <a:off x="7132320" y="2084832"/>
            <a:ext cx="548640" cy="365760"/>
          </a:xfrm>
          <a:prstGeom prst="rect">
            <a:avLst/>
          </a:prstGeom>
          <a:noFill/>
          <a:ln/>
        </p:spPr>
        <p:txBody>
          <a:bodyPr wrap="square" lIns="0" tIns="0" rIns="0" bIns="0" rtlCol="0" anchor="ctr"/>
          <a:lstStyle/>
          <a:p>
            <a:pPr marL="0" indent="0" algn="r">
              <a:buNone/>
            </a:pPr>
            <a:r>
              <a:rPr lang="en-US" sz="1600" b="1" dirty="0">
                <a:solidFill>
                  <a:srgbClr val="64748B"/>
                </a:solidFill>
                <a:latin typeface="Cambria" pitchFamily="34" charset="0"/>
                <a:ea typeface="Cambria" pitchFamily="34" charset="-122"/>
                <a:cs typeface="Cambria" pitchFamily="34" charset="-120"/>
              </a:rPr>
              <a:t>02</a:t>
            </a:r>
            <a:endParaRPr lang="en-US" sz="1600" dirty="0"/>
          </a:p>
        </p:txBody>
      </p:sp>
      <p:sp>
        <p:nvSpPr>
          <p:cNvPr id="15" name="Text 11"/>
          <p:cNvSpPr/>
          <p:nvPr/>
        </p:nvSpPr>
        <p:spPr>
          <a:xfrm>
            <a:off x="4498848" y="2743200"/>
            <a:ext cx="3108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Uncover Patterns</a:t>
            </a:r>
            <a:endParaRPr lang="en-US" sz="1400" dirty="0"/>
          </a:p>
        </p:txBody>
      </p:sp>
      <p:sp>
        <p:nvSpPr>
          <p:cNvPr id="16" name="Text 12"/>
          <p:cNvSpPr/>
          <p:nvPr/>
        </p:nvSpPr>
        <p:spPr>
          <a:xfrm>
            <a:off x="4498848" y="3090672"/>
            <a:ext cx="3108960" cy="59436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Run exploratory analysis to surface sales, profit and regional trends.</a:t>
            </a:r>
            <a:endParaRPr lang="en-US" sz="1050" dirty="0"/>
          </a:p>
        </p:txBody>
      </p:sp>
      <p:sp>
        <p:nvSpPr>
          <p:cNvPr id="17" name="Shape 13"/>
          <p:cNvSpPr/>
          <p:nvPr/>
        </p:nvSpPr>
        <p:spPr>
          <a:xfrm>
            <a:off x="8046720" y="1920240"/>
            <a:ext cx="3474720" cy="1783080"/>
          </a:xfrm>
          <a:prstGeom prst="roundRect">
            <a:avLst>
              <a:gd name="adj" fmla="val 4103"/>
            </a:avLst>
          </a:prstGeom>
          <a:solidFill>
            <a:srgbClr val="0F2A5C"/>
          </a:solidFill>
          <a:ln/>
        </p:spPr>
      </p:sp>
      <p:sp>
        <p:nvSpPr>
          <p:cNvPr id="18" name="Shape 14"/>
          <p:cNvSpPr/>
          <p:nvPr/>
        </p:nvSpPr>
        <p:spPr>
          <a:xfrm>
            <a:off x="8247888" y="2121408"/>
            <a:ext cx="502920" cy="502920"/>
          </a:xfrm>
          <a:prstGeom prst="ellipse">
            <a:avLst/>
          </a:prstGeom>
          <a:solidFill>
            <a:srgbClr val="0F3460"/>
          </a:solidFill>
          <a:ln/>
        </p:spPr>
      </p:sp>
      <p:pic>
        <p:nvPicPr>
          <p:cNvPr id="19" name="Image 2" descr="/home/claude/deck/icons/server_cyan.png"/>
          <p:cNvPicPr>
            <a:picLocks noChangeAspect="1"/>
          </p:cNvPicPr>
          <p:nvPr/>
        </p:nvPicPr>
        <p:blipFill>
          <a:blip r:embed="rId5"/>
          <a:stretch>
            <a:fillRect/>
          </a:stretch>
        </p:blipFill>
        <p:spPr>
          <a:xfrm>
            <a:off x="8357616" y="2231136"/>
            <a:ext cx="283464" cy="283464"/>
          </a:xfrm>
          <a:prstGeom prst="rect">
            <a:avLst/>
          </a:prstGeom>
        </p:spPr>
      </p:pic>
      <p:sp>
        <p:nvSpPr>
          <p:cNvPr id="20" name="Text 15"/>
          <p:cNvSpPr/>
          <p:nvPr/>
        </p:nvSpPr>
        <p:spPr>
          <a:xfrm>
            <a:off x="10881360" y="2084832"/>
            <a:ext cx="548640" cy="365760"/>
          </a:xfrm>
          <a:prstGeom prst="rect">
            <a:avLst/>
          </a:prstGeom>
          <a:noFill/>
          <a:ln/>
        </p:spPr>
        <p:txBody>
          <a:bodyPr wrap="square" lIns="0" tIns="0" rIns="0" bIns="0" rtlCol="0" anchor="ctr"/>
          <a:lstStyle/>
          <a:p>
            <a:pPr marL="0" indent="0" algn="r">
              <a:buNone/>
            </a:pPr>
            <a:r>
              <a:rPr lang="en-US" sz="1600" b="1" dirty="0">
                <a:solidFill>
                  <a:srgbClr val="64748B"/>
                </a:solidFill>
                <a:latin typeface="Cambria" pitchFamily="34" charset="0"/>
                <a:ea typeface="Cambria" pitchFamily="34" charset="-122"/>
                <a:cs typeface="Cambria" pitchFamily="34" charset="-120"/>
              </a:rPr>
              <a:t>03</a:t>
            </a:r>
            <a:endParaRPr lang="en-US" sz="1600" dirty="0"/>
          </a:p>
        </p:txBody>
      </p:sp>
      <p:sp>
        <p:nvSpPr>
          <p:cNvPr id="21" name="Text 16"/>
          <p:cNvSpPr/>
          <p:nvPr/>
        </p:nvSpPr>
        <p:spPr>
          <a:xfrm>
            <a:off x="8247888" y="2743200"/>
            <a:ext cx="3108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Build a Relational Store</a:t>
            </a:r>
            <a:endParaRPr lang="en-US" sz="1400" dirty="0"/>
          </a:p>
        </p:txBody>
      </p:sp>
      <p:sp>
        <p:nvSpPr>
          <p:cNvPr id="22" name="Text 17"/>
          <p:cNvSpPr/>
          <p:nvPr/>
        </p:nvSpPr>
        <p:spPr>
          <a:xfrm>
            <a:off x="8247888" y="3090672"/>
            <a:ext cx="3108960" cy="59436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Design a MySQL schema to query orders, customers and products at scale.</a:t>
            </a:r>
            <a:endParaRPr lang="en-US" sz="1050" dirty="0"/>
          </a:p>
        </p:txBody>
      </p:sp>
      <p:sp>
        <p:nvSpPr>
          <p:cNvPr id="23" name="Shape 18"/>
          <p:cNvSpPr/>
          <p:nvPr/>
        </p:nvSpPr>
        <p:spPr>
          <a:xfrm>
            <a:off x="548640" y="4023360"/>
            <a:ext cx="3474720" cy="1783080"/>
          </a:xfrm>
          <a:prstGeom prst="roundRect">
            <a:avLst>
              <a:gd name="adj" fmla="val 4103"/>
            </a:avLst>
          </a:prstGeom>
          <a:solidFill>
            <a:srgbClr val="0F2A5C"/>
          </a:solidFill>
          <a:ln/>
        </p:spPr>
      </p:sp>
      <p:sp>
        <p:nvSpPr>
          <p:cNvPr id="24" name="Shape 19"/>
          <p:cNvSpPr/>
          <p:nvPr/>
        </p:nvSpPr>
        <p:spPr>
          <a:xfrm>
            <a:off x="749808" y="4224528"/>
            <a:ext cx="502920" cy="502920"/>
          </a:xfrm>
          <a:prstGeom prst="ellipse">
            <a:avLst/>
          </a:prstGeom>
          <a:solidFill>
            <a:srgbClr val="0F3460"/>
          </a:solidFill>
          <a:ln/>
        </p:spPr>
      </p:sp>
      <p:pic>
        <p:nvPicPr>
          <p:cNvPr id="25" name="Image 3" descr="/home/claude/deck/icons/chartLine_cyan.png"/>
          <p:cNvPicPr>
            <a:picLocks noChangeAspect="1"/>
          </p:cNvPicPr>
          <p:nvPr/>
        </p:nvPicPr>
        <p:blipFill>
          <a:blip r:embed="rId6"/>
          <a:stretch>
            <a:fillRect/>
          </a:stretch>
        </p:blipFill>
        <p:spPr>
          <a:xfrm>
            <a:off x="859536" y="4334256"/>
            <a:ext cx="283464" cy="283464"/>
          </a:xfrm>
          <a:prstGeom prst="rect">
            <a:avLst/>
          </a:prstGeom>
        </p:spPr>
      </p:pic>
      <p:sp>
        <p:nvSpPr>
          <p:cNvPr id="26" name="Text 20"/>
          <p:cNvSpPr/>
          <p:nvPr/>
        </p:nvSpPr>
        <p:spPr>
          <a:xfrm>
            <a:off x="3383280" y="4187952"/>
            <a:ext cx="548640" cy="365760"/>
          </a:xfrm>
          <a:prstGeom prst="rect">
            <a:avLst/>
          </a:prstGeom>
          <a:noFill/>
          <a:ln/>
        </p:spPr>
        <p:txBody>
          <a:bodyPr wrap="square" lIns="0" tIns="0" rIns="0" bIns="0" rtlCol="0" anchor="ctr"/>
          <a:lstStyle/>
          <a:p>
            <a:pPr marL="0" indent="0" algn="r">
              <a:buNone/>
            </a:pPr>
            <a:r>
              <a:rPr lang="en-US" sz="1600" b="1" dirty="0">
                <a:solidFill>
                  <a:srgbClr val="64748B"/>
                </a:solidFill>
                <a:latin typeface="Cambria" pitchFamily="34" charset="0"/>
                <a:ea typeface="Cambria" pitchFamily="34" charset="-122"/>
                <a:cs typeface="Cambria" pitchFamily="34" charset="-120"/>
              </a:rPr>
              <a:t>04</a:t>
            </a:r>
            <a:endParaRPr lang="en-US" sz="1600" dirty="0"/>
          </a:p>
        </p:txBody>
      </p:sp>
      <p:sp>
        <p:nvSpPr>
          <p:cNvPr id="27" name="Text 21"/>
          <p:cNvSpPr/>
          <p:nvPr/>
        </p:nvSpPr>
        <p:spPr>
          <a:xfrm>
            <a:off x="749808" y="4846320"/>
            <a:ext cx="3108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Forecast Sales</a:t>
            </a:r>
            <a:endParaRPr lang="en-US" sz="1400" dirty="0"/>
          </a:p>
        </p:txBody>
      </p:sp>
      <p:sp>
        <p:nvSpPr>
          <p:cNvPr id="28" name="Text 22"/>
          <p:cNvSpPr/>
          <p:nvPr/>
        </p:nvSpPr>
        <p:spPr>
          <a:xfrm>
            <a:off x="749808" y="5193792"/>
            <a:ext cx="3108960" cy="59436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Train a regression model to predict future revenue from historical patterns.</a:t>
            </a:r>
            <a:endParaRPr lang="en-US" sz="1050" dirty="0"/>
          </a:p>
        </p:txBody>
      </p:sp>
      <p:sp>
        <p:nvSpPr>
          <p:cNvPr id="29" name="Shape 23"/>
          <p:cNvSpPr/>
          <p:nvPr/>
        </p:nvSpPr>
        <p:spPr>
          <a:xfrm>
            <a:off x="4297680" y="4023360"/>
            <a:ext cx="3474720" cy="1783080"/>
          </a:xfrm>
          <a:prstGeom prst="roundRect">
            <a:avLst>
              <a:gd name="adj" fmla="val 4103"/>
            </a:avLst>
          </a:prstGeom>
          <a:solidFill>
            <a:srgbClr val="0F2A5C"/>
          </a:solidFill>
          <a:ln/>
        </p:spPr>
      </p:sp>
      <p:sp>
        <p:nvSpPr>
          <p:cNvPr id="30" name="Shape 24"/>
          <p:cNvSpPr/>
          <p:nvPr/>
        </p:nvSpPr>
        <p:spPr>
          <a:xfrm>
            <a:off x="4498848" y="4224528"/>
            <a:ext cx="502920" cy="502920"/>
          </a:xfrm>
          <a:prstGeom prst="ellipse">
            <a:avLst/>
          </a:prstGeom>
          <a:solidFill>
            <a:srgbClr val="0F3460"/>
          </a:solidFill>
          <a:ln/>
        </p:spPr>
      </p:sp>
      <p:pic>
        <p:nvPicPr>
          <p:cNvPr id="31" name="Image 4" descr="/home/claude/deck/icons/users_cyan.png"/>
          <p:cNvPicPr>
            <a:picLocks noChangeAspect="1"/>
          </p:cNvPicPr>
          <p:nvPr/>
        </p:nvPicPr>
        <p:blipFill>
          <a:blip r:embed="rId7"/>
          <a:stretch>
            <a:fillRect/>
          </a:stretch>
        </p:blipFill>
        <p:spPr>
          <a:xfrm>
            <a:off x="4608576" y="4334256"/>
            <a:ext cx="283464" cy="283464"/>
          </a:xfrm>
          <a:prstGeom prst="rect">
            <a:avLst/>
          </a:prstGeom>
        </p:spPr>
      </p:pic>
      <p:sp>
        <p:nvSpPr>
          <p:cNvPr id="32" name="Text 25"/>
          <p:cNvSpPr/>
          <p:nvPr/>
        </p:nvSpPr>
        <p:spPr>
          <a:xfrm>
            <a:off x="7132320" y="4187952"/>
            <a:ext cx="548640" cy="365760"/>
          </a:xfrm>
          <a:prstGeom prst="rect">
            <a:avLst/>
          </a:prstGeom>
          <a:noFill/>
          <a:ln/>
        </p:spPr>
        <p:txBody>
          <a:bodyPr wrap="square" lIns="0" tIns="0" rIns="0" bIns="0" rtlCol="0" anchor="ctr"/>
          <a:lstStyle/>
          <a:p>
            <a:pPr marL="0" indent="0" algn="r">
              <a:buNone/>
            </a:pPr>
            <a:r>
              <a:rPr lang="en-US" sz="1600" b="1" dirty="0">
                <a:solidFill>
                  <a:srgbClr val="64748B"/>
                </a:solidFill>
                <a:latin typeface="Cambria" pitchFamily="34" charset="0"/>
                <a:ea typeface="Cambria" pitchFamily="34" charset="-122"/>
                <a:cs typeface="Cambria" pitchFamily="34" charset="-120"/>
              </a:rPr>
              <a:t>05</a:t>
            </a:r>
            <a:endParaRPr lang="en-US" sz="1600" dirty="0"/>
          </a:p>
        </p:txBody>
      </p:sp>
      <p:sp>
        <p:nvSpPr>
          <p:cNvPr id="33" name="Text 26"/>
          <p:cNvSpPr/>
          <p:nvPr/>
        </p:nvSpPr>
        <p:spPr>
          <a:xfrm>
            <a:off x="4498848" y="4846320"/>
            <a:ext cx="3108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Segment Customers</a:t>
            </a:r>
            <a:endParaRPr lang="en-US" sz="1400" dirty="0"/>
          </a:p>
        </p:txBody>
      </p:sp>
      <p:sp>
        <p:nvSpPr>
          <p:cNvPr id="34" name="Text 27"/>
          <p:cNvSpPr/>
          <p:nvPr/>
        </p:nvSpPr>
        <p:spPr>
          <a:xfrm>
            <a:off x="4498848" y="5193792"/>
            <a:ext cx="3108960" cy="59436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Apply K-Means clustering to group customers by value and behavior.</a:t>
            </a:r>
            <a:endParaRPr lang="en-US" sz="1050" dirty="0"/>
          </a:p>
        </p:txBody>
      </p:sp>
      <p:sp>
        <p:nvSpPr>
          <p:cNvPr id="35" name="Shape 28"/>
          <p:cNvSpPr/>
          <p:nvPr/>
        </p:nvSpPr>
        <p:spPr>
          <a:xfrm>
            <a:off x="8046720" y="4023360"/>
            <a:ext cx="3474720" cy="1783080"/>
          </a:xfrm>
          <a:prstGeom prst="roundRect">
            <a:avLst>
              <a:gd name="adj" fmla="val 4103"/>
            </a:avLst>
          </a:prstGeom>
          <a:solidFill>
            <a:srgbClr val="0F2A5C"/>
          </a:solidFill>
          <a:ln/>
        </p:spPr>
      </p:sp>
      <p:sp>
        <p:nvSpPr>
          <p:cNvPr id="36" name="Shape 29"/>
          <p:cNvSpPr/>
          <p:nvPr/>
        </p:nvSpPr>
        <p:spPr>
          <a:xfrm>
            <a:off x="8247888" y="4224528"/>
            <a:ext cx="502920" cy="502920"/>
          </a:xfrm>
          <a:prstGeom prst="ellipse">
            <a:avLst/>
          </a:prstGeom>
          <a:solidFill>
            <a:srgbClr val="0F3460"/>
          </a:solidFill>
          <a:ln/>
        </p:spPr>
      </p:sp>
      <p:pic>
        <p:nvPicPr>
          <p:cNvPr id="37" name="Image 5" descr="/home/claude/deck/icons/rocket_cyan.png"/>
          <p:cNvPicPr>
            <a:picLocks noChangeAspect="1"/>
          </p:cNvPicPr>
          <p:nvPr/>
        </p:nvPicPr>
        <p:blipFill>
          <a:blip r:embed="rId8"/>
          <a:stretch>
            <a:fillRect/>
          </a:stretch>
        </p:blipFill>
        <p:spPr>
          <a:xfrm>
            <a:off x="8357616" y="4334256"/>
            <a:ext cx="283464" cy="283464"/>
          </a:xfrm>
          <a:prstGeom prst="rect">
            <a:avLst/>
          </a:prstGeom>
        </p:spPr>
      </p:pic>
      <p:sp>
        <p:nvSpPr>
          <p:cNvPr id="38" name="Text 30"/>
          <p:cNvSpPr/>
          <p:nvPr/>
        </p:nvSpPr>
        <p:spPr>
          <a:xfrm>
            <a:off x="10881360" y="4187952"/>
            <a:ext cx="548640" cy="365760"/>
          </a:xfrm>
          <a:prstGeom prst="rect">
            <a:avLst/>
          </a:prstGeom>
          <a:noFill/>
          <a:ln/>
        </p:spPr>
        <p:txBody>
          <a:bodyPr wrap="square" lIns="0" tIns="0" rIns="0" bIns="0" rtlCol="0" anchor="ctr"/>
          <a:lstStyle/>
          <a:p>
            <a:pPr marL="0" indent="0" algn="r">
              <a:buNone/>
            </a:pPr>
            <a:r>
              <a:rPr lang="en-US" sz="1600" b="1" dirty="0">
                <a:solidFill>
                  <a:srgbClr val="64748B"/>
                </a:solidFill>
                <a:latin typeface="Cambria" pitchFamily="34" charset="0"/>
                <a:ea typeface="Cambria" pitchFamily="34" charset="-122"/>
                <a:cs typeface="Cambria" pitchFamily="34" charset="-120"/>
              </a:rPr>
              <a:t>06</a:t>
            </a:r>
            <a:endParaRPr lang="en-US" sz="1600" dirty="0"/>
          </a:p>
        </p:txBody>
      </p:sp>
      <p:sp>
        <p:nvSpPr>
          <p:cNvPr id="39" name="Text 31"/>
          <p:cNvSpPr/>
          <p:nvPr/>
        </p:nvSpPr>
        <p:spPr>
          <a:xfrm>
            <a:off x="8247888" y="4846320"/>
            <a:ext cx="31089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Ship a Live Product</a:t>
            </a:r>
            <a:endParaRPr lang="en-US" sz="1400" dirty="0"/>
          </a:p>
        </p:txBody>
      </p:sp>
      <p:sp>
        <p:nvSpPr>
          <p:cNvPr id="40" name="Text 32"/>
          <p:cNvSpPr/>
          <p:nvPr/>
        </p:nvSpPr>
        <p:spPr>
          <a:xfrm>
            <a:off x="8247888" y="5193792"/>
            <a:ext cx="3108960" cy="59436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Deploy insights through a Power BI dashboard and a Streamlit web app.</a:t>
            </a:r>
            <a:endParaRPr lang="en-US" sz="1050" dirty="0"/>
          </a:p>
        </p:txBody>
      </p:sp>
      <p:sp>
        <p:nvSpPr>
          <p:cNvPr id="42" name="Text 33"/>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BUSINESS VALUE</a:t>
            </a:r>
            <a:endParaRPr lang="en-US" sz="1200" dirty="0"/>
          </a:p>
        </p:txBody>
      </p:sp>
      <p:sp>
        <p:nvSpPr>
          <p:cNvPr id="3" name="Text 1"/>
          <p:cNvSpPr/>
          <p:nvPr/>
        </p:nvSpPr>
        <p:spPr>
          <a:xfrm>
            <a:off x="548640" y="621792"/>
            <a:ext cx="10881360" cy="7315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Who Benefits — and How</a:t>
            </a:r>
            <a:endParaRPr lang="en-US" sz="30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The same platform serves every stakeholder in the sales organization</a:t>
            </a:r>
            <a:endParaRPr lang="en-US" sz="1400" dirty="0"/>
          </a:p>
        </p:txBody>
      </p:sp>
      <p:sp>
        <p:nvSpPr>
          <p:cNvPr id="5" name="Shape 3"/>
          <p:cNvSpPr/>
          <p:nvPr/>
        </p:nvSpPr>
        <p:spPr>
          <a:xfrm>
            <a:off x="534924" y="1965960"/>
            <a:ext cx="2121408" cy="3383280"/>
          </a:xfrm>
          <a:prstGeom prst="roundRect">
            <a:avLst>
              <a:gd name="adj" fmla="val 3879"/>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6" name="Shape 4"/>
          <p:cNvSpPr/>
          <p:nvPr/>
        </p:nvSpPr>
        <p:spPr>
          <a:xfrm>
            <a:off x="1312164" y="2258568"/>
            <a:ext cx="566928" cy="566928"/>
          </a:xfrm>
          <a:prstGeom prst="ellipse">
            <a:avLst/>
          </a:prstGeom>
          <a:solidFill>
            <a:srgbClr val="0A1F44"/>
          </a:solidFill>
          <a:ln/>
        </p:spPr>
      </p:sp>
      <p:pic>
        <p:nvPicPr>
          <p:cNvPr id="7" name="Image 0" descr="/home/claude/deck/icons/buildingCol_cyan.png"/>
          <p:cNvPicPr>
            <a:picLocks noChangeAspect="1"/>
          </p:cNvPicPr>
          <p:nvPr/>
        </p:nvPicPr>
        <p:blipFill>
          <a:blip r:embed="rId3"/>
          <a:stretch>
            <a:fillRect/>
          </a:stretch>
        </p:blipFill>
        <p:spPr>
          <a:xfrm>
            <a:off x="1449324" y="2395728"/>
            <a:ext cx="292608" cy="292608"/>
          </a:xfrm>
          <a:prstGeom prst="rect">
            <a:avLst/>
          </a:prstGeom>
        </p:spPr>
      </p:pic>
      <p:sp>
        <p:nvSpPr>
          <p:cNvPr id="8" name="Text 5"/>
          <p:cNvSpPr/>
          <p:nvPr/>
        </p:nvSpPr>
        <p:spPr>
          <a:xfrm>
            <a:off x="644652" y="3017520"/>
            <a:ext cx="1901952" cy="5029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Business Owners</a:t>
            </a:r>
            <a:endParaRPr lang="en-US" sz="1300" dirty="0"/>
          </a:p>
        </p:txBody>
      </p:sp>
      <p:sp>
        <p:nvSpPr>
          <p:cNvPr id="9" name="Text 6"/>
          <p:cNvSpPr/>
          <p:nvPr/>
        </p:nvSpPr>
        <p:spPr>
          <a:xfrm>
            <a:off x="699516" y="3520440"/>
            <a:ext cx="1792224" cy="169164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Clear, real-time visibility into revenue, profit margins and growth trends.</a:t>
            </a:r>
            <a:endParaRPr lang="en-US" sz="1050" dirty="0"/>
          </a:p>
        </p:txBody>
      </p:sp>
      <p:sp>
        <p:nvSpPr>
          <p:cNvPr id="10" name="Shape 7"/>
          <p:cNvSpPr/>
          <p:nvPr/>
        </p:nvSpPr>
        <p:spPr>
          <a:xfrm>
            <a:off x="2784348" y="1965960"/>
            <a:ext cx="2121408" cy="3383280"/>
          </a:xfrm>
          <a:prstGeom prst="roundRect">
            <a:avLst>
              <a:gd name="adj" fmla="val 3879"/>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1" name="Shape 8"/>
          <p:cNvSpPr/>
          <p:nvPr/>
        </p:nvSpPr>
        <p:spPr>
          <a:xfrm>
            <a:off x="3561588" y="2258568"/>
            <a:ext cx="566928" cy="566928"/>
          </a:xfrm>
          <a:prstGeom prst="ellipse">
            <a:avLst/>
          </a:prstGeom>
          <a:solidFill>
            <a:srgbClr val="0A1F44"/>
          </a:solidFill>
          <a:ln/>
        </p:spPr>
      </p:sp>
      <p:pic>
        <p:nvPicPr>
          <p:cNvPr id="12" name="Image 1" descr="/home/claude/deck/icons/bullseye_cyan.png"/>
          <p:cNvPicPr>
            <a:picLocks noChangeAspect="1"/>
          </p:cNvPicPr>
          <p:nvPr/>
        </p:nvPicPr>
        <p:blipFill>
          <a:blip r:embed="rId4"/>
          <a:stretch>
            <a:fillRect/>
          </a:stretch>
        </p:blipFill>
        <p:spPr>
          <a:xfrm>
            <a:off x="3698748" y="2395728"/>
            <a:ext cx="292608" cy="292608"/>
          </a:xfrm>
          <a:prstGeom prst="rect">
            <a:avLst/>
          </a:prstGeom>
        </p:spPr>
      </p:pic>
      <p:sp>
        <p:nvSpPr>
          <p:cNvPr id="13" name="Text 9"/>
          <p:cNvSpPr/>
          <p:nvPr/>
        </p:nvSpPr>
        <p:spPr>
          <a:xfrm>
            <a:off x="2894076" y="3017520"/>
            <a:ext cx="1901952" cy="5029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Marketing Teams</a:t>
            </a:r>
            <a:endParaRPr lang="en-US" sz="1300" dirty="0"/>
          </a:p>
        </p:txBody>
      </p:sp>
      <p:sp>
        <p:nvSpPr>
          <p:cNvPr id="14" name="Text 10"/>
          <p:cNvSpPr/>
          <p:nvPr/>
        </p:nvSpPr>
        <p:spPr>
          <a:xfrm>
            <a:off x="2948940" y="3520440"/>
            <a:ext cx="1792224" cy="169164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Customer segments to target campaigns and promotions more precisely.</a:t>
            </a:r>
            <a:endParaRPr lang="en-US" sz="1050" dirty="0"/>
          </a:p>
        </p:txBody>
      </p:sp>
      <p:sp>
        <p:nvSpPr>
          <p:cNvPr id="15" name="Shape 11"/>
          <p:cNvSpPr/>
          <p:nvPr/>
        </p:nvSpPr>
        <p:spPr>
          <a:xfrm>
            <a:off x="5033772" y="1965960"/>
            <a:ext cx="2121408" cy="3383280"/>
          </a:xfrm>
          <a:prstGeom prst="roundRect">
            <a:avLst>
              <a:gd name="adj" fmla="val 3879"/>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6" name="Shape 12"/>
          <p:cNvSpPr/>
          <p:nvPr/>
        </p:nvSpPr>
        <p:spPr>
          <a:xfrm>
            <a:off x="5811012" y="2258568"/>
            <a:ext cx="566928" cy="566928"/>
          </a:xfrm>
          <a:prstGeom prst="ellipse">
            <a:avLst/>
          </a:prstGeom>
          <a:solidFill>
            <a:srgbClr val="0A1F44"/>
          </a:solidFill>
          <a:ln/>
        </p:spPr>
      </p:sp>
      <p:pic>
        <p:nvPicPr>
          <p:cNvPr id="17" name="Image 2" descr="/home/claude/deck/icons/boxes_cyan.png"/>
          <p:cNvPicPr>
            <a:picLocks noChangeAspect="1"/>
          </p:cNvPicPr>
          <p:nvPr/>
        </p:nvPicPr>
        <p:blipFill>
          <a:blip r:embed="rId5"/>
          <a:stretch>
            <a:fillRect/>
          </a:stretch>
        </p:blipFill>
        <p:spPr>
          <a:xfrm>
            <a:off x="5948172" y="2395728"/>
            <a:ext cx="292608" cy="292608"/>
          </a:xfrm>
          <a:prstGeom prst="rect">
            <a:avLst/>
          </a:prstGeom>
        </p:spPr>
      </p:pic>
      <p:sp>
        <p:nvSpPr>
          <p:cNvPr id="18" name="Text 13"/>
          <p:cNvSpPr/>
          <p:nvPr/>
        </p:nvSpPr>
        <p:spPr>
          <a:xfrm>
            <a:off x="5143500" y="3017520"/>
            <a:ext cx="1901952" cy="5029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Inventory Managers</a:t>
            </a:r>
            <a:endParaRPr lang="en-US" sz="1300" dirty="0"/>
          </a:p>
        </p:txBody>
      </p:sp>
      <p:sp>
        <p:nvSpPr>
          <p:cNvPr id="19" name="Text 14"/>
          <p:cNvSpPr/>
          <p:nvPr/>
        </p:nvSpPr>
        <p:spPr>
          <a:xfrm>
            <a:off x="5198364" y="3520440"/>
            <a:ext cx="1792224" cy="169164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Forecasted demand to plan stock levels and reduce over/under-ordering.</a:t>
            </a:r>
            <a:endParaRPr lang="en-US" sz="1050" dirty="0"/>
          </a:p>
        </p:txBody>
      </p:sp>
      <p:sp>
        <p:nvSpPr>
          <p:cNvPr id="20" name="Shape 15"/>
          <p:cNvSpPr/>
          <p:nvPr/>
        </p:nvSpPr>
        <p:spPr>
          <a:xfrm>
            <a:off x="7283196" y="1965960"/>
            <a:ext cx="2121408" cy="3383280"/>
          </a:xfrm>
          <a:prstGeom prst="roundRect">
            <a:avLst>
              <a:gd name="adj" fmla="val 3879"/>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21" name="Shape 16"/>
          <p:cNvSpPr/>
          <p:nvPr/>
        </p:nvSpPr>
        <p:spPr>
          <a:xfrm>
            <a:off x="8060436" y="2258568"/>
            <a:ext cx="566928" cy="566928"/>
          </a:xfrm>
          <a:prstGeom prst="ellipse">
            <a:avLst/>
          </a:prstGeom>
          <a:solidFill>
            <a:srgbClr val="0A1F44"/>
          </a:solidFill>
          <a:ln/>
        </p:spPr>
      </p:sp>
      <p:pic>
        <p:nvPicPr>
          <p:cNvPr id="22" name="Image 3" descr="/home/claude/deck/icons/userFriends_cyan.png"/>
          <p:cNvPicPr>
            <a:picLocks noChangeAspect="1"/>
          </p:cNvPicPr>
          <p:nvPr/>
        </p:nvPicPr>
        <p:blipFill>
          <a:blip r:embed="rId6"/>
          <a:stretch>
            <a:fillRect/>
          </a:stretch>
        </p:blipFill>
        <p:spPr>
          <a:xfrm>
            <a:off x="8197596" y="2395728"/>
            <a:ext cx="292608" cy="292608"/>
          </a:xfrm>
          <a:prstGeom prst="rect">
            <a:avLst/>
          </a:prstGeom>
        </p:spPr>
      </p:pic>
      <p:sp>
        <p:nvSpPr>
          <p:cNvPr id="23" name="Text 17"/>
          <p:cNvSpPr/>
          <p:nvPr/>
        </p:nvSpPr>
        <p:spPr>
          <a:xfrm>
            <a:off x="7392924" y="3017520"/>
            <a:ext cx="1901952" cy="5029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Customers</a:t>
            </a:r>
            <a:endParaRPr lang="en-US" sz="1300" dirty="0"/>
          </a:p>
        </p:txBody>
      </p:sp>
      <p:sp>
        <p:nvSpPr>
          <p:cNvPr id="24" name="Text 18"/>
          <p:cNvSpPr/>
          <p:nvPr/>
        </p:nvSpPr>
        <p:spPr>
          <a:xfrm>
            <a:off x="7447788" y="3520440"/>
            <a:ext cx="1792224" cy="169164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Better-matched offers and faster fulfillment from smarter operations.</a:t>
            </a:r>
            <a:endParaRPr lang="en-US" sz="1050" dirty="0"/>
          </a:p>
        </p:txBody>
      </p:sp>
      <p:sp>
        <p:nvSpPr>
          <p:cNvPr id="25" name="Shape 19"/>
          <p:cNvSpPr/>
          <p:nvPr/>
        </p:nvSpPr>
        <p:spPr>
          <a:xfrm>
            <a:off x="9532620" y="1965960"/>
            <a:ext cx="2121408" cy="3383280"/>
          </a:xfrm>
          <a:prstGeom prst="roundRect">
            <a:avLst>
              <a:gd name="adj" fmla="val 3879"/>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26" name="Shape 20"/>
          <p:cNvSpPr/>
          <p:nvPr/>
        </p:nvSpPr>
        <p:spPr>
          <a:xfrm>
            <a:off x="10309860" y="2258568"/>
            <a:ext cx="566928" cy="566928"/>
          </a:xfrm>
          <a:prstGeom prst="ellipse">
            <a:avLst/>
          </a:prstGeom>
          <a:solidFill>
            <a:srgbClr val="0A1F44"/>
          </a:solidFill>
          <a:ln/>
        </p:spPr>
      </p:sp>
      <p:pic>
        <p:nvPicPr>
          <p:cNvPr id="27" name="Image 4" descr="/home/claude/deck/icons/chartPie_cyan.png"/>
          <p:cNvPicPr>
            <a:picLocks noChangeAspect="1"/>
          </p:cNvPicPr>
          <p:nvPr/>
        </p:nvPicPr>
        <p:blipFill>
          <a:blip r:embed="rId7"/>
          <a:stretch>
            <a:fillRect/>
          </a:stretch>
        </p:blipFill>
        <p:spPr>
          <a:xfrm>
            <a:off x="10447020" y="2395728"/>
            <a:ext cx="292608" cy="292608"/>
          </a:xfrm>
          <a:prstGeom prst="rect">
            <a:avLst/>
          </a:prstGeom>
        </p:spPr>
      </p:pic>
      <p:sp>
        <p:nvSpPr>
          <p:cNvPr id="28" name="Text 21"/>
          <p:cNvSpPr/>
          <p:nvPr/>
        </p:nvSpPr>
        <p:spPr>
          <a:xfrm>
            <a:off x="9642348" y="3017520"/>
            <a:ext cx="1901952" cy="5029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Decision Makers</a:t>
            </a:r>
            <a:endParaRPr lang="en-US" sz="1300" dirty="0"/>
          </a:p>
        </p:txBody>
      </p:sp>
      <p:sp>
        <p:nvSpPr>
          <p:cNvPr id="29" name="Text 22"/>
          <p:cNvSpPr/>
          <p:nvPr/>
        </p:nvSpPr>
        <p:spPr>
          <a:xfrm>
            <a:off x="9697212" y="3520440"/>
            <a:ext cx="1792224" cy="169164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A single source of truth to guide strategic, data-backed decisions.</a:t>
            </a:r>
            <a:endParaRPr lang="en-US" sz="1050" dirty="0"/>
          </a:p>
        </p:txBody>
      </p:sp>
      <p:sp>
        <p:nvSpPr>
          <p:cNvPr id="31" name="Text 23"/>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F44"/>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21792"/>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Technology Stack</a:t>
            </a:r>
            <a:endParaRPr lang="en-US" sz="3200" dirty="0"/>
          </a:p>
        </p:txBody>
      </p:sp>
      <p:sp>
        <p:nvSpPr>
          <p:cNvPr id="4" name="Text 2"/>
          <p:cNvSpPr/>
          <p:nvPr/>
        </p:nvSpPr>
        <p:spPr>
          <a:xfrm>
            <a:off x="548640" y="1234440"/>
            <a:ext cx="10515600" cy="45720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A layered pipeline — each layer feeds the next</a:t>
            </a:r>
            <a:endParaRPr lang="en-US" sz="1500" dirty="0"/>
          </a:p>
        </p:txBody>
      </p:sp>
      <p:sp>
        <p:nvSpPr>
          <p:cNvPr id="5" name="Shape 3"/>
          <p:cNvSpPr/>
          <p:nvPr/>
        </p:nvSpPr>
        <p:spPr>
          <a:xfrm>
            <a:off x="525780" y="2651760"/>
            <a:ext cx="1481328" cy="914400"/>
          </a:xfrm>
          <a:prstGeom prst="roundRect">
            <a:avLst>
              <a:gd name="adj" fmla="val 8000"/>
            </a:avLst>
          </a:prstGeom>
          <a:solidFill>
            <a:srgbClr val="0F2A5C"/>
          </a:solidFill>
          <a:ln/>
        </p:spPr>
      </p:sp>
      <p:pic>
        <p:nvPicPr>
          <p:cNvPr id="6" name="Image 0" descr="/home/claude/deck/icons/excel_cyan.png"/>
          <p:cNvPicPr>
            <a:picLocks noChangeAspect="1"/>
          </p:cNvPicPr>
          <p:nvPr/>
        </p:nvPicPr>
        <p:blipFill>
          <a:blip r:embed="rId3"/>
          <a:stretch>
            <a:fillRect/>
          </a:stretch>
        </p:blipFill>
        <p:spPr>
          <a:xfrm>
            <a:off x="1083564" y="2770632"/>
            <a:ext cx="365760" cy="365760"/>
          </a:xfrm>
          <a:prstGeom prst="rect">
            <a:avLst/>
          </a:prstGeom>
        </p:spPr>
      </p:pic>
      <p:sp>
        <p:nvSpPr>
          <p:cNvPr id="7" name="Text 4"/>
          <p:cNvSpPr/>
          <p:nvPr/>
        </p:nvSpPr>
        <p:spPr>
          <a:xfrm>
            <a:off x="434340" y="3182112"/>
            <a:ext cx="1664208"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Excel / CSV</a:t>
            </a:r>
            <a:endParaRPr lang="en-US" sz="1050" dirty="0"/>
          </a:p>
        </p:txBody>
      </p:sp>
      <p:pic>
        <p:nvPicPr>
          <p:cNvPr id="8" name="Image 1" descr="/home/claude/deck/icons/arrowRight_cyan.png"/>
          <p:cNvPicPr>
            <a:picLocks noChangeAspect="1"/>
          </p:cNvPicPr>
          <p:nvPr/>
        </p:nvPicPr>
        <p:blipFill>
          <a:blip r:embed="rId4"/>
          <a:stretch>
            <a:fillRect/>
          </a:stretch>
        </p:blipFill>
        <p:spPr>
          <a:xfrm>
            <a:off x="1988820" y="3026664"/>
            <a:ext cx="164592" cy="164592"/>
          </a:xfrm>
          <a:prstGeom prst="rect">
            <a:avLst/>
          </a:prstGeom>
        </p:spPr>
      </p:pic>
      <p:sp>
        <p:nvSpPr>
          <p:cNvPr id="9" name="Text 5"/>
          <p:cNvSpPr/>
          <p:nvPr/>
        </p:nvSpPr>
        <p:spPr>
          <a:xfrm>
            <a:off x="388620" y="3749040"/>
            <a:ext cx="1755648" cy="822960"/>
          </a:xfrm>
          <a:prstGeom prst="rect">
            <a:avLst/>
          </a:prstGeom>
          <a:noFill/>
          <a:ln/>
        </p:spPr>
        <p:txBody>
          <a:bodyPr wrap="square" lIns="0" tIns="0" rIns="0" bIns="0" rtlCol="0" anchor="t"/>
          <a:lstStyle/>
          <a:p>
            <a:pPr marL="0" indent="0" algn="ctr">
              <a:buNone/>
            </a:pPr>
            <a:r>
              <a:rPr lang="en-US" sz="950" dirty="0">
                <a:solidFill>
                  <a:srgbClr val="94A3B8"/>
                </a:solidFill>
                <a:latin typeface="Calibri" pitchFamily="34" charset="0"/>
                <a:ea typeface="Calibri" pitchFamily="34" charset="-122"/>
                <a:cs typeface="Calibri" pitchFamily="34" charset="-120"/>
              </a:rPr>
              <a:t>Superstore dataset ingestion</a:t>
            </a:r>
            <a:endParaRPr lang="en-US" sz="950" dirty="0"/>
          </a:p>
        </p:txBody>
      </p:sp>
      <p:sp>
        <p:nvSpPr>
          <p:cNvPr id="10" name="Shape 6"/>
          <p:cNvSpPr/>
          <p:nvPr/>
        </p:nvSpPr>
        <p:spPr>
          <a:xfrm>
            <a:off x="2135124" y="2651760"/>
            <a:ext cx="1481328" cy="914400"/>
          </a:xfrm>
          <a:prstGeom prst="roundRect">
            <a:avLst>
              <a:gd name="adj" fmla="val 8000"/>
            </a:avLst>
          </a:prstGeom>
          <a:solidFill>
            <a:srgbClr val="0F2A5C"/>
          </a:solidFill>
          <a:ln/>
        </p:spPr>
      </p:sp>
      <p:pic>
        <p:nvPicPr>
          <p:cNvPr id="11" name="Image 2" descr="/home/claude/deck/icons/python_cyan.png"/>
          <p:cNvPicPr>
            <a:picLocks noChangeAspect="1"/>
          </p:cNvPicPr>
          <p:nvPr/>
        </p:nvPicPr>
        <p:blipFill>
          <a:blip r:embed="rId5"/>
          <a:stretch>
            <a:fillRect/>
          </a:stretch>
        </p:blipFill>
        <p:spPr>
          <a:xfrm>
            <a:off x="2692908" y="2770632"/>
            <a:ext cx="365760" cy="365760"/>
          </a:xfrm>
          <a:prstGeom prst="rect">
            <a:avLst/>
          </a:prstGeom>
        </p:spPr>
      </p:pic>
      <p:sp>
        <p:nvSpPr>
          <p:cNvPr id="12" name="Text 7"/>
          <p:cNvSpPr/>
          <p:nvPr/>
        </p:nvSpPr>
        <p:spPr>
          <a:xfrm>
            <a:off x="2043684" y="3182112"/>
            <a:ext cx="1664208"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Python</a:t>
            </a:r>
            <a:endParaRPr lang="en-US" sz="1050" dirty="0"/>
          </a:p>
        </p:txBody>
      </p:sp>
      <p:pic>
        <p:nvPicPr>
          <p:cNvPr id="13" name="Image 3" descr="/home/claude/deck/icons/arrowRight_cyan.png"/>
          <p:cNvPicPr>
            <a:picLocks noChangeAspect="1"/>
          </p:cNvPicPr>
          <p:nvPr/>
        </p:nvPicPr>
        <p:blipFill>
          <a:blip r:embed="rId4"/>
          <a:stretch>
            <a:fillRect/>
          </a:stretch>
        </p:blipFill>
        <p:spPr>
          <a:xfrm>
            <a:off x="3598164" y="3026664"/>
            <a:ext cx="164592" cy="164592"/>
          </a:xfrm>
          <a:prstGeom prst="rect">
            <a:avLst/>
          </a:prstGeom>
        </p:spPr>
      </p:pic>
      <p:sp>
        <p:nvSpPr>
          <p:cNvPr id="14" name="Text 8"/>
          <p:cNvSpPr/>
          <p:nvPr/>
        </p:nvSpPr>
        <p:spPr>
          <a:xfrm>
            <a:off x="1997964" y="3749040"/>
            <a:ext cx="1755648" cy="822960"/>
          </a:xfrm>
          <a:prstGeom prst="rect">
            <a:avLst/>
          </a:prstGeom>
          <a:noFill/>
          <a:ln/>
        </p:spPr>
        <p:txBody>
          <a:bodyPr wrap="square" lIns="0" tIns="0" rIns="0" bIns="0" rtlCol="0" anchor="t"/>
          <a:lstStyle/>
          <a:p>
            <a:pPr marL="0" indent="0" algn="ctr">
              <a:buNone/>
            </a:pPr>
            <a:r>
              <a:rPr lang="en-US" sz="950" dirty="0">
                <a:solidFill>
                  <a:srgbClr val="94A3B8"/>
                </a:solidFill>
                <a:latin typeface="Calibri" pitchFamily="34" charset="0"/>
                <a:ea typeface="Calibri" pitchFamily="34" charset="-122"/>
                <a:cs typeface="Calibri" pitchFamily="34" charset="-120"/>
              </a:rPr>
              <a:t>Pandas &amp; NumPy cleaning, feature engineering</a:t>
            </a:r>
            <a:endParaRPr lang="en-US" sz="950" dirty="0"/>
          </a:p>
        </p:txBody>
      </p:sp>
      <p:sp>
        <p:nvSpPr>
          <p:cNvPr id="15" name="Shape 9"/>
          <p:cNvSpPr/>
          <p:nvPr/>
        </p:nvSpPr>
        <p:spPr>
          <a:xfrm>
            <a:off x="3744468" y="2651760"/>
            <a:ext cx="1481328" cy="914400"/>
          </a:xfrm>
          <a:prstGeom prst="roundRect">
            <a:avLst>
              <a:gd name="adj" fmla="val 8000"/>
            </a:avLst>
          </a:prstGeom>
          <a:solidFill>
            <a:srgbClr val="0F2A5C"/>
          </a:solidFill>
          <a:ln/>
        </p:spPr>
      </p:sp>
      <p:pic>
        <p:nvPicPr>
          <p:cNvPr id="16" name="Image 4" descr="/home/claude/deck/icons/database_cyan.png"/>
          <p:cNvPicPr>
            <a:picLocks noChangeAspect="1"/>
          </p:cNvPicPr>
          <p:nvPr/>
        </p:nvPicPr>
        <p:blipFill>
          <a:blip r:embed="rId6"/>
          <a:stretch>
            <a:fillRect/>
          </a:stretch>
        </p:blipFill>
        <p:spPr>
          <a:xfrm>
            <a:off x="4302252" y="2770632"/>
            <a:ext cx="365760" cy="365760"/>
          </a:xfrm>
          <a:prstGeom prst="rect">
            <a:avLst/>
          </a:prstGeom>
        </p:spPr>
      </p:pic>
      <p:sp>
        <p:nvSpPr>
          <p:cNvPr id="17" name="Text 10"/>
          <p:cNvSpPr/>
          <p:nvPr/>
        </p:nvSpPr>
        <p:spPr>
          <a:xfrm>
            <a:off x="3653028" y="3182112"/>
            <a:ext cx="1664208"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MySQL</a:t>
            </a:r>
            <a:endParaRPr lang="en-US" sz="1050" dirty="0"/>
          </a:p>
        </p:txBody>
      </p:sp>
      <p:pic>
        <p:nvPicPr>
          <p:cNvPr id="18" name="Image 5" descr="/home/claude/deck/icons/arrowRight_cyan.png"/>
          <p:cNvPicPr>
            <a:picLocks noChangeAspect="1"/>
          </p:cNvPicPr>
          <p:nvPr/>
        </p:nvPicPr>
        <p:blipFill>
          <a:blip r:embed="rId4"/>
          <a:stretch>
            <a:fillRect/>
          </a:stretch>
        </p:blipFill>
        <p:spPr>
          <a:xfrm>
            <a:off x="5207508" y="3026664"/>
            <a:ext cx="164592" cy="164592"/>
          </a:xfrm>
          <a:prstGeom prst="rect">
            <a:avLst/>
          </a:prstGeom>
        </p:spPr>
      </p:pic>
      <p:sp>
        <p:nvSpPr>
          <p:cNvPr id="19" name="Text 11"/>
          <p:cNvSpPr/>
          <p:nvPr/>
        </p:nvSpPr>
        <p:spPr>
          <a:xfrm>
            <a:off x="3607308" y="3749040"/>
            <a:ext cx="1755648" cy="822960"/>
          </a:xfrm>
          <a:prstGeom prst="rect">
            <a:avLst/>
          </a:prstGeom>
          <a:noFill/>
          <a:ln/>
        </p:spPr>
        <p:txBody>
          <a:bodyPr wrap="square" lIns="0" tIns="0" rIns="0" bIns="0" rtlCol="0" anchor="t"/>
          <a:lstStyle/>
          <a:p>
            <a:pPr marL="0" indent="0" algn="ctr">
              <a:buNone/>
            </a:pPr>
            <a:r>
              <a:rPr lang="en-US" sz="950" dirty="0">
                <a:solidFill>
                  <a:srgbClr val="94A3B8"/>
                </a:solidFill>
                <a:latin typeface="Calibri" pitchFamily="34" charset="0"/>
                <a:ea typeface="Calibri" pitchFamily="34" charset="-122"/>
                <a:cs typeface="Calibri" pitchFamily="34" charset="-120"/>
              </a:rPr>
              <a:t>Structured relational storage &amp; queries</a:t>
            </a:r>
            <a:endParaRPr lang="en-US" sz="950" dirty="0"/>
          </a:p>
        </p:txBody>
      </p:sp>
      <p:sp>
        <p:nvSpPr>
          <p:cNvPr id="20" name="Shape 12"/>
          <p:cNvSpPr/>
          <p:nvPr/>
        </p:nvSpPr>
        <p:spPr>
          <a:xfrm>
            <a:off x="5353812" y="2651760"/>
            <a:ext cx="1481328" cy="914400"/>
          </a:xfrm>
          <a:prstGeom prst="roundRect">
            <a:avLst>
              <a:gd name="adj" fmla="val 8000"/>
            </a:avLst>
          </a:prstGeom>
          <a:solidFill>
            <a:srgbClr val="0F2A5C"/>
          </a:solidFill>
          <a:ln/>
        </p:spPr>
      </p:sp>
      <p:pic>
        <p:nvPicPr>
          <p:cNvPr id="21" name="Image 6" descr="/home/claude/deck/icons/brain_cyan.png"/>
          <p:cNvPicPr>
            <a:picLocks noChangeAspect="1"/>
          </p:cNvPicPr>
          <p:nvPr/>
        </p:nvPicPr>
        <p:blipFill>
          <a:blip r:embed="rId7"/>
          <a:stretch>
            <a:fillRect/>
          </a:stretch>
        </p:blipFill>
        <p:spPr>
          <a:xfrm>
            <a:off x="5911596" y="2770632"/>
            <a:ext cx="365760" cy="365760"/>
          </a:xfrm>
          <a:prstGeom prst="rect">
            <a:avLst/>
          </a:prstGeom>
        </p:spPr>
      </p:pic>
      <p:sp>
        <p:nvSpPr>
          <p:cNvPr id="22" name="Text 13"/>
          <p:cNvSpPr/>
          <p:nvPr/>
        </p:nvSpPr>
        <p:spPr>
          <a:xfrm>
            <a:off x="5262372" y="3182112"/>
            <a:ext cx="1664208"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Machine Learning</a:t>
            </a:r>
            <a:endParaRPr lang="en-US" sz="1050" dirty="0"/>
          </a:p>
        </p:txBody>
      </p:sp>
      <p:pic>
        <p:nvPicPr>
          <p:cNvPr id="23" name="Image 7" descr="/home/claude/deck/icons/arrowRight_cyan.png"/>
          <p:cNvPicPr>
            <a:picLocks noChangeAspect="1"/>
          </p:cNvPicPr>
          <p:nvPr/>
        </p:nvPicPr>
        <p:blipFill>
          <a:blip r:embed="rId4"/>
          <a:stretch>
            <a:fillRect/>
          </a:stretch>
        </p:blipFill>
        <p:spPr>
          <a:xfrm>
            <a:off x="6816852" y="3026664"/>
            <a:ext cx="164592" cy="164592"/>
          </a:xfrm>
          <a:prstGeom prst="rect">
            <a:avLst/>
          </a:prstGeom>
        </p:spPr>
      </p:pic>
      <p:sp>
        <p:nvSpPr>
          <p:cNvPr id="24" name="Text 14"/>
          <p:cNvSpPr/>
          <p:nvPr/>
        </p:nvSpPr>
        <p:spPr>
          <a:xfrm>
            <a:off x="5216652" y="3749040"/>
            <a:ext cx="1755648" cy="822960"/>
          </a:xfrm>
          <a:prstGeom prst="rect">
            <a:avLst/>
          </a:prstGeom>
          <a:noFill/>
          <a:ln/>
        </p:spPr>
        <p:txBody>
          <a:bodyPr wrap="square" lIns="0" tIns="0" rIns="0" bIns="0" rtlCol="0" anchor="t"/>
          <a:lstStyle/>
          <a:p>
            <a:pPr marL="0" indent="0" algn="ctr">
              <a:buNone/>
            </a:pPr>
            <a:r>
              <a:rPr lang="en-US" sz="950" dirty="0">
                <a:solidFill>
                  <a:srgbClr val="94A3B8"/>
                </a:solidFill>
                <a:latin typeface="Calibri" pitchFamily="34" charset="0"/>
                <a:ea typeface="Calibri" pitchFamily="34" charset="-122"/>
                <a:cs typeface="Calibri" pitchFamily="34" charset="-120"/>
              </a:rPr>
              <a:t>scikit-learn regression &amp; clustering</a:t>
            </a:r>
            <a:endParaRPr lang="en-US" sz="950" dirty="0"/>
          </a:p>
        </p:txBody>
      </p:sp>
      <p:sp>
        <p:nvSpPr>
          <p:cNvPr id="25" name="Shape 15"/>
          <p:cNvSpPr/>
          <p:nvPr/>
        </p:nvSpPr>
        <p:spPr>
          <a:xfrm>
            <a:off x="6963156" y="2651760"/>
            <a:ext cx="1481328" cy="914400"/>
          </a:xfrm>
          <a:prstGeom prst="roundRect">
            <a:avLst>
              <a:gd name="adj" fmla="val 8000"/>
            </a:avLst>
          </a:prstGeom>
          <a:solidFill>
            <a:srgbClr val="0F2A5C"/>
          </a:solidFill>
          <a:ln/>
        </p:spPr>
      </p:sp>
      <p:pic>
        <p:nvPicPr>
          <p:cNvPr id="26" name="Image 8" descr="/home/claude/deck/icons/chartBar_cyan.png"/>
          <p:cNvPicPr>
            <a:picLocks noChangeAspect="1"/>
          </p:cNvPicPr>
          <p:nvPr/>
        </p:nvPicPr>
        <p:blipFill>
          <a:blip r:embed="rId8"/>
          <a:stretch>
            <a:fillRect/>
          </a:stretch>
        </p:blipFill>
        <p:spPr>
          <a:xfrm>
            <a:off x="7520940" y="2770632"/>
            <a:ext cx="365760" cy="365760"/>
          </a:xfrm>
          <a:prstGeom prst="rect">
            <a:avLst/>
          </a:prstGeom>
        </p:spPr>
      </p:pic>
      <p:sp>
        <p:nvSpPr>
          <p:cNvPr id="27" name="Text 16"/>
          <p:cNvSpPr/>
          <p:nvPr/>
        </p:nvSpPr>
        <p:spPr>
          <a:xfrm>
            <a:off x="6871716" y="3182112"/>
            <a:ext cx="1664208"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Power BI</a:t>
            </a:r>
            <a:endParaRPr lang="en-US" sz="1050" dirty="0"/>
          </a:p>
        </p:txBody>
      </p:sp>
      <p:pic>
        <p:nvPicPr>
          <p:cNvPr id="28" name="Image 9" descr="/home/claude/deck/icons/arrowRight_cyan.png"/>
          <p:cNvPicPr>
            <a:picLocks noChangeAspect="1"/>
          </p:cNvPicPr>
          <p:nvPr/>
        </p:nvPicPr>
        <p:blipFill>
          <a:blip r:embed="rId4"/>
          <a:stretch>
            <a:fillRect/>
          </a:stretch>
        </p:blipFill>
        <p:spPr>
          <a:xfrm>
            <a:off x="8426196" y="3026664"/>
            <a:ext cx="164592" cy="164592"/>
          </a:xfrm>
          <a:prstGeom prst="rect">
            <a:avLst/>
          </a:prstGeom>
        </p:spPr>
      </p:pic>
      <p:sp>
        <p:nvSpPr>
          <p:cNvPr id="29" name="Text 17"/>
          <p:cNvSpPr/>
          <p:nvPr/>
        </p:nvSpPr>
        <p:spPr>
          <a:xfrm>
            <a:off x="6825996" y="3749040"/>
            <a:ext cx="1755648" cy="822960"/>
          </a:xfrm>
          <a:prstGeom prst="rect">
            <a:avLst/>
          </a:prstGeom>
          <a:noFill/>
          <a:ln/>
        </p:spPr>
        <p:txBody>
          <a:bodyPr wrap="square" lIns="0" tIns="0" rIns="0" bIns="0" rtlCol="0" anchor="t"/>
          <a:lstStyle/>
          <a:p>
            <a:pPr marL="0" indent="0" algn="ctr">
              <a:buNone/>
            </a:pPr>
            <a:r>
              <a:rPr lang="en-US" sz="950" dirty="0">
                <a:solidFill>
                  <a:srgbClr val="94A3B8"/>
                </a:solidFill>
                <a:latin typeface="Calibri" pitchFamily="34" charset="0"/>
                <a:ea typeface="Calibri" pitchFamily="34" charset="-122"/>
                <a:cs typeface="Calibri" pitchFamily="34" charset="-120"/>
              </a:rPr>
              <a:t>Executive &amp; sales dashboards</a:t>
            </a:r>
            <a:endParaRPr lang="en-US" sz="950" dirty="0"/>
          </a:p>
        </p:txBody>
      </p:sp>
      <p:sp>
        <p:nvSpPr>
          <p:cNvPr id="30" name="Shape 18"/>
          <p:cNvSpPr/>
          <p:nvPr/>
        </p:nvSpPr>
        <p:spPr>
          <a:xfrm>
            <a:off x="8572500" y="2651760"/>
            <a:ext cx="1481328" cy="914400"/>
          </a:xfrm>
          <a:prstGeom prst="roundRect">
            <a:avLst>
              <a:gd name="adj" fmla="val 8000"/>
            </a:avLst>
          </a:prstGeom>
          <a:solidFill>
            <a:srgbClr val="0F2A5C"/>
          </a:solidFill>
          <a:ln/>
        </p:spPr>
      </p:sp>
      <p:pic>
        <p:nvPicPr>
          <p:cNvPr id="31" name="Image 10" descr="/home/claude/deck/icons/laptopCode_cyan.png"/>
          <p:cNvPicPr>
            <a:picLocks noChangeAspect="1"/>
          </p:cNvPicPr>
          <p:nvPr/>
        </p:nvPicPr>
        <p:blipFill>
          <a:blip r:embed="rId9"/>
          <a:stretch>
            <a:fillRect/>
          </a:stretch>
        </p:blipFill>
        <p:spPr>
          <a:xfrm>
            <a:off x="9130284" y="2770632"/>
            <a:ext cx="365760" cy="365760"/>
          </a:xfrm>
          <a:prstGeom prst="rect">
            <a:avLst/>
          </a:prstGeom>
        </p:spPr>
      </p:pic>
      <p:sp>
        <p:nvSpPr>
          <p:cNvPr id="32" name="Text 19"/>
          <p:cNvSpPr/>
          <p:nvPr/>
        </p:nvSpPr>
        <p:spPr>
          <a:xfrm>
            <a:off x="8481060" y="3182112"/>
            <a:ext cx="1664208"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Streamlit</a:t>
            </a:r>
            <a:endParaRPr lang="en-US" sz="1050" dirty="0"/>
          </a:p>
        </p:txBody>
      </p:sp>
      <p:pic>
        <p:nvPicPr>
          <p:cNvPr id="33" name="Image 11" descr="/home/claude/deck/icons/arrowRight_cyan.png"/>
          <p:cNvPicPr>
            <a:picLocks noChangeAspect="1"/>
          </p:cNvPicPr>
          <p:nvPr/>
        </p:nvPicPr>
        <p:blipFill>
          <a:blip r:embed="rId4"/>
          <a:stretch>
            <a:fillRect/>
          </a:stretch>
        </p:blipFill>
        <p:spPr>
          <a:xfrm>
            <a:off x="10035540" y="3026664"/>
            <a:ext cx="164592" cy="164592"/>
          </a:xfrm>
          <a:prstGeom prst="rect">
            <a:avLst/>
          </a:prstGeom>
        </p:spPr>
      </p:pic>
      <p:sp>
        <p:nvSpPr>
          <p:cNvPr id="34" name="Text 20"/>
          <p:cNvSpPr/>
          <p:nvPr/>
        </p:nvSpPr>
        <p:spPr>
          <a:xfrm>
            <a:off x="8435340" y="3749040"/>
            <a:ext cx="1755648" cy="822960"/>
          </a:xfrm>
          <a:prstGeom prst="rect">
            <a:avLst/>
          </a:prstGeom>
          <a:noFill/>
          <a:ln/>
        </p:spPr>
        <p:txBody>
          <a:bodyPr wrap="square" lIns="0" tIns="0" rIns="0" bIns="0" rtlCol="0" anchor="t"/>
          <a:lstStyle/>
          <a:p>
            <a:pPr marL="0" indent="0" algn="ctr">
              <a:buNone/>
            </a:pPr>
            <a:r>
              <a:rPr lang="en-US" sz="950" dirty="0">
                <a:solidFill>
                  <a:srgbClr val="94A3B8"/>
                </a:solidFill>
                <a:latin typeface="Calibri" pitchFamily="34" charset="0"/>
                <a:ea typeface="Calibri" pitchFamily="34" charset="-122"/>
                <a:cs typeface="Calibri" pitchFamily="34" charset="-120"/>
              </a:rPr>
              <a:t>Interactive web application</a:t>
            </a:r>
            <a:endParaRPr lang="en-US" sz="950" dirty="0"/>
          </a:p>
        </p:txBody>
      </p:sp>
      <p:sp>
        <p:nvSpPr>
          <p:cNvPr id="35" name="Shape 21"/>
          <p:cNvSpPr/>
          <p:nvPr/>
        </p:nvSpPr>
        <p:spPr>
          <a:xfrm>
            <a:off x="10181844" y="2651760"/>
            <a:ext cx="1481328" cy="914400"/>
          </a:xfrm>
          <a:prstGeom prst="roundRect">
            <a:avLst>
              <a:gd name="adj" fmla="val 8000"/>
            </a:avLst>
          </a:prstGeom>
          <a:solidFill>
            <a:srgbClr val="0F2A5C"/>
          </a:solidFill>
          <a:ln/>
        </p:spPr>
      </p:sp>
      <p:pic>
        <p:nvPicPr>
          <p:cNvPr id="36" name="Image 12" descr="/home/claude/deck/icons/cloud_cyan.png"/>
          <p:cNvPicPr>
            <a:picLocks noChangeAspect="1"/>
          </p:cNvPicPr>
          <p:nvPr/>
        </p:nvPicPr>
        <p:blipFill>
          <a:blip r:embed="rId10"/>
          <a:stretch>
            <a:fillRect/>
          </a:stretch>
        </p:blipFill>
        <p:spPr>
          <a:xfrm>
            <a:off x="10739628" y="2770632"/>
            <a:ext cx="365760" cy="365760"/>
          </a:xfrm>
          <a:prstGeom prst="rect">
            <a:avLst/>
          </a:prstGeom>
        </p:spPr>
      </p:pic>
      <p:sp>
        <p:nvSpPr>
          <p:cNvPr id="37" name="Text 22"/>
          <p:cNvSpPr/>
          <p:nvPr/>
        </p:nvSpPr>
        <p:spPr>
          <a:xfrm>
            <a:off x="10090404" y="3182112"/>
            <a:ext cx="1664208"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Deployment</a:t>
            </a:r>
            <a:endParaRPr lang="en-US" sz="1050" dirty="0"/>
          </a:p>
        </p:txBody>
      </p:sp>
      <p:sp>
        <p:nvSpPr>
          <p:cNvPr id="38" name="Text 23"/>
          <p:cNvSpPr/>
          <p:nvPr/>
        </p:nvSpPr>
        <p:spPr>
          <a:xfrm>
            <a:off x="10044684" y="3749040"/>
            <a:ext cx="1755648" cy="822960"/>
          </a:xfrm>
          <a:prstGeom prst="rect">
            <a:avLst/>
          </a:prstGeom>
          <a:noFill/>
          <a:ln/>
        </p:spPr>
        <p:txBody>
          <a:bodyPr wrap="square" lIns="0" tIns="0" rIns="0" bIns="0" rtlCol="0" anchor="t"/>
          <a:lstStyle/>
          <a:p>
            <a:pPr marL="0" indent="0" algn="ctr">
              <a:buNone/>
            </a:pPr>
            <a:r>
              <a:rPr lang="en-US" sz="950" dirty="0">
                <a:solidFill>
                  <a:srgbClr val="94A3B8"/>
                </a:solidFill>
                <a:latin typeface="Calibri" pitchFamily="34" charset="0"/>
                <a:ea typeface="Calibri" pitchFamily="34" charset="-122"/>
                <a:cs typeface="Calibri" pitchFamily="34" charset="-120"/>
              </a:rPr>
              <a:t>Cloud-hosted, shareable end product</a:t>
            </a:r>
            <a:endParaRPr lang="en-US" sz="950" dirty="0"/>
          </a:p>
        </p:txBody>
      </p:sp>
      <p:sp>
        <p:nvSpPr>
          <p:cNvPr id="39" name="Text 24"/>
          <p:cNvSpPr/>
          <p:nvPr/>
        </p:nvSpPr>
        <p:spPr>
          <a:xfrm>
            <a:off x="548640" y="5120640"/>
            <a:ext cx="11064240" cy="457200"/>
          </a:xfrm>
          <a:prstGeom prst="rect">
            <a:avLst/>
          </a:prstGeom>
          <a:noFill/>
          <a:ln/>
        </p:spPr>
        <p:txBody>
          <a:bodyPr wrap="square" lIns="0" tIns="0" rIns="0" bIns="0" rtlCol="0" anchor="ctr"/>
          <a:lstStyle/>
          <a:p>
            <a:pPr marL="0" indent="0" algn="ctr">
              <a:buNone/>
            </a:pPr>
            <a:r>
              <a:rPr lang="en-US" sz="1200" i="1" dirty="0">
                <a:solidFill>
                  <a:srgbClr val="94A3B8"/>
                </a:solidFill>
                <a:latin typeface="Calibri" pitchFamily="34" charset="0"/>
                <a:ea typeface="Calibri" pitchFamily="34" charset="-122"/>
                <a:cs typeface="Calibri" pitchFamily="34" charset="-120"/>
              </a:rPr>
              <a:t>Each stage hands off a clean artifact to the next: cleaned_sales.csv → SQL tables → sales_model.pkl / kmeans.pkl → dashboard.pbix → app.py</a:t>
            </a:r>
            <a:endParaRPr lang="en-US" sz="1200" dirty="0"/>
          </a:p>
        </p:txBody>
      </p:sp>
      <p:sp>
        <p:nvSpPr>
          <p:cNvPr id="41" name="Text 25"/>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DATASET</a:t>
            </a:r>
            <a:endParaRPr lang="en-US" sz="1200" dirty="0"/>
          </a:p>
        </p:txBody>
      </p:sp>
      <p:sp>
        <p:nvSpPr>
          <p:cNvPr id="3" name="Text 1"/>
          <p:cNvSpPr/>
          <p:nvPr/>
        </p:nvSpPr>
        <p:spPr>
          <a:xfrm>
            <a:off x="548640" y="621792"/>
            <a:ext cx="10881360" cy="7315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Dataset Overview</a:t>
            </a:r>
            <a:endParaRPr lang="en-US" sz="30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The Superstore Sales Dataset (Kaggle) — a realistic, multi-year retail transaction log</a:t>
            </a:r>
            <a:endParaRPr lang="en-US" sz="1400" dirty="0"/>
          </a:p>
        </p:txBody>
      </p:sp>
      <p:sp>
        <p:nvSpPr>
          <p:cNvPr id="5" name="Shape 3"/>
          <p:cNvSpPr/>
          <p:nvPr/>
        </p:nvSpPr>
        <p:spPr>
          <a:xfrm>
            <a:off x="548640" y="1874520"/>
            <a:ext cx="2468880" cy="960120"/>
          </a:xfrm>
          <a:prstGeom prst="roundRect">
            <a:avLst>
              <a:gd name="adj" fmla="val 7619"/>
            </a:avLst>
          </a:prstGeom>
          <a:solidFill>
            <a:srgbClr val="0A1F44"/>
          </a:solidFill>
          <a:ln/>
        </p:spPr>
      </p:sp>
      <p:sp>
        <p:nvSpPr>
          <p:cNvPr id="6" name="Text 4"/>
          <p:cNvSpPr/>
          <p:nvPr/>
        </p:nvSpPr>
        <p:spPr>
          <a:xfrm>
            <a:off x="685800" y="1965960"/>
            <a:ext cx="2194560" cy="457200"/>
          </a:xfrm>
          <a:prstGeom prst="rect">
            <a:avLst/>
          </a:prstGeom>
          <a:noFill/>
          <a:ln/>
        </p:spPr>
        <p:txBody>
          <a:bodyPr wrap="square" lIns="0" tIns="0" rIns="0" bIns="0" rtlCol="0" anchor="ctr"/>
          <a:lstStyle/>
          <a:p>
            <a:pPr marL="0" indent="0">
              <a:buNone/>
            </a:pPr>
            <a:r>
              <a:rPr lang="en-US" sz="2600" b="1" dirty="0">
                <a:solidFill>
                  <a:srgbClr val="22D3EE"/>
                </a:solidFill>
                <a:latin typeface="Cambria" pitchFamily="34" charset="0"/>
                <a:ea typeface="Cambria" pitchFamily="34" charset="-122"/>
                <a:cs typeface="Cambria" pitchFamily="34" charset="-120"/>
              </a:rPr>
              <a:t>~9,994</a:t>
            </a:r>
            <a:endParaRPr lang="en-US" sz="2600" dirty="0"/>
          </a:p>
        </p:txBody>
      </p:sp>
      <p:sp>
        <p:nvSpPr>
          <p:cNvPr id="7" name="Text 5"/>
          <p:cNvSpPr/>
          <p:nvPr/>
        </p:nvSpPr>
        <p:spPr>
          <a:xfrm>
            <a:off x="685800" y="2441448"/>
            <a:ext cx="2194560" cy="3200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Rows</a:t>
            </a:r>
            <a:endParaRPr lang="en-US" sz="1150" dirty="0"/>
          </a:p>
        </p:txBody>
      </p:sp>
      <p:sp>
        <p:nvSpPr>
          <p:cNvPr id="8" name="Shape 6"/>
          <p:cNvSpPr/>
          <p:nvPr/>
        </p:nvSpPr>
        <p:spPr>
          <a:xfrm>
            <a:off x="3200400" y="1874520"/>
            <a:ext cx="2468880" cy="960120"/>
          </a:xfrm>
          <a:prstGeom prst="roundRect">
            <a:avLst>
              <a:gd name="adj" fmla="val 7619"/>
            </a:avLst>
          </a:prstGeom>
          <a:solidFill>
            <a:srgbClr val="0A1F44"/>
          </a:solidFill>
          <a:ln/>
        </p:spPr>
      </p:sp>
      <p:sp>
        <p:nvSpPr>
          <p:cNvPr id="9" name="Text 7"/>
          <p:cNvSpPr/>
          <p:nvPr/>
        </p:nvSpPr>
        <p:spPr>
          <a:xfrm>
            <a:off x="3337560" y="1965960"/>
            <a:ext cx="2194560" cy="457200"/>
          </a:xfrm>
          <a:prstGeom prst="rect">
            <a:avLst/>
          </a:prstGeom>
          <a:noFill/>
          <a:ln/>
        </p:spPr>
        <p:txBody>
          <a:bodyPr wrap="square" lIns="0" tIns="0" rIns="0" bIns="0" rtlCol="0" anchor="ctr"/>
          <a:lstStyle/>
          <a:p>
            <a:pPr marL="0" indent="0">
              <a:buNone/>
            </a:pPr>
            <a:r>
              <a:rPr lang="en-US" sz="2600" b="1" dirty="0">
                <a:solidFill>
                  <a:srgbClr val="22D3EE"/>
                </a:solidFill>
                <a:latin typeface="Cambria" pitchFamily="34" charset="0"/>
                <a:ea typeface="Cambria" pitchFamily="34" charset="-122"/>
                <a:cs typeface="Cambria" pitchFamily="34" charset="-120"/>
              </a:rPr>
              <a:t>21</a:t>
            </a:r>
            <a:endParaRPr lang="en-US" sz="2600" dirty="0"/>
          </a:p>
        </p:txBody>
      </p:sp>
      <p:sp>
        <p:nvSpPr>
          <p:cNvPr id="10" name="Text 8"/>
          <p:cNvSpPr/>
          <p:nvPr/>
        </p:nvSpPr>
        <p:spPr>
          <a:xfrm>
            <a:off x="3337560" y="2441448"/>
            <a:ext cx="2194560" cy="3200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Columns</a:t>
            </a:r>
            <a:endParaRPr lang="en-US" sz="1150" dirty="0"/>
          </a:p>
        </p:txBody>
      </p:sp>
      <p:sp>
        <p:nvSpPr>
          <p:cNvPr id="11" name="Shape 9"/>
          <p:cNvSpPr/>
          <p:nvPr/>
        </p:nvSpPr>
        <p:spPr>
          <a:xfrm>
            <a:off x="5852160" y="1874520"/>
            <a:ext cx="2468880" cy="960120"/>
          </a:xfrm>
          <a:prstGeom prst="roundRect">
            <a:avLst>
              <a:gd name="adj" fmla="val 7619"/>
            </a:avLst>
          </a:prstGeom>
          <a:solidFill>
            <a:srgbClr val="0A1F44"/>
          </a:solidFill>
          <a:ln/>
        </p:spPr>
      </p:sp>
      <p:sp>
        <p:nvSpPr>
          <p:cNvPr id="12" name="Text 10"/>
          <p:cNvSpPr/>
          <p:nvPr/>
        </p:nvSpPr>
        <p:spPr>
          <a:xfrm>
            <a:off x="5989320" y="1965960"/>
            <a:ext cx="2194560" cy="457200"/>
          </a:xfrm>
          <a:prstGeom prst="rect">
            <a:avLst/>
          </a:prstGeom>
          <a:noFill/>
          <a:ln/>
        </p:spPr>
        <p:txBody>
          <a:bodyPr wrap="square" lIns="0" tIns="0" rIns="0" bIns="0" rtlCol="0" anchor="ctr"/>
          <a:lstStyle/>
          <a:p>
            <a:pPr marL="0" indent="0">
              <a:buNone/>
            </a:pPr>
            <a:r>
              <a:rPr lang="en-US" sz="2600" b="1" dirty="0">
                <a:solidFill>
                  <a:srgbClr val="22D3EE"/>
                </a:solidFill>
                <a:latin typeface="Cambria" pitchFamily="34" charset="0"/>
                <a:ea typeface="Cambria" pitchFamily="34" charset="-122"/>
                <a:cs typeface="Cambria" pitchFamily="34" charset="-120"/>
              </a:rPr>
              <a:t>4 yrs</a:t>
            </a:r>
            <a:endParaRPr lang="en-US" sz="2600" dirty="0"/>
          </a:p>
        </p:txBody>
      </p:sp>
      <p:sp>
        <p:nvSpPr>
          <p:cNvPr id="13" name="Text 11"/>
          <p:cNvSpPr/>
          <p:nvPr/>
        </p:nvSpPr>
        <p:spPr>
          <a:xfrm>
            <a:off x="5989320" y="2441448"/>
            <a:ext cx="2194560" cy="3200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Date Range</a:t>
            </a:r>
            <a:endParaRPr lang="en-US" sz="1150" dirty="0"/>
          </a:p>
        </p:txBody>
      </p:sp>
      <p:sp>
        <p:nvSpPr>
          <p:cNvPr id="14" name="Shape 12"/>
          <p:cNvSpPr/>
          <p:nvPr/>
        </p:nvSpPr>
        <p:spPr>
          <a:xfrm>
            <a:off x="8503920" y="1874520"/>
            <a:ext cx="2468880" cy="960120"/>
          </a:xfrm>
          <a:prstGeom prst="roundRect">
            <a:avLst>
              <a:gd name="adj" fmla="val 7619"/>
            </a:avLst>
          </a:prstGeom>
          <a:solidFill>
            <a:srgbClr val="0A1F44"/>
          </a:solidFill>
          <a:ln/>
        </p:spPr>
      </p:sp>
      <p:sp>
        <p:nvSpPr>
          <p:cNvPr id="15" name="Text 13"/>
          <p:cNvSpPr/>
          <p:nvPr/>
        </p:nvSpPr>
        <p:spPr>
          <a:xfrm>
            <a:off x="8641080" y="1965960"/>
            <a:ext cx="2194560" cy="457200"/>
          </a:xfrm>
          <a:prstGeom prst="rect">
            <a:avLst/>
          </a:prstGeom>
          <a:noFill/>
          <a:ln/>
        </p:spPr>
        <p:txBody>
          <a:bodyPr wrap="square" lIns="0" tIns="0" rIns="0" bIns="0" rtlCol="0" anchor="ctr"/>
          <a:lstStyle/>
          <a:p>
            <a:pPr marL="0" indent="0">
              <a:buNone/>
            </a:pPr>
            <a:r>
              <a:rPr lang="en-US" sz="2600" b="1" dirty="0">
                <a:solidFill>
                  <a:srgbClr val="22D3EE"/>
                </a:solidFill>
                <a:latin typeface="Cambria" pitchFamily="34" charset="0"/>
                <a:ea typeface="Cambria" pitchFamily="34" charset="-122"/>
                <a:cs typeface="Cambria" pitchFamily="34" charset="-120"/>
              </a:rPr>
              <a:t>3</a:t>
            </a:r>
            <a:endParaRPr lang="en-US" sz="2600" dirty="0"/>
          </a:p>
        </p:txBody>
      </p:sp>
      <p:sp>
        <p:nvSpPr>
          <p:cNvPr id="16" name="Text 14"/>
          <p:cNvSpPr/>
          <p:nvPr/>
        </p:nvSpPr>
        <p:spPr>
          <a:xfrm>
            <a:off x="8641080" y="2441448"/>
            <a:ext cx="2194560" cy="3200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Regions Covered</a:t>
            </a:r>
            <a:endParaRPr lang="en-US" sz="1150" dirty="0"/>
          </a:p>
        </p:txBody>
      </p:sp>
      <p:sp>
        <p:nvSpPr>
          <p:cNvPr id="17" name="Text 15"/>
          <p:cNvSpPr/>
          <p:nvPr/>
        </p:nvSpPr>
        <p:spPr>
          <a:xfrm>
            <a:off x="548640" y="3063240"/>
            <a:ext cx="457200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Sample Fields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5760720" cy="2743202"/>
        </p:xfrm>
        <a:graphic>
          <a:graphicData uri="http://schemas.openxmlformats.org/drawingml/2006/table">
            <a:tbl>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9188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Field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F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F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Example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39188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Order Date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2024-03-14</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9188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Customer Name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Text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 Sharma</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9188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Category</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Text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Furniture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9188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Sales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Numeric</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1,024.60</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9188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Profit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Numeric</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112.35</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9188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Region</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Text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West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Shape 16"/>
          <p:cNvSpPr/>
          <p:nvPr/>
        </p:nvSpPr>
        <p:spPr>
          <a:xfrm>
            <a:off x="6675120" y="3063240"/>
            <a:ext cx="4937760" cy="3108960"/>
          </a:xfrm>
          <a:prstGeom prst="roundRect">
            <a:avLst>
              <a:gd name="adj" fmla="val 2647"/>
            </a:avLst>
          </a:prstGeom>
          <a:solidFill>
            <a:srgbClr val="F1F5F9"/>
          </a:solidFill>
          <a:ln/>
        </p:spPr>
      </p:sp>
      <p:sp>
        <p:nvSpPr>
          <p:cNvPr id="20" name="Text 17"/>
          <p:cNvSpPr/>
          <p:nvPr/>
        </p:nvSpPr>
        <p:spPr>
          <a:xfrm>
            <a:off x="6903720" y="3246120"/>
            <a:ext cx="448056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Data Quality Observations</a:t>
            </a:r>
            <a:endParaRPr lang="en-US" sz="1300" dirty="0"/>
          </a:p>
        </p:txBody>
      </p:sp>
      <p:pic>
        <p:nvPicPr>
          <p:cNvPr id="21" name="Image 0" descr="/home/claude/deck/icons/search_navy.png"/>
          <p:cNvPicPr>
            <a:picLocks noChangeAspect="1"/>
          </p:cNvPicPr>
          <p:nvPr/>
        </p:nvPicPr>
        <p:blipFill>
          <a:blip r:embed="rId3"/>
          <a:stretch>
            <a:fillRect/>
          </a:stretch>
        </p:blipFill>
        <p:spPr>
          <a:xfrm>
            <a:off x="6903720" y="3685032"/>
            <a:ext cx="164592" cy="164592"/>
          </a:xfrm>
          <a:prstGeom prst="rect">
            <a:avLst/>
          </a:prstGeom>
        </p:spPr>
      </p:pic>
      <p:sp>
        <p:nvSpPr>
          <p:cNvPr id="22" name="Text 18"/>
          <p:cNvSpPr/>
          <p:nvPr/>
        </p:nvSpPr>
        <p:spPr>
          <a:xfrm>
            <a:off x="7178040" y="3602736"/>
            <a:ext cx="4343400" cy="4572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A handful of missing Postal Code values in a few states</a:t>
            </a:r>
            <a:endParaRPr lang="en-US" sz="1100" dirty="0"/>
          </a:p>
        </p:txBody>
      </p:sp>
      <p:pic>
        <p:nvPicPr>
          <p:cNvPr id="23" name="Image 1" descr="/home/claude/deck/icons/search_navy.png"/>
          <p:cNvPicPr>
            <a:picLocks noChangeAspect="1"/>
          </p:cNvPicPr>
          <p:nvPr/>
        </p:nvPicPr>
        <p:blipFill>
          <a:blip r:embed="rId3"/>
          <a:stretch>
            <a:fillRect/>
          </a:stretch>
        </p:blipFill>
        <p:spPr>
          <a:xfrm>
            <a:off x="6903720" y="4160520"/>
            <a:ext cx="164592" cy="164592"/>
          </a:xfrm>
          <a:prstGeom prst="rect">
            <a:avLst/>
          </a:prstGeom>
        </p:spPr>
      </p:pic>
      <p:sp>
        <p:nvSpPr>
          <p:cNvPr id="24" name="Text 19"/>
          <p:cNvSpPr/>
          <p:nvPr/>
        </p:nvSpPr>
        <p:spPr>
          <a:xfrm>
            <a:off x="7178040" y="4078224"/>
            <a:ext cx="4343400" cy="4572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Mixed date formats across Order Date / Ship Date</a:t>
            </a:r>
            <a:endParaRPr lang="en-US" sz="1100" dirty="0"/>
          </a:p>
        </p:txBody>
      </p:sp>
      <p:pic>
        <p:nvPicPr>
          <p:cNvPr id="25" name="Image 2" descr="/home/claude/deck/icons/search_navy.png"/>
          <p:cNvPicPr>
            <a:picLocks noChangeAspect="1"/>
          </p:cNvPicPr>
          <p:nvPr/>
        </p:nvPicPr>
        <p:blipFill>
          <a:blip r:embed="rId3"/>
          <a:stretch>
            <a:fillRect/>
          </a:stretch>
        </p:blipFill>
        <p:spPr>
          <a:xfrm>
            <a:off x="6903720" y="4636008"/>
            <a:ext cx="164592" cy="164592"/>
          </a:xfrm>
          <a:prstGeom prst="rect">
            <a:avLst/>
          </a:prstGeom>
        </p:spPr>
      </p:pic>
      <p:sp>
        <p:nvSpPr>
          <p:cNvPr id="26" name="Text 20"/>
          <p:cNvSpPr/>
          <p:nvPr/>
        </p:nvSpPr>
        <p:spPr>
          <a:xfrm>
            <a:off x="7178040" y="4553712"/>
            <a:ext cx="4343400" cy="4572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Occasional duplicate order line entries</a:t>
            </a:r>
            <a:endParaRPr lang="en-US" sz="1100" dirty="0"/>
          </a:p>
        </p:txBody>
      </p:sp>
      <p:pic>
        <p:nvPicPr>
          <p:cNvPr id="27" name="Image 3" descr="/home/claude/deck/icons/search_navy.png"/>
          <p:cNvPicPr>
            <a:picLocks noChangeAspect="1"/>
          </p:cNvPicPr>
          <p:nvPr/>
        </p:nvPicPr>
        <p:blipFill>
          <a:blip r:embed="rId3"/>
          <a:stretch>
            <a:fillRect/>
          </a:stretch>
        </p:blipFill>
        <p:spPr>
          <a:xfrm>
            <a:off x="6903720" y="5111496"/>
            <a:ext cx="164592" cy="164592"/>
          </a:xfrm>
          <a:prstGeom prst="rect">
            <a:avLst/>
          </a:prstGeom>
        </p:spPr>
      </p:pic>
      <p:sp>
        <p:nvSpPr>
          <p:cNvPr id="28" name="Text 21"/>
          <p:cNvSpPr/>
          <p:nvPr/>
        </p:nvSpPr>
        <p:spPr>
          <a:xfrm>
            <a:off x="7178040" y="5029200"/>
            <a:ext cx="4343400" cy="4572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Outlier orders with unusually high discount or negative profit</a:t>
            </a:r>
            <a:endParaRPr lang="en-US" sz="1100" dirty="0"/>
          </a:p>
        </p:txBody>
      </p:sp>
      <p:pic>
        <p:nvPicPr>
          <p:cNvPr id="29" name="Image 4" descr="/home/claude/deck/icons/search_navy.png"/>
          <p:cNvPicPr>
            <a:picLocks noChangeAspect="1"/>
          </p:cNvPicPr>
          <p:nvPr/>
        </p:nvPicPr>
        <p:blipFill>
          <a:blip r:embed="rId3"/>
          <a:stretch>
            <a:fillRect/>
          </a:stretch>
        </p:blipFill>
        <p:spPr>
          <a:xfrm>
            <a:off x="6903720" y="5586984"/>
            <a:ext cx="164592" cy="164592"/>
          </a:xfrm>
          <a:prstGeom prst="rect">
            <a:avLst/>
          </a:prstGeom>
        </p:spPr>
      </p:pic>
      <p:sp>
        <p:nvSpPr>
          <p:cNvPr id="30" name="Text 22"/>
          <p:cNvSpPr/>
          <p:nvPr/>
        </p:nvSpPr>
        <p:spPr>
          <a:xfrm>
            <a:off x="7178040" y="5504688"/>
            <a:ext cx="4343400" cy="4572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Categorical fields consistent and low-cardinality — ideal for segmentation</a:t>
            </a:r>
            <a:endParaRPr lang="en-US" sz="1100" dirty="0"/>
          </a:p>
        </p:txBody>
      </p:sp>
      <p:sp>
        <p:nvSpPr>
          <p:cNvPr id="32" name="Text 23"/>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F44"/>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WORKFLOW</a:t>
            </a:r>
            <a:endParaRPr lang="en-US" sz="1200" dirty="0"/>
          </a:p>
        </p:txBody>
      </p:sp>
      <p:sp>
        <p:nvSpPr>
          <p:cNvPr id="3" name="Text 1"/>
          <p:cNvSpPr/>
          <p:nvPr/>
        </p:nvSpPr>
        <p:spPr>
          <a:xfrm>
            <a:off x="548640" y="621792"/>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End-to-End Project Architecture</a:t>
            </a:r>
            <a:endParaRPr lang="en-US" sz="3200" dirty="0"/>
          </a:p>
        </p:txBody>
      </p:sp>
      <p:sp>
        <p:nvSpPr>
          <p:cNvPr id="4" name="Text 2"/>
          <p:cNvSpPr/>
          <p:nvPr/>
        </p:nvSpPr>
        <p:spPr>
          <a:xfrm>
            <a:off x="548640" y="1234440"/>
            <a:ext cx="10515600" cy="45720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The complete pipeline from raw dataset to deployed application</a:t>
            </a:r>
            <a:endParaRPr lang="en-US" sz="1500" dirty="0"/>
          </a:p>
        </p:txBody>
      </p:sp>
      <p:sp>
        <p:nvSpPr>
          <p:cNvPr id="5" name="Shape 3"/>
          <p:cNvSpPr/>
          <p:nvPr/>
        </p:nvSpPr>
        <p:spPr>
          <a:xfrm>
            <a:off x="905256" y="1920240"/>
            <a:ext cx="1965960" cy="1371600"/>
          </a:xfrm>
          <a:prstGeom prst="roundRect">
            <a:avLst>
              <a:gd name="adj" fmla="val 5333"/>
            </a:avLst>
          </a:prstGeom>
          <a:solidFill>
            <a:srgbClr val="0F2A5C"/>
          </a:solidFill>
          <a:ln/>
        </p:spPr>
      </p:sp>
      <p:sp>
        <p:nvSpPr>
          <p:cNvPr id="6" name="Shape 4"/>
          <p:cNvSpPr/>
          <p:nvPr/>
        </p:nvSpPr>
        <p:spPr>
          <a:xfrm>
            <a:off x="1632204" y="2084832"/>
            <a:ext cx="512064" cy="512064"/>
          </a:xfrm>
          <a:prstGeom prst="ellipse">
            <a:avLst/>
          </a:prstGeom>
          <a:solidFill>
            <a:srgbClr val="0F3460"/>
          </a:solidFill>
          <a:ln/>
        </p:spPr>
      </p:sp>
      <p:pic>
        <p:nvPicPr>
          <p:cNvPr id="7" name="Image 0" descr="/home/claude/deck/icons/database_cyan.png"/>
          <p:cNvPicPr>
            <a:picLocks noChangeAspect="1"/>
          </p:cNvPicPr>
          <p:nvPr/>
        </p:nvPicPr>
        <p:blipFill>
          <a:blip r:embed="rId3"/>
          <a:stretch>
            <a:fillRect/>
          </a:stretch>
        </p:blipFill>
        <p:spPr>
          <a:xfrm>
            <a:off x="1741932" y="2194560"/>
            <a:ext cx="292608" cy="292608"/>
          </a:xfrm>
          <a:prstGeom prst="rect">
            <a:avLst/>
          </a:prstGeom>
        </p:spPr>
      </p:pic>
      <p:sp>
        <p:nvSpPr>
          <p:cNvPr id="8" name="Text 5"/>
          <p:cNvSpPr/>
          <p:nvPr/>
        </p:nvSpPr>
        <p:spPr>
          <a:xfrm>
            <a:off x="905256" y="2697480"/>
            <a:ext cx="19659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 Dataset</a:t>
            </a:r>
            <a:endParaRPr lang="en-US" sz="1150" dirty="0"/>
          </a:p>
        </p:txBody>
      </p:sp>
      <p:pic>
        <p:nvPicPr>
          <p:cNvPr id="9" name="Image 1" descr="/home/claude/deck/icons/arrowRight_cyan.png"/>
          <p:cNvPicPr>
            <a:picLocks noChangeAspect="1"/>
          </p:cNvPicPr>
          <p:nvPr/>
        </p:nvPicPr>
        <p:blipFill>
          <a:blip r:embed="rId4"/>
          <a:stretch>
            <a:fillRect/>
          </a:stretch>
        </p:blipFill>
        <p:spPr>
          <a:xfrm>
            <a:off x="2857500" y="2523744"/>
            <a:ext cx="164592" cy="164592"/>
          </a:xfrm>
          <a:prstGeom prst="rect">
            <a:avLst/>
          </a:prstGeom>
        </p:spPr>
      </p:pic>
      <p:sp>
        <p:nvSpPr>
          <p:cNvPr id="10" name="Shape 6"/>
          <p:cNvSpPr/>
          <p:nvPr/>
        </p:nvSpPr>
        <p:spPr>
          <a:xfrm>
            <a:off x="3008376" y="1920240"/>
            <a:ext cx="1965960" cy="1371600"/>
          </a:xfrm>
          <a:prstGeom prst="roundRect">
            <a:avLst>
              <a:gd name="adj" fmla="val 5333"/>
            </a:avLst>
          </a:prstGeom>
          <a:solidFill>
            <a:srgbClr val="0F2A5C"/>
          </a:solidFill>
          <a:ln/>
        </p:spPr>
      </p:sp>
      <p:sp>
        <p:nvSpPr>
          <p:cNvPr id="11" name="Shape 7"/>
          <p:cNvSpPr/>
          <p:nvPr/>
        </p:nvSpPr>
        <p:spPr>
          <a:xfrm>
            <a:off x="3735324" y="2084832"/>
            <a:ext cx="512064" cy="512064"/>
          </a:xfrm>
          <a:prstGeom prst="ellipse">
            <a:avLst/>
          </a:prstGeom>
          <a:solidFill>
            <a:srgbClr val="0F3460"/>
          </a:solidFill>
          <a:ln/>
        </p:spPr>
      </p:sp>
      <p:pic>
        <p:nvPicPr>
          <p:cNvPr id="12" name="Image 2" descr="/home/claude/deck/icons/search_cyan.png"/>
          <p:cNvPicPr>
            <a:picLocks noChangeAspect="1"/>
          </p:cNvPicPr>
          <p:nvPr/>
        </p:nvPicPr>
        <p:blipFill>
          <a:blip r:embed="rId5"/>
          <a:stretch>
            <a:fillRect/>
          </a:stretch>
        </p:blipFill>
        <p:spPr>
          <a:xfrm>
            <a:off x="3845052" y="2194560"/>
            <a:ext cx="292608" cy="292608"/>
          </a:xfrm>
          <a:prstGeom prst="rect">
            <a:avLst/>
          </a:prstGeom>
        </p:spPr>
      </p:pic>
      <p:sp>
        <p:nvSpPr>
          <p:cNvPr id="13" name="Text 8"/>
          <p:cNvSpPr/>
          <p:nvPr/>
        </p:nvSpPr>
        <p:spPr>
          <a:xfrm>
            <a:off x="3008376" y="2697480"/>
            <a:ext cx="19659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2. Understanding</a:t>
            </a:r>
            <a:endParaRPr lang="en-US" sz="1150" dirty="0"/>
          </a:p>
        </p:txBody>
      </p:sp>
      <p:pic>
        <p:nvPicPr>
          <p:cNvPr id="14" name="Image 3" descr="/home/claude/deck/icons/arrowRight_cyan.png"/>
          <p:cNvPicPr>
            <a:picLocks noChangeAspect="1"/>
          </p:cNvPicPr>
          <p:nvPr/>
        </p:nvPicPr>
        <p:blipFill>
          <a:blip r:embed="rId4"/>
          <a:stretch>
            <a:fillRect/>
          </a:stretch>
        </p:blipFill>
        <p:spPr>
          <a:xfrm>
            <a:off x="4960620" y="2523744"/>
            <a:ext cx="164592" cy="164592"/>
          </a:xfrm>
          <a:prstGeom prst="rect">
            <a:avLst/>
          </a:prstGeom>
        </p:spPr>
      </p:pic>
      <p:sp>
        <p:nvSpPr>
          <p:cNvPr id="15" name="Shape 9"/>
          <p:cNvSpPr/>
          <p:nvPr/>
        </p:nvSpPr>
        <p:spPr>
          <a:xfrm>
            <a:off x="5111496" y="1920240"/>
            <a:ext cx="1965960" cy="1371600"/>
          </a:xfrm>
          <a:prstGeom prst="roundRect">
            <a:avLst>
              <a:gd name="adj" fmla="val 5333"/>
            </a:avLst>
          </a:prstGeom>
          <a:solidFill>
            <a:srgbClr val="0F2A5C"/>
          </a:solidFill>
          <a:ln/>
        </p:spPr>
      </p:sp>
      <p:sp>
        <p:nvSpPr>
          <p:cNvPr id="16" name="Shape 10"/>
          <p:cNvSpPr/>
          <p:nvPr/>
        </p:nvSpPr>
        <p:spPr>
          <a:xfrm>
            <a:off x="5838444" y="2084832"/>
            <a:ext cx="512064" cy="512064"/>
          </a:xfrm>
          <a:prstGeom prst="ellipse">
            <a:avLst/>
          </a:prstGeom>
          <a:solidFill>
            <a:srgbClr val="0F3460"/>
          </a:solidFill>
          <a:ln/>
        </p:spPr>
      </p:sp>
      <p:pic>
        <p:nvPicPr>
          <p:cNvPr id="17" name="Image 4" descr="/home/claude/deck/icons/broom_cyan.png"/>
          <p:cNvPicPr>
            <a:picLocks noChangeAspect="1"/>
          </p:cNvPicPr>
          <p:nvPr/>
        </p:nvPicPr>
        <p:blipFill>
          <a:blip r:embed="rId6"/>
          <a:stretch>
            <a:fillRect/>
          </a:stretch>
        </p:blipFill>
        <p:spPr>
          <a:xfrm>
            <a:off x="5948172" y="2194560"/>
            <a:ext cx="292608" cy="292608"/>
          </a:xfrm>
          <a:prstGeom prst="rect">
            <a:avLst/>
          </a:prstGeom>
        </p:spPr>
      </p:pic>
      <p:sp>
        <p:nvSpPr>
          <p:cNvPr id="18" name="Text 11"/>
          <p:cNvSpPr/>
          <p:nvPr/>
        </p:nvSpPr>
        <p:spPr>
          <a:xfrm>
            <a:off x="5111496" y="2697480"/>
            <a:ext cx="19659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3. Cleaning</a:t>
            </a:r>
            <a:endParaRPr lang="en-US" sz="1150" dirty="0"/>
          </a:p>
        </p:txBody>
      </p:sp>
      <p:pic>
        <p:nvPicPr>
          <p:cNvPr id="19" name="Image 5" descr="/home/claude/deck/icons/arrowRight_cyan.png"/>
          <p:cNvPicPr>
            <a:picLocks noChangeAspect="1"/>
          </p:cNvPicPr>
          <p:nvPr/>
        </p:nvPicPr>
        <p:blipFill>
          <a:blip r:embed="rId4"/>
          <a:stretch>
            <a:fillRect/>
          </a:stretch>
        </p:blipFill>
        <p:spPr>
          <a:xfrm>
            <a:off x="7063740" y="2523744"/>
            <a:ext cx="164592" cy="164592"/>
          </a:xfrm>
          <a:prstGeom prst="rect">
            <a:avLst/>
          </a:prstGeom>
        </p:spPr>
      </p:pic>
      <p:sp>
        <p:nvSpPr>
          <p:cNvPr id="20" name="Shape 12"/>
          <p:cNvSpPr/>
          <p:nvPr/>
        </p:nvSpPr>
        <p:spPr>
          <a:xfrm>
            <a:off x="7214616" y="1920240"/>
            <a:ext cx="1965960" cy="1371600"/>
          </a:xfrm>
          <a:prstGeom prst="roundRect">
            <a:avLst>
              <a:gd name="adj" fmla="val 5333"/>
            </a:avLst>
          </a:prstGeom>
          <a:solidFill>
            <a:srgbClr val="0F2A5C"/>
          </a:solidFill>
          <a:ln/>
        </p:spPr>
      </p:sp>
      <p:sp>
        <p:nvSpPr>
          <p:cNvPr id="21" name="Shape 13"/>
          <p:cNvSpPr/>
          <p:nvPr/>
        </p:nvSpPr>
        <p:spPr>
          <a:xfrm>
            <a:off x="7941564" y="2084832"/>
            <a:ext cx="512064" cy="512064"/>
          </a:xfrm>
          <a:prstGeom prst="ellipse">
            <a:avLst/>
          </a:prstGeom>
          <a:solidFill>
            <a:srgbClr val="0F3460"/>
          </a:solidFill>
          <a:ln/>
        </p:spPr>
      </p:sp>
      <p:pic>
        <p:nvPicPr>
          <p:cNvPr id="22" name="Image 6" descr="/home/claude/deck/icons/cogs_cyan.png"/>
          <p:cNvPicPr>
            <a:picLocks noChangeAspect="1"/>
          </p:cNvPicPr>
          <p:nvPr/>
        </p:nvPicPr>
        <p:blipFill>
          <a:blip r:embed="rId7"/>
          <a:stretch>
            <a:fillRect/>
          </a:stretch>
        </p:blipFill>
        <p:spPr>
          <a:xfrm>
            <a:off x="8051292" y="2194560"/>
            <a:ext cx="292608" cy="292608"/>
          </a:xfrm>
          <a:prstGeom prst="rect">
            <a:avLst/>
          </a:prstGeom>
        </p:spPr>
      </p:pic>
      <p:sp>
        <p:nvSpPr>
          <p:cNvPr id="23" name="Text 14"/>
          <p:cNvSpPr/>
          <p:nvPr/>
        </p:nvSpPr>
        <p:spPr>
          <a:xfrm>
            <a:off x="7214616" y="2697480"/>
            <a:ext cx="19659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4. Feature Eng.</a:t>
            </a:r>
            <a:endParaRPr lang="en-US" sz="1150" dirty="0"/>
          </a:p>
        </p:txBody>
      </p:sp>
      <p:pic>
        <p:nvPicPr>
          <p:cNvPr id="24" name="Image 7" descr="/home/claude/deck/icons/arrowRight_cyan.png"/>
          <p:cNvPicPr>
            <a:picLocks noChangeAspect="1"/>
          </p:cNvPicPr>
          <p:nvPr/>
        </p:nvPicPr>
        <p:blipFill>
          <a:blip r:embed="rId4"/>
          <a:stretch>
            <a:fillRect/>
          </a:stretch>
        </p:blipFill>
        <p:spPr>
          <a:xfrm>
            <a:off x="9166860" y="2523744"/>
            <a:ext cx="164592" cy="164592"/>
          </a:xfrm>
          <a:prstGeom prst="rect">
            <a:avLst/>
          </a:prstGeom>
        </p:spPr>
      </p:pic>
      <p:sp>
        <p:nvSpPr>
          <p:cNvPr id="25" name="Shape 15"/>
          <p:cNvSpPr/>
          <p:nvPr/>
        </p:nvSpPr>
        <p:spPr>
          <a:xfrm>
            <a:off x="9317736" y="1920240"/>
            <a:ext cx="1965960" cy="1371600"/>
          </a:xfrm>
          <a:prstGeom prst="roundRect">
            <a:avLst>
              <a:gd name="adj" fmla="val 5333"/>
            </a:avLst>
          </a:prstGeom>
          <a:solidFill>
            <a:srgbClr val="0F2A5C"/>
          </a:solidFill>
          <a:ln/>
        </p:spPr>
      </p:sp>
      <p:sp>
        <p:nvSpPr>
          <p:cNvPr id="26" name="Shape 16"/>
          <p:cNvSpPr/>
          <p:nvPr/>
        </p:nvSpPr>
        <p:spPr>
          <a:xfrm>
            <a:off x="10044684" y="2084832"/>
            <a:ext cx="512064" cy="512064"/>
          </a:xfrm>
          <a:prstGeom prst="ellipse">
            <a:avLst/>
          </a:prstGeom>
          <a:solidFill>
            <a:srgbClr val="0F3460"/>
          </a:solidFill>
          <a:ln/>
        </p:spPr>
      </p:sp>
      <p:pic>
        <p:nvPicPr>
          <p:cNvPr id="27" name="Image 8" descr="/home/claude/deck/icons/chartArea_cyan.png"/>
          <p:cNvPicPr>
            <a:picLocks noChangeAspect="1"/>
          </p:cNvPicPr>
          <p:nvPr/>
        </p:nvPicPr>
        <p:blipFill>
          <a:blip r:embed="rId8"/>
          <a:stretch>
            <a:fillRect/>
          </a:stretch>
        </p:blipFill>
        <p:spPr>
          <a:xfrm>
            <a:off x="10154412" y="2194560"/>
            <a:ext cx="292608" cy="292608"/>
          </a:xfrm>
          <a:prstGeom prst="rect">
            <a:avLst/>
          </a:prstGeom>
        </p:spPr>
      </p:pic>
      <p:sp>
        <p:nvSpPr>
          <p:cNvPr id="28" name="Text 17"/>
          <p:cNvSpPr/>
          <p:nvPr/>
        </p:nvSpPr>
        <p:spPr>
          <a:xfrm>
            <a:off x="9317736" y="2697480"/>
            <a:ext cx="19659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5. EDA</a:t>
            </a:r>
            <a:endParaRPr lang="en-US" sz="1150" dirty="0"/>
          </a:p>
        </p:txBody>
      </p:sp>
      <p:sp>
        <p:nvSpPr>
          <p:cNvPr id="29" name="Shape 18"/>
          <p:cNvSpPr/>
          <p:nvPr/>
        </p:nvSpPr>
        <p:spPr>
          <a:xfrm>
            <a:off x="10300716" y="3291840"/>
            <a:ext cx="0" cy="502920"/>
          </a:xfrm>
          <a:prstGeom prst="line">
            <a:avLst/>
          </a:prstGeom>
          <a:noFill/>
          <a:ln w="19050">
            <a:solidFill>
              <a:srgbClr val="22D3EE"/>
            </a:solidFill>
            <a:prstDash val="dash"/>
          </a:ln>
        </p:spPr>
      </p:sp>
      <p:sp>
        <p:nvSpPr>
          <p:cNvPr id="30" name="Shape 19"/>
          <p:cNvSpPr/>
          <p:nvPr/>
        </p:nvSpPr>
        <p:spPr>
          <a:xfrm>
            <a:off x="905256" y="3794760"/>
            <a:ext cx="1965960" cy="1371600"/>
          </a:xfrm>
          <a:prstGeom prst="roundRect">
            <a:avLst>
              <a:gd name="adj" fmla="val 5333"/>
            </a:avLst>
          </a:prstGeom>
          <a:solidFill>
            <a:srgbClr val="0F2A5C"/>
          </a:solidFill>
          <a:ln/>
        </p:spPr>
      </p:sp>
      <p:sp>
        <p:nvSpPr>
          <p:cNvPr id="31" name="Shape 20"/>
          <p:cNvSpPr/>
          <p:nvPr/>
        </p:nvSpPr>
        <p:spPr>
          <a:xfrm>
            <a:off x="1632204" y="3959352"/>
            <a:ext cx="512064" cy="512064"/>
          </a:xfrm>
          <a:prstGeom prst="ellipse">
            <a:avLst/>
          </a:prstGeom>
          <a:solidFill>
            <a:srgbClr val="0F3460"/>
          </a:solidFill>
          <a:ln/>
        </p:spPr>
      </p:sp>
      <p:pic>
        <p:nvPicPr>
          <p:cNvPr id="32" name="Image 9" descr="/home/claude/deck/icons/server_cyan.png"/>
          <p:cNvPicPr>
            <a:picLocks noChangeAspect="1"/>
          </p:cNvPicPr>
          <p:nvPr/>
        </p:nvPicPr>
        <p:blipFill>
          <a:blip r:embed="rId9"/>
          <a:stretch>
            <a:fillRect/>
          </a:stretch>
        </p:blipFill>
        <p:spPr>
          <a:xfrm>
            <a:off x="1741932" y="4069080"/>
            <a:ext cx="292608" cy="292608"/>
          </a:xfrm>
          <a:prstGeom prst="rect">
            <a:avLst/>
          </a:prstGeom>
        </p:spPr>
      </p:pic>
      <p:sp>
        <p:nvSpPr>
          <p:cNvPr id="33" name="Text 21"/>
          <p:cNvSpPr/>
          <p:nvPr/>
        </p:nvSpPr>
        <p:spPr>
          <a:xfrm>
            <a:off x="905256" y="4572000"/>
            <a:ext cx="19659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6. SQL Store</a:t>
            </a:r>
            <a:endParaRPr lang="en-US" sz="1150" dirty="0"/>
          </a:p>
        </p:txBody>
      </p:sp>
      <p:pic>
        <p:nvPicPr>
          <p:cNvPr id="34" name="Image 10" descr="/home/claude/deck/icons/arrowRight_cyan.png"/>
          <p:cNvPicPr>
            <a:picLocks noChangeAspect="1"/>
          </p:cNvPicPr>
          <p:nvPr/>
        </p:nvPicPr>
        <p:blipFill>
          <a:blip r:embed="rId4"/>
          <a:stretch>
            <a:fillRect/>
          </a:stretch>
        </p:blipFill>
        <p:spPr>
          <a:xfrm>
            <a:off x="2857500" y="4398264"/>
            <a:ext cx="164592" cy="164592"/>
          </a:xfrm>
          <a:prstGeom prst="rect">
            <a:avLst/>
          </a:prstGeom>
        </p:spPr>
      </p:pic>
      <p:sp>
        <p:nvSpPr>
          <p:cNvPr id="35" name="Shape 22"/>
          <p:cNvSpPr/>
          <p:nvPr/>
        </p:nvSpPr>
        <p:spPr>
          <a:xfrm>
            <a:off x="3008376" y="3794760"/>
            <a:ext cx="1965960" cy="1371600"/>
          </a:xfrm>
          <a:prstGeom prst="roundRect">
            <a:avLst>
              <a:gd name="adj" fmla="val 5333"/>
            </a:avLst>
          </a:prstGeom>
          <a:solidFill>
            <a:srgbClr val="0F2A5C"/>
          </a:solidFill>
          <a:ln/>
        </p:spPr>
      </p:sp>
      <p:sp>
        <p:nvSpPr>
          <p:cNvPr id="36" name="Shape 23"/>
          <p:cNvSpPr/>
          <p:nvPr/>
        </p:nvSpPr>
        <p:spPr>
          <a:xfrm>
            <a:off x="3735324" y="3959352"/>
            <a:ext cx="512064" cy="512064"/>
          </a:xfrm>
          <a:prstGeom prst="ellipse">
            <a:avLst/>
          </a:prstGeom>
          <a:solidFill>
            <a:srgbClr val="0F3460"/>
          </a:solidFill>
          <a:ln/>
        </p:spPr>
      </p:sp>
      <p:pic>
        <p:nvPicPr>
          <p:cNvPr id="37" name="Image 11" descr="/home/claude/deck/icons/brain_cyan.png"/>
          <p:cNvPicPr>
            <a:picLocks noChangeAspect="1"/>
          </p:cNvPicPr>
          <p:nvPr/>
        </p:nvPicPr>
        <p:blipFill>
          <a:blip r:embed="rId10"/>
          <a:stretch>
            <a:fillRect/>
          </a:stretch>
        </p:blipFill>
        <p:spPr>
          <a:xfrm>
            <a:off x="3845052" y="4069080"/>
            <a:ext cx="292608" cy="292608"/>
          </a:xfrm>
          <a:prstGeom prst="rect">
            <a:avLst/>
          </a:prstGeom>
        </p:spPr>
      </p:pic>
      <p:sp>
        <p:nvSpPr>
          <p:cNvPr id="38" name="Text 24"/>
          <p:cNvSpPr/>
          <p:nvPr/>
        </p:nvSpPr>
        <p:spPr>
          <a:xfrm>
            <a:off x="3008376" y="4572000"/>
            <a:ext cx="19659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7. ML Models</a:t>
            </a:r>
            <a:endParaRPr lang="en-US" sz="1150" dirty="0"/>
          </a:p>
        </p:txBody>
      </p:sp>
      <p:pic>
        <p:nvPicPr>
          <p:cNvPr id="39" name="Image 12" descr="/home/claude/deck/icons/arrowRight_cyan.png"/>
          <p:cNvPicPr>
            <a:picLocks noChangeAspect="1"/>
          </p:cNvPicPr>
          <p:nvPr/>
        </p:nvPicPr>
        <p:blipFill>
          <a:blip r:embed="rId4"/>
          <a:stretch>
            <a:fillRect/>
          </a:stretch>
        </p:blipFill>
        <p:spPr>
          <a:xfrm>
            <a:off x="4960620" y="4398264"/>
            <a:ext cx="164592" cy="164592"/>
          </a:xfrm>
          <a:prstGeom prst="rect">
            <a:avLst/>
          </a:prstGeom>
        </p:spPr>
      </p:pic>
      <p:sp>
        <p:nvSpPr>
          <p:cNvPr id="40" name="Shape 25"/>
          <p:cNvSpPr/>
          <p:nvPr/>
        </p:nvSpPr>
        <p:spPr>
          <a:xfrm>
            <a:off x="5111496" y="3794760"/>
            <a:ext cx="1965960" cy="1371600"/>
          </a:xfrm>
          <a:prstGeom prst="roundRect">
            <a:avLst>
              <a:gd name="adj" fmla="val 5333"/>
            </a:avLst>
          </a:prstGeom>
          <a:solidFill>
            <a:srgbClr val="0F2A5C"/>
          </a:solidFill>
          <a:ln/>
        </p:spPr>
      </p:sp>
      <p:sp>
        <p:nvSpPr>
          <p:cNvPr id="41" name="Shape 26"/>
          <p:cNvSpPr/>
          <p:nvPr/>
        </p:nvSpPr>
        <p:spPr>
          <a:xfrm>
            <a:off x="5838444" y="3959352"/>
            <a:ext cx="512064" cy="512064"/>
          </a:xfrm>
          <a:prstGeom prst="ellipse">
            <a:avLst/>
          </a:prstGeom>
          <a:solidFill>
            <a:srgbClr val="0F3460"/>
          </a:solidFill>
          <a:ln/>
        </p:spPr>
      </p:sp>
      <p:pic>
        <p:nvPicPr>
          <p:cNvPr id="42" name="Image 13" descr="/home/claude/deck/icons/chartBar_cyan.png"/>
          <p:cNvPicPr>
            <a:picLocks noChangeAspect="1"/>
          </p:cNvPicPr>
          <p:nvPr/>
        </p:nvPicPr>
        <p:blipFill>
          <a:blip r:embed="rId11"/>
          <a:stretch>
            <a:fillRect/>
          </a:stretch>
        </p:blipFill>
        <p:spPr>
          <a:xfrm>
            <a:off x="5948172" y="4069080"/>
            <a:ext cx="292608" cy="292608"/>
          </a:xfrm>
          <a:prstGeom prst="rect">
            <a:avLst/>
          </a:prstGeom>
        </p:spPr>
      </p:pic>
      <p:sp>
        <p:nvSpPr>
          <p:cNvPr id="43" name="Text 27"/>
          <p:cNvSpPr/>
          <p:nvPr/>
        </p:nvSpPr>
        <p:spPr>
          <a:xfrm>
            <a:off x="5111496" y="4572000"/>
            <a:ext cx="19659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8. Power BI</a:t>
            </a:r>
            <a:endParaRPr lang="en-US" sz="1150" dirty="0"/>
          </a:p>
        </p:txBody>
      </p:sp>
      <p:pic>
        <p:nvPicPr>
          <p:cNvPr id="44" name="Image 14" descr="/home/claude/deck/icons/arrowRight_cyan.png"/>
          <p:cNvPicPr>
            <a:picLocks noChangeAspect="1"/>
          </p:cNvPicPr>
          <p:nvPr/>
        </p:nvPicPr>
        <p:blipFill>
          <a:blip r:embed="rId4"/>
          <a:stretch>
            <a:fillRect/>
          </a:stretch>
        </p:blipFill>
        <p:spPr>
          <a:xfrm>
            <a:off x="7063740" y="4398264"/>
            <a:ext cx="164592" cy="164592"/>
          </a:xfrm>
          <a:prstGeom prst="rect">
            <a:avLst/>
          </a:prstGeom>
        </p:spPr>
      </p:pic>
      <p:sp>
        <p:nvSpPr>
          <p:cNvPr id="45" name="Shape 28"/>
          <p:cNvSpPr/>
          <p:nvPr/>
        </p:nvSpPr>
        <p:spPr>
          <a:xfrm>
            <a:off x="7214616" y="3794760"/>
            <a:ext cx="1965960" cy="1371600"/>
          </a:xfrm>
          <a:prstGeom prst="roundRect">
            <a:avLst>
              <a:gd name="adj" fmla="val 5333"/>
            </a:avLst>
          </a:prstGeom>
          <a:solidFill>
            <a:srgbClr val="0F2A5C"/>
          </a:solidFill>
          <a:ln/>
        </p:spPr>
      </p:sp>
      <p:sp>
        <p:nvSpPr>
          <p:cNvPr id="46" name="Shape 29"/>
          <p:cNvSpPr/>
          <p:nvPr/>
        </p:nvSpPr>
        <p:spPr>
          <a:xfrm>
            <a:off x="7941564" y="3959352"/>
            <a:ext cx="512064" cy="512064"/>
          </a:xfrm>
          <a:prstGeom prst="ellipse">
            <a:avLst/>
          </a:prstGeom>
          <a:solidFill>
            <a:srgbClr val="0F3460"/>
          </a:solidFill>
          <a:ln/>
        </p:spPr>
      </p:sp>
      <p:pic>
        <p:nvPicPr>
          <p:cNvPr id="47" name="Image 15" descr="/home/claude/deck/icons/laptopCode_cyan.png"/>
          <p:cNvPicPr>
            <a:picLocks noChangeAspect="1"/>
          </p:cNvPicPr>
          <p:nvPr/>
        </p:nvPicPr>
        <p:blipFill>
          <a:blip r:embed="rId12"/>
          <a:stretch>
            <a:fillRect/>
          </a:stretch>
        </p:blipFill>
        <p:spPr>
          <a:xfrm>
            <a:off x="8051292" y="4069080"/>
            <a:ext cx="292608" cy="292608"/>
          </a:xfrm>
          <a:prstGeom prst="rect">
            <a:avLst/>
          </a:prstGeom>
        </p:spPr>
      </p:pic>
      <p:sp>
        <p:nvSpPr>
          <p:cNvPr id="48" name="Text 30"/>
          <p:cNvSpPr/>
          <p:nvPr/>
        </p:nvSpPr>
        <p:spPr>
          <a:xfrm>
            <a:off x="7214616" y="4572000"/>
            <a:ext cx="19659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9. Streamlit</a:t>
            </a:r>
            <a:endParaRPr lang="en-US" sz="1150" dirty="0"/>
          </a:p>
        </p:txBody>
      </p:sp>
      <p:pic>
        <p:nvPicPr>
          <p:cNvPr id="49" name="Image 16" descr="/home/claude/deck/icons/arrowRight_cyan.png"/>
          <p:cNvPicPr>
            <a:picLocks noChangeAspect="1"/>
          </p:cNvPicPr>
          <p:nvPr/>
        </p:nvPicPr>
        <p:blipFill>
          <a:blip r:embed="rId4"/>
          <a:stretch>
            <a:fillRect/>
          </a:stretch>
        </p:blipFill>
        <p:spPr>
          <a:xfrm>
            <a:off x="9166860" y="4398264"/>
            <a:ext cx="164592" cy="164592"/>
          </a:xfrm>
          <a:prstGeom prst="rect">
            <a:avLst/>
          </a:prstGeom>
        </p:spPr>
      </p:pic>
      <p:sp>
        <p:nvSpPr>
          <p:cNvPr id="50" name="Shape 31"/>
          <p:cNvSpPr/>
          <p:nvPr/>
        </p:nvSpPr>
        <p:spPr>
          <a:xfrm>
            <a:off x="9317736" y="3794760"/>
            <a:ext cx="1965960" cy="1371600"/>
          </a:xfrm>
          <a:prstGeom prst="roundRect">
            <a:avLst>
              <a:gd name="adj" fmla="val 5333"/>
            </a:avLst>
          </a:prstGeom>
          <a:solidFill>
            <a:srgbClr val="0F2A5C"/>
          </a:solidFill>
          <a:ln/>
        </p:spPr>
      </p:sp>
      <p:sp>
        <p:nvSpPr>
          <p:cNvPr id="51" name="Shape 32"/>
          <p:cNvSpPr/>
          <p:nvPr/>
        </p:nvSpPr>
        <p:spPr>
          <a:xfrm>
            <a:off x="10044684" y="3959352"/>
            <a:ext cx="512064" cy="512064"/>
          </a:xfrm>
          <a:prstGeom prst="ellipse">
            <a:avLst/>
          </a:prstGeom>
          <a:solidFill>
            <a:srgbClr val="0F3460"/>
          </a:solidFill>
          <a:ln/>
        </p:spPr>
      </p:sp>
      <p:pic>
        <p:nvPicPr>
          <p:cNvPr id="52" name="Image 17" descr="/home/claude/deck/icons/cloud_cyan.png"/>
          <p:cNvPicPr>
            <a:picLocks noChangeAspect="1"/>
          </p:cNvPicPr>
          <p:nvPr/>
        </p:nvPicPr>
        <p:blipFill>
          <a:blip r:embed="rId13"/>
          <a:stretch>
            <a:fillRect/>
          </a:stretch>
        </p:blipFill>
        <p:spPr>
          <a:xfrm>
            <a:off x="10154412" y="4069080"/>
            <a:ext cx="292608" cy="292608"/>
          </a:xfrm>
          <a:prstGeom prst="rect">
            <a:avLst/>
          </a:prstGeom>
        </p:spPr>
      </p:pic>
      <p:sp>
        <p:nvSpPr>
          <p:cNvPr id="53" name="Text 33"/>
          <p:cNvSpPr/>
          <p:nvPr/>
        </p:nvSpPr>
        <p:spPr>
          <a:xfrm>
            <a:off x="9317736" y="4572000"/>
            <a:ext cx="19659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10. Deployment</a:t>
            </a:r>
            <a:endParaRPr lang="en-US" sz="1150" dirty="0"/>
          </a:p>
        </p:txBody>
      </p:sp>
      <p:sp>
        <p:nvSpPr>
          <p:cNvPr id="55" name="Text 34"/>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21792"/>
            <a:ext cx="10881360" cy="7315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Data Cleaning Pipeline</a:t>
            </a:r>
            <a:endParaRPr lang="en-US" sz="30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Turning a raw export into a trustworthy analytical dataset</a:t>
            </a:r>
            <a:endParaRPr lang="en-US" sz="1400" dirty="0"/>
          </a:p>
        </p:txBody>
      </p:sp>
      <p:sp>
        <p:nvSpPr>
          <p:cNvPr id="5" name="Shape 3"/>
          <p:cNvSpPr/>
          <p:nvPr/>
        </p:nvSpPr>
        <p:spPr>
          <a:xfrm>
            <a:off x="548640" y="1874520"/>
            <a:ext cx="3474720" cy="1691640"/>
          </a:xfrm>
          <a:prstGeom prst="roundRect">
            <a:avLst>
              <a:gd name="adj" fmla="val 4324"/>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6" name="Shape 4"/>
          <p:cNvSpPr/>
          <p:nvPr/>
        </p:nvSpPr>
        <p:spPr>
          <a:xfrm>
            <a:off x="731520" y="2057400"/>
            <a:ext cx="457200" cy="457200"/>
          </a:xfrm>
          <a:prstGeom prst="ellipse">
            <a:avLst/>
          </a:prstGeom>
          <a:solidFill>
            <a:srgbClr val="0A1F44"/>
          </a:solidFill>
          <a:ln/>
        </p:spPr>
      </p:sp>
      <p:pic>
        <p:nvPicPr>
          <p:cNvPr id="7" name="Image 0" descr="/home/claude/deck/icons/search_cyan.png"/>
          <p:cNvPicPr>
            <a:picLocks noChangeAspect="1"/>
          </p:cNvPicPr>
          <p:nvPr/>
        </p:nvPicPr>
        <p:blipFill>
          <a:blip r:embed="rId3"/>
          <a:stretch>
            <a:fillRect/>
          </a:stretch>
        </p:blipFill>
        <p:spPr>
          <a:xfrm>
            <a:off x="832104" y="2157984"/>
            <a:ext cx="256032" cy="256032"/>
          </a:xfrm>
          <a:prstGeom prst="rect">
            <a:avLst/>
          </a:prstGeom>
        </p:spPr>
      </p:pic>
      <p:sp>
        <p:nvSpPr>
          <p:cNvPr id="8" name="Text 5"/>
          <p:cNvSpPr/>
          <p:nvPr/>
        </p:nvSpPr>
        <p:spPr>
          <a:xfrm>
            <a:off x="731520" y="2651760"/>
            <a:ext cx="31546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Missing Values</a:t>
            </a:r>
            <a:endParaRPr lang="en-US" sz="1300" dirty="0"/>
          </a:p>
        </p:txBody>
      </p:sp>
      <p:sp>
        <p:nvSpPr>
          <p:cNvPr id="9" name="Text 6"/>
          <p:cNvSpPr/>
          <p:nvPr/>
        </p:nvSpPr>
        <p:spPr>
          <a:xfrm>
            <a:off x="731520" y="2971800"/>
            <a:ext cx="3154680" cy="5943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Identified and imputed/removed nulls in Postal Code and a few product fields</a:t>
            </a:r>
            <a:endParaRPr lang="en-US" sz="1050" dirty="0"/>
          </a:p>
        </p:txBody>
      </p:sp>
      <p:sp>
        <p:nvSpPr>
          <p:cNvPr id="10" name="Shape 7"/>
          <p:cNvSpPr/>
          <p:nvPr/>
        </p:nvSpPr>
        <p:spPr>
          <a:xfrm>
            <a:off x="4297680" y="1874520"/>
            <a:ext cx="3474720" cy="1691640"/>
          </a:xfrm>
          <a:prstGeom prst="roundRect">
            <a:avLst>
              <a:gd name="adj" fmla="val 4324"/>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1" name="Shape 8"/>
          <p:cNvSpPr/>
          <p:nvPr/>
        </p:nvSpPr>
        <p:spPr>
          <a:xfrm>
            <a:off x="4480560" y="2057400"/>
            <a:ext cx="457200" cy="457200"/>
          </a:xfrm>
          <a:prstGeom prst="ellipse">
            <a:avLst/>
          </a:prstGeom>
          <a:solidFill>
            <a:srgbClr val="0A1F44"/>
          </a:solidFill>
          <a:ln/>
        </p:spPr>
      </p:sp>
      <p:pic>
        <p:nvPicPr>
          <p:cNvPr id="12" name="Image 1" descr="/home/claude/deck/icons/layer_cyan.png"/>
          <p:cNvPicPr>
            <a:picLocks noChangeAspect="1"/>
          </p:cNvPicPr>
          <p:nvPr/>
        </p:nvPicPr>
        <p:blipFill>
          <a:blip r:embed="rId4"/>
          <a:stretch>
            <a:fillRect/>
          </a:stretch>
        </p:blipFill>
        <p:spPr>
          <a:xfrm>
            <a:off x="4581144" y="2157984"/>
            <a:ext cx="256032" cy="256032"/>
          </a:xfrm>
          <a:prstGeom prst="rect">
            <a:avLst/>
          </a:prstGeom>
        </p:spPr>
      </p:pic>
      <p:sp>
        <p:nvSpPr>
          <p:cNvPr id="13" name="Text 9"/>
          <p:cNvSpPr/>
          <p:nvPr/>
        </p:nvSpPr>
        <p:spPr>
          <a:xfrm>
            <a:off x="4480560" y="2651760"/>
            <a:ext cx="31546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Duplicate Removal</a:t>
            </a:r>
            <a:endParaRPr lang="en-US" sz="1300" dirty="0"/>
          </a:p>
        </p:txBody>
      </p:sp>
      <p:sp>
        <p:nvSpPr>
          <p:cNvPr id="14" name="Text 10"/>
          <p:cNvSpPr/>
          <p:nvPr/>
        </p:nvSpPr>
        <p:spPr>
          <a:xfrm>
            <a:off x="4480560" y="2971800"/>
            <a:ext cx="3154680" cy="5943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Detected and dropped duplicate order line entries</a:t>
            </a:r>
            <a:endParaRPr lang="en-US" sz="1050" dirty="0"/>
          </a:p>
        </p:txBody>
      </p:sp>
      <p:sp>
        <p:nvSpPr>
          <p:cNvPr id="15" name="Shape 11"/>
          <p:cNvSpPr/>
          <p:nvPr/>
        </p:nvSpPr>
        <p:spPr>
          <a:xfrm>
            <a:off x="8046720" y="1874520"/>
            <a:ext cx="3474720" cy="1691640"/>
          </a:xfrm>
          <a:prstGeom prst="roundRect">
            <a:avLst>
              <a:gd name="adj" fmla="val 4324"/>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6" name="Shape 12"/>
          <p:cNvSpPr/>
          <p:nvPr/>
        </p:nvSpPr>
        <p:spPr>
          <a:xfrm>
            <a:off x="8229600" y="2057400"/>
            <a:ext cx="457200" cy="457200"/>
          </a:xfrm>
          <a:prstGeom prst="ellipse">
            <a:avLst/>
          </a:prstGeom>
          <a:solidFill>
            <a:srgbClr val="0A1F44"/>
          </a:solidFill>
          <a:ln/>
        </p:spPr>
      </p:sp>
      <p:pic>
        <p:nvPicPr>
          <p:cNvPr id="17" name="Image 2" descr="/home/claude/deck/icons/cogs_cyan.png"/>
          <p:cNvPicPr>
            <a:picLocks noChangeAspect="1"/>
          </p:cNvPicPr>
          <p:nvPr/>
        </p:nvPicPr>
        <p:blipFill>
          <a:blip r:embed="rId5"/>
          <a:stretch>
            <a:fillRect/>
          </a:stretch>
        </p:blipFill>
        <p:spPr>
          <a:xfrm>
            <a:off x="8330184" y="2157984"/>
            <a:ext cx="256032" cy="256032"/>
          </a:xfrm>
          <a:prstGeom prst="rect">
            <a:avLst/>
          </a:prstGeom>
        </p:spPr>
      </p:pic>
      <p:sp>
        <p:nvSpPr>
          <p:cNvPr id="18" name="Text 13"/>
          <p:cNvSpPr/>
          <p:nvPr/>
        </p:nvSpPr>
        <p:spPr>
          <a:xfrm>
            <a:off x="8229600" y="2651760"/>
            <a:ext cx="31546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Type Conversion</a:t>
            </a:r>
            <a:endParaRPr lang="en-US" sz="1300" dirty="0"/>
          </a:p>
        </p:txBody>
      </p:sp>
      <p:sp>
        <p:nvSpPr>
          <p:cNvPr id="19" name="Text 14"/>
          <p:cNvSpPr/>
          <p:nvPr/>
        </p:nvSpPr>
        <p:spPr>
          <a:xfrm>
            <a:off x="8229600" y="2971800"/>
            <a:ext cx="3154680" cy="5943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Standardized Order Date / Ship Date and numeric field types</a:t>
            </a:r>
            <a:endParaRPr lang="en-US" sz="1050" dirty="0"/>
          </a:p>
        </p:txBody>
      </p:sp>
      <p:sp>
        <p:nvSpPr>
          <p:cNvPr id="20" name="Shape 15"/>
          <p:cNvSpPr/>
          <p:nvPr/>
        </p:nvSpPr>
        <p:spPr>
          <a:xfrm>
            <a:off x="548640" y="3886200"/>
            <a:ext cx="3474720" cy="1691640"/>
          </a:xfrm>
          <a:prstGeom prst="roundRect">
            <a:avLst>
              <a:gd name="adj" fmla="val 4324"/>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21" name="Shape 16"/>
          <p:cNvSpPr/>
          <p:nvPr/>
        </p:nvSpPr>
        <p:spPr>
          <a:xfrm>
            <a:off x="731520" y="4069080"/>
            <a:ext cx="457200" cy="457200"/>
          </a:xfrm>
          <a:prstGeom prst="ellipse">
            <a:avLst/>
          </a:prstGeom>
          <a:solidFill>
            <a:srgbClr val="0A1F44"/>
          </a:solidFill>
          <a:ln/>
        </p:spPr>
      </p:sp>
      <p:pic>
        <p:nvPicPr>
          <p:cNvPr id="22" name="Image 3" descr="/home/claude/deck/icons/chartArea_cyan.png"/>
          <p:cNvPicPr>
            <a:picLocks noChangeAspect="1"/>
          </p:cNvPicPr>
          <p:nvPr/>
        </p:nvPicPr>
        <p:blipFill>
          <a:blip r:embed="rId6"/>
          <a:stretch>
            <a:fillRect/>
          </a:stretch>
        </p:blipFill>
        <p:spPr>
          <a:xfrm>
            <a:off x="832104" y="4169664"/>
            <a:ext cx="256032" cy="256032"/>
          </a:xfrm>
          <a:prstGeom prst="rect">
            <a:avLst/>
          </a:prstGeom>
        </p:spPr>
      </p:pic>
      <p:sp>
        <p:nvSpPr>
          <p:cNvPr id="23" name="Text 17"/>
          <p:cNvSpPr/>
          <p:nvPr/>
        </p:nvSpPr>
        <p:spPr>
          <a:xfrm>
            <a:off x="731520" y="4663440"/>
            <a:ext cx="31546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Outlier Detection</a:t>
            </a:r>
            <a:endParaRPr lang="en-US" sz="1300" dirty="0"/>
          </a:p>
        </p:txBody>
      </p:sp>
      <p:sp>
        <p:nvSpPr>
          <p:cNvPr id="24" name="Text 18"/>
          <p:cNvSpPr/>
          <p:nvPr/>
        </p:nvSpPr>
        <p:spPr>
          <a:xfrm>
            <a:off x="731520" y="4983480"/>
            <a:ext cx="3154680" cy="5943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Flagged extreme discount and negative-profit records for review</a:t>
            </a:r>
            <a:endParaRPr lang="en-US" sz="1050" dirty="0"/>
          </a:p>
        </p:txBody>
      </p:sp>
      <p:sp>
        <p:nvSpPr>
          <p:cNvPr id="25" name="Shape 19"/>
          <p:cNvSpPr/>
          <p:nvPr/>
        </p:nvSpPr>
        <p:spPr>
          <a:xfrm>
            <a:off x="4297680" y="3886200"/>
            <a:ext cx="3474720" cy="1691640"/>
          </a:xfrm>
          <a:prstGeom prst="roundRect">
            <a:avLst>
              <a:gd name="adj" fmla="val 4324"/>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26" name="Shape 20"/>
          <p:cNvSpPr/>
          <p:nvPr/>
        </p:nvSpPr>
        <p:spPr>
          <a:xfrm>
            <a:off x="4480560" y="4069080"/>
            <a:ext cx="457200" cy="457200"/>
          </a:xfrm>
          <a:prstGeom prst="ellipse">
            <a:avLst/>
          </a:prstGeom>
          <a:solidFill>
            <a:srgbClr val="0A1F44"/>
          </a:solidFill>
          <a:ln/>
        </p:spPr>
      </p:sp>
      <p:pic>
        <p:nvPicPr>
          <p:cNvPr id="27" name="Image 4" descr="/home/claude/deck/icons/warn_cyan.png"/>
          <p:cNvPicPr>
            <a:picLocks noChangeAspect="1"/>
          </p:cNvPicPr>
          <p:nvPr/>
        </p:nvPicPr>
        <p:blipFill>
          <a:blip r:embed="rId7"/>
          <a:stretch>
            <a:fillRect/>
          </a:stretch>
        </p:blipFill>
        <p:spPr>
          <a:xfrm>
            <a:off x="4581144" y="4169664"/>
            <a:ext cx="256032" cy="256032"/>
          </a:xfrm>
          <a:prstGeom prst="rect">
            <a:avLst/>
          </a:prstGeom>
        </p:spPr>
      </p:pic>
      <p:sp>
        <p:nvSpPr>
          <p:cNvPr id="28" name="Text 21"/>
          <p:cNvSpPr/>
          <p:nvPr/>
        </p:nvSpPr>
        <p:spPr>
          <a:xfrm>
            <a:off x="4480560" y="4663440"/>
            <a:ext cx="31546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Invalid Data Handling</a:t>
            </a:r>
            <a:endParaRPr lang="en-US" sz="1300" dirty="0"/>
          </a:p>
        </p:txBody>
      </p:sp>
      <p:sp>
        <p:nvSpPr>
          <p:cNvPr id="29" name="Text 22"/>
          <p:cNvSpPr/>
          <p:nvPr/>
        </p:nvSpPr>
        <p:spPr>
          <a:xfrm>
            <a:off x="4480560" y="4983480"/>
            <a:ext cx="3154680" cy="5943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Corrected inconsistent region/state naming and stray whitespace</a:t>
            </a:r>
            <a:endParaRPr lang="en-US" sz="1050" dirty="0"/>
          </a:p>
        </p:txBody>
      </p:sp>
      <p:sp>
        <p:nvSpPr>
          <p:cNvPr id="30" name="Shape 23"/>
          <p:cNvSpPr/>
          <p:nvPr/>
        </p:nvSpPr>
        <p:spPr>
          <a:xfrm>
            <a:off x="8046720" y="3886200"/>
            <a:ext cx="3474720" cy="1691640"/>
          </a:xfrm>
          <a:prstGeom prst="roundRect">
            <a:avLst>
              <a:gd name="adj" fmla="val 4324"/>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31" name="Shape 24"/>
          <p:cNvSpPr/>
          <p:nvPr/>
        </p:nvSpPr>
        <p:spPr>
          <a:xfrm>
            <a:off x="8229600" y="4069080"/>
            <a:ext cx="457200" cy="457200"/>
          </a:xfrm>
          <a:prstGeom prst="ellipse">
            <a:avLst/>
          </a:prstGeom>
          <a:solidFill>
            <a:srgbClr val="0A1F44"/>
          </a:solidFill>
          <a:ln/>
        </p:spPr>
      </p:sp>
      <p:pic>
        <p:nvPicPr>
          <p:cNvPr id="32" name="Image 5" descr="/home/claude/deck/icons/star_cyan.png"/>
          <p:cNvPicPr>
            <a:picLocks noChangeAspect="1"/>
          </p:cNvPicPr>
          <p:nvPr/>
        </p:nvPicPr>
        <p:blipFill>
          <a:blip r:embed="rId8"/>
          <a:stretch>
            <a:fillRect/>
          </a:stretch>
        </p:blipFill>
        <p:spPr>
          <a:xfrm>
            <a:off x="8330184" y="4169664"/>
            <a:ext cx="256032" cy="256032"/>
          </a:xfrm>
          <a:prstGeom prst="rect">
            <a:avLst/>
          </a:prstGeom>
        </p:spPr>
      </p:pic>
      <p:sp>
        <p:nvSpPr>
          <p:cNvPr id="33" name="Text 25"/>
          <p:cNvSpPr/>
          <p:nvPr/>
        </p:nvSpPr>
        <p:spPr>
          <a:xfrm>
            <a:off x="8229600" y="4663440"/>
            <a:ext cx="315468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Feature Creation</a:t>
            </a:r>
            <a:endParaRPr lang="en-US" sz="1300" dirty="0"/>
          </a:p>
        </p:txBody>
      </p:sp>
      <p:sp>
        <p:nvSpPr>
          <p:cNvPr id="34" name="Text 26"/>
          <p:cNvSpPr/>
          <p:nvPr/>
        </p:nvSpPr>
        <p:spPr>
          <a:xfrm>
            <a:off x="8229600" y="4983480"/>
            <a:ext cx="3154680" cy="5943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Derived Order-to-Ship lead time, profit margin, and order month/year</a:t>
            </a:r>
            <a:endParaRPr lang="en-US" sz="1050" dirty="0"/>
          </a:p>
        </p:txBody>
      </p:sp>
      <p:sp>
        <p:nvSpPr>
          <p:cNvPr id="35" name="Shape 27"/>
          <p:cNvSpPr/>
          <p:nvPr/>
        </p:nvSpPr>
        <p:spPr>
          <a:xfrm>
            <a:off x="548640" y="5806440"/>
            <a:ext cx="11064240" cy="685800"/>
          </a:xfrm>
          <a:prstGeom prst="roundRect">
            <a:avLst>
              <a:gd name="adj" fmla="val 10667"/>
            </a:avLst>
          </a:prstGeom>
          <a:solidFill>
            <a:srgbClr val="F1F5F9"/>
          </a:solidFill>
          <a:ln/>
        </p:spPr>
      </p:sp>
      <p:sp>
        <p:nvSpPr>
          <p:cNvPr id="36" name="Text 28"/>
          <p:cNvSpPr/>
          <p:nvPr/>
        </p:nvSpPr>
        <p:spPr>
          <a:xfrm>
            <a:off x="822960" y="5943600"/>
            <a:ext cx="10515600" cy="411480"/>
          </a:xfrm>
          <a:prstGeom prst="rect">
            <a:avLst/>
          </a:prstGeom>
          <a:noFill/>
          <a:ln/>
        </p:spPr>
        <p:txBody>
          <a:bodyPr wrap="square" lIns="0" tIns="0" rIns="0" bIns="0"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Before: </a:t>
            </a:r>
            <a:r>
              <a:rPr lang="en-US" sz="1200" dirty="0">
                <a:solidFill>
                  <a:srgbClr val="334155"/>
                </a:solidFill>
                <a:latin typeface="Calibri" pitchFamily="34" charset="0"/>
                <a:ea typeface="Calibri" pitchFamily="34" charset="-122"/>
                <a:cs typeface="Calibri" pitchFamily="34" charset="-120"/>
              </a:rPr>
              <a:t>raw export, mixed types, nulls, duplicates      </a:t>
            </a:r>
            <a:r>
              <a:rPr lang="en-US" sz="1200" b="1" dirty="0">
                <a:solidFill>
                  <a:srgbClr val="64748B"/>
                </a:solidFill>
                <a:latin typeface="Calibri" pitchFamily="34" charset="0"/>
                <a:ea typeface="Calibri" pitchFamily="34" charset="-122"/>
                <a:cs typeface="Calibri" pitchFamily="34" charset="-120"/>
              </a:rPr>
              <a:t>→      </a:t>
            </a:r>
            <a:r>
              <a:rPr lang="en-US" sz="1200" b="1" dirty="0">
                <a:solidFill>
                  <a:srgbClr val="10B981"/>
                </a:solidFill>
                <a:latin typeface="Calibri" pitchFamily="34" charset="0"/>
                <a:ea typeface="Calibri" pitchFamily="34" charset="-122"/>
                <a:cs typeface="Calibri" pitchFamily="34" charset="-120"/>
              </a:rPr>
              <a:t>After: </a:t>
            </a:r>
            <a:r>
              <a:rPr lang="en-US" sz="1200" dirty="0">
                <a:solidFill>
                  <a:srgbClr val="334155"/>
                </a:solidFill>
                <a:latin typeface="Calibri" pitchFamily="34" charset="0"/>
                <a:ea typeface="Calibri" pitchFamily="34" charset="-122"/>
                <a:cs typeface="Calibri" pitchFamily="34" charset="-120"/>
              </a:rPr>
              <a:t>cleaned_sales.csv — typed, deduplicated, feature-rich</a:t>
            </a:r>
            <a:endParaRPr lang="en-US" sz="1200" dirty="0"/>
          </a:p>
        </p:txBody>
      </p:sp>
      <p:sp>
        <p:nvSpPr>
          <p:cNvPr id="38" name="Text 29"/>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ANALYSIS</a:t>
            </a:r>
            <a:endParaRPr lang="en-US" sz="1200" dirty="0"/>
          </a:p>
        </p:txBody>
      </p:sp>
      <p:sp>
        <p:nvSpPr>
          <p:cNvPr id="3" name="Text 1"/>
          <p:cNvSpPr/>
          <p:nvPr/>
        </p:nvSpPr>
        <p:spPr>
          <a:xfrm>
            <a:off x="548640" y="621792"/>
            <a:ext cx="10881360" cy="7315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Exploratory Data Analysis</a:t>
            </a:r>
            <a:endParaRPr lang="en-US" sz="30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Eight lenses on the data — illustrative charts with the business read-out</a:t>
            </a:r>
            <a:endParaRPr lang="en-US" sz="1400" dirty="0"/>
          </a:p>
        </p:txBody>
      </p:sp>
      <p:sp>
        <p:nvSpPr>
          <p:cNvPr id="5" name="Shape 3"/>
          <p:cNvSpPr/>
          <p:nvPr/>
        </p:nvSpPr>
        <p:spPr>
          <a:xfrm>
            <a:off x="548640" y="1828800"/>
            <a:ext cx="5394960" cy="2148840"/>
          </a:xfrm>
          <a:prstGeom prst="roundRect">
            <a:avLst>
              <a:gd name="adj" fmla="val 2979"/>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6" name="Text 4"/>
          <p:cNvSpPr/>
          <p:nvPr/>
        </p:nvSpPr>
        <p:spPr>
          <a:xfrm>
            <a:off x="731520" y="1920240"/>
            <a:ext cx="5029200" cy="27432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Sales Distribution</a:t>
            </a:r>
            <a:endParaRPr lang="en-US" sz="1250" dirty="0"/>
          </a:p>
        </p:txBody>
      </p:sp>
      <p:graphicFrame>
        <p:nvGraphicFramePr>
          <p:cNvPr id="7" name="Chart 0"/>
          <p:cNvGraphicFramePr/>
          <p:nvPr/>
        </p:nvGraphicFramePr>
        <p:xfrm>
          <a:off x="685800" y="2212848"/>
          <a:ext cx="3021178" cy="16459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3677717" y="2286000"/>
            <a:ext cx="2157984" cy="1554480"/>
          </a:xfrm>
          <a:prstGeom prst="rect">
            <a:avLst/>
          </a:prstGeom>
          <a:noFill/>
          <a:ln/>
        </p:spPr>
        <p:txBody>
          <a:bodyPr wrap="square" lIns="0" tIns="0" rIns="0" bIns="0" rtlCol="0" anchor="ctr"/>
          <a:lstStyle/>
          <a:p>
            <a:pPr marL="0" indent="0">
              <a:buNone/>
            </a:pPr>
            <a:r>
              <a:rPr lang="en-US" sz="950" i="1" dirty="0">
                <a:solidFill>
                  <a:srgbClr val="334155"/>
                </a:solidFill>
                <a:latin typeface="Calibri" pitchFamily="34" charset="0"/>
                <a:ea typeface="Calibri" pitchFamily="34" charset="-122"/>
                <a:cs typeface="Calibri" pitchFamily="34" charset="-120"/>
              </a:rPr>
              <a:t>Right-skewed; most orders are modest, few large orders drive totals.</a:t>
            </a:r>
            <a:endParaRPr lang="en-US" sz="950" dirty="0"/>
          </a:p>
        </p:txBody>
      </p:sp>
      <p:sp>
        <p:nvSpPr>
          <p:cNvPr id="9" name="Shape 6"/>
          <p:cNvSpPr/>
          <p:nvPr/>
        </p:nvSpPr>
        <p:spPr>
          <a:xfrm>
            <a:off x="6217920" y="1828800"/>
            <a:ext cx="5394960" cy="2148840"/>
          </a:xfrm>
          <a:prstGeom prst="roundRect">
            <a:avLst>
              <a:gd name="adj" fmla="val 2979"/>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0" name="Text 7"/>
          <p:cNvSpPr/>
          <p:nvPr/>
        </p:nvSpPr>
        <p:spPr>
          <a:xfrm>
            <a:off x="6400800" y="1920240"/>
            <a:ext cx="5029200" cy="27432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Region-wise Sales</a:t>
            </a:r>
            <a:endParaRPr lang="en-US" sz="1250" dirty="0"/>
          </a:p>
        </p:txBody>
      </p:sp>
      <p:graphicFrame>
        <p:nvGraphicFramePr>
          <p:cNvPr id="11" name="Chart 1"/>
          <p:cNvGraphicFramePr/>
          <p:nvPr/>
        </p:nvGraphicFramePr>
        <p:xfrm>
          <a:off x="6355080" y="2212848"/>
          <a:ext cx="2697480" cy="164592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 8"/>
          <p:cNvSpPr/>
          <p:nvPr/>
        </p:nvSpPr>
        <p:spPr>
          <a:xfrm>
            <a:off x="9346997" y="2286000"/>
            <a:ext cx="2157984" cy="1554480"/>
          </a:xfrm>
          <a:prstGeom prst="rect">
            <a:avLst/>
          </a:prstGeom>
          <a:noFill/>
          <a:ln/>
        </p:spPr>
        <p:txBody>
          <a:bodyPr wrap="square" lIns="0" tIns="0" rIns="0" bIns="0" rtlCol="0" anchor="ctr"/>
          <a:lstStyle/>
          <a:p>
            <a:pPr marL="0" indent="0">
              <a:buNone/>
            </a:pPr>
            <a:r>
              <a:rPr lang="en-US" sz="950" i="1" dirty="0">
                <a:solidFill>
                  <a:srgbClr val="334155"/>
                </a:solidFill>
                <a:latin typeface="Calibri" pitchFamily="34" charset="0"/>
                <a:ea typeface="Calibri" pitchFamily="34" charset="-122"/>
                <a:cs typeface="Calibri" pitchFamily="34" charset="-120"/>
              </a:rPr>
              <a:t>West and East lead; Central and South trail behind.</a:t>
            </a:r>
            <a:endParaRPr lang="en-US" sz="950" dirty="0"/>
          </a:p>
        </p:txBody>
      </p:sp>
      <p:sp>
        <p:nvSpPr>
          <p:cNvPr id="13" name="Shape 9"/>
          <p:cNvSpPr/>
          <p:nvPr/>
        </p:nvSpPr>
        <p:spPr>
          <a:xfrm>
            <a:off x="548640" y="4206240"/>
            <a:ext cx="5394960" cy="2148840"/>
          </a:xfrm>
          <a:prstGeom prst="roundRect">
            <a:avLst>
              <a:gd name="adj" fmla="val 2979"/>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4" name="Text 10"/>
          <p:cNvSpPr/>
          <p:nvPr/>
        </p:nvSpPr>
        <p:spPr>
          <a:xfrm>
            <a:off x="731520" y="4297680"/>
            <a:ext cx="5029200" cy="27432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Category-wise Sales</a:t>
            </a:r>
            <a:endParaRPr lang="en-US" sz="1250" dirty="0"/>
          </a:p>
        </p:txBody>
      </p:sp>
      <p:graphicFrame>
        <p:nvGraphicFramePr>
          <p:cNvPr id="15" name="Chart 2"/>
          <p:cNvGraphicFramePr/>
          <p:nvPr/>
        </p:nvGraphicFramePr>
        <p:xfrm>
          <a:off x="685800" y="4590288"/>
          <a:ext cx="3021178" cy="164592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 11"/>
          <p:cNvSpPr/>
          <p:nvPr/>
        </p:nvSpPr>
        <p:spPr>
          <a:xfrm>
            <a:off x="3677717" y="4663440"/>
            <a:ext cx="2157984" cy="1554480"/>
          </a:xfrm>
          <a:prstGeom prst="rect">
            <a:avLst/>
          </a:prstGeom>
          <a:noFill/>
          <a:ln/>
        </p:spPr>
        <p:txBody>
          <a:bodyPr wrap="square" lIns="0" tIns="0" rIns="0" bIns="0" rtlCol="0" anchor="ctr"/>
          <a:lstStyle/>
          <a:p>
            <a:pPr marL="0" indent="0">
              <a:buNone/>
            </a:pPr>
            <a:r>
              <a:rPr lang="en-US" sz="950" i="1" dirty="0">
                <a:solidFill>
                  <a:srgbClr val="334155"/>
                </a:solidFill>
                <a:latin typeface="Calibri" pitchFamily="34" charset="0"/>
                <a:ea typeface="Calibri" pitchFamily="34" charset="-122"/>
                <a:cs typeface="Calibri" pitchFamily="34" charset="-120"/>
              </a:rPr>
              <a:t>Technology yields the highest average order value.</a:t>
            </a:r>
            <a:endParaRPr lang="en-US" sz="950" dirty="0"/>
          </a:p>
        </p:txBody>
      </p:sp>
      <p:sp>
        <p:nvSpPr>
          <p:cNvPr id="17" name="Shape 12"/>
          <p:cNvSpPr/>
          <p:nvPr/>
        </p:nvSpPr>
        <p:spPr>
          <a:xfrm>
            <a:off x="6217920" y="4206240"/>
            <a:ext cx="5394960" cy="2148840"/>
          </a:xfrm>
          <a:prstGeom prst="roundRect">
            <a:avLst>
              <a:gd name="adj" fmla="val 2979"/>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8" name="Text 13"/>
          <p:cNvSpPr/>
          <p:nvPr/>
        </p:nvSpPr>
        <p:spPr>
          <a:xfrm>
            <a:off x="6400800" y="4297680"/>
            <a:ext cx="5029200" cy="27432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Monthly Revenue Trend</a:t>
            </a:r>
            <a:endParaRPr lang="en-US" sz="1250" dirty="0"/>
          </a:p>
        </p:txBody>
      </p:sp>
      <p:graphicFrame>
        <p:nvGraphicFramePr>
          <p:cNvPr id="19" name="Chart 3"/>
          <p:cNvGraphicFramePr/>
          <p:nvPr/>
        </p:nvGraphicFramePr>
        <p:xfrm>
          <a:off x="6355080" y="4590288"/>
          <a:ext cx="3021178" cy="164592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 14"/>
          <p:cNvSpPr/>
          <p:nvPr/>
        </p:nvSpPr>
        <p:spPr>
          <a:xfrm>
            <a:off x="9346997" y="4663440"/>
            <a:ext cx="2157984" cy="1554480"/>
          </a:xfrm>
          <a:prstGeom prst="rect">
            <a:avLst/>
          </a:prstGeom>
          <a:noFill/>
          <a:ln/>
        </p:spPr>
        <p:txBody>
          <a:bodyPr wrap="square" lIns="0" tIns="0" rIns="0" bIns="0" rtlCol="0" anchor="ctr"/>
          <a:lstStyle/>
          <a:p>
            <a:pPr marL="0" indent="0">
              <a:buNone/>
            </a:pPr>
            <a:r>
              <a:rPr lang="en-US" sz="950" i="1" dirty="0">
                <a:solidFill>
                  <a:srgbClr val="334155"/>
                </a:solidFill>
                <a:latin typeface="Calibri" pitchFamily="34" charset="0"/>
                <a:ea typeface="Calibri" pitchFamily="34" charset="-122"/>
                <a:cs typeface="Calibri" pitchFamily="34" charset="-120"/>
              </a:rPr>
              <a:t>Clear seasonal peaks around Nov–Dec (holiday demand).</a:t>
            </a:r>
            <a:endParaRPr lang="en-US" sz="950" dirty="0"/>
          </a:p>
        </p:txBody>
      </p:sp>
      <p:sp>
        <p:nvSpPr>
          <p:cNvPr id="22" name="Text 15"/>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F44"/>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METRICS</a:t>
            </a:r>
            <a:endParaRPr lang="en-US" sz="1200" dirty="0"/>
          </a:p>
        </p:txBody>
      </p:sp>
      <p:sp>
        <p:nvSpPr>
          <p:cNvPr id="3" name="Text 1"/>
          <p:cNvSpPr/>
          <p:nvPr/>
        </p:nvSpPr>
        <p:spPr>
          <a:xfrm>
            <a:off x="548640" y="621792"/>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Business KPIs</a:t>
            </a:r>
            <a:endParaRPr lang="en-US" sz="3200" dirty="0"/>
          </a:p>
        </p:txBody>
      </p:sp>
      <p:sp>
        <p:nvSpPr>
          <p:cNvPr id="4" name="Text 2"/>
          <p:cNvSpPr/>
          <p:nvPr/>
        </p:nvSpPr>
        <p:spPr>
          <a:xfrm>
            <a:off x="548640" y="1234440"/>
            <a:ext cx="10515600" cy="45720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The headline numbers a stakeholder checks first</a:t>
            </a:r>
            <a:endParaRPr lang="en-US" sz="1500" dirty="0"/>
          </a:p>
        </p:txBody>
      </p:sp>
      <p:sp>
        <p:nvSpPr>
          <p:cNvPr id="5" name="Shape 3"/>
          <p:cNvSpPr/>
          <p:nvPr/>
        </p:nvSpPr>
        <p:spPr>
          <a:xfrm>
            <a:off x="516636" y="1920240"/>
            <a:ext cx="2651760" cy="1737360"/>
          </a:xfrm>
          <a:prstGeom prst="roundRect">
            <a:avLst>
              <a:gd name="adj" fmla="val 4737"/>
            </a:avLst>
          </a:prstGeom>
          <a:solidFill>
            <a:srgbClr val="0F2A5C"/>
          </a:solidFill>
          <a:ln/>
        </p:spPr>
      </p:sp>
      <p:pic>
        <p:nvPicPr>
          <p:cNvPr id="6" name="Image 0" descr="/home/claude/deck/icons/money_cyan.png"/>
          <p:cNvPicPr>
            <a:picLocks noChangeAspect="1"/>
          </p:cNvPicPr>
          <p:nvPr/>
        </p:nvPicPr>
        <p:blipFill>
          <a:blip r:embed="rId3"/>
          <a:stretch>
            <a:fillRect/>
          </a:stretch>
        </p:blipFill>
        <p:spPr>
          <a:xfrm>
            <a:off x="717804" y="2103120"/>
            <a:ext cx="329184" cy="329184"/>
          </a:xfrm>
          <a:prstGeom prst="rect">
            <a:avLst/>
          </a:prstGeom>
        </p:spPr>
      </p:pic>
      <p:sp>
        <p:nvSpPr>
          <p:cNvPr id="7" name="Text 4"/>
          <p:cNvSpPr/>
          <p:nvPr/>
        </p:nvSpPr>
        <p:spPr>
          <a:xfrm>
            <a:off x="699516" y="2514600"/>
            <a:ext cx="22860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$2.30M</a:t>
            </a:r>
            <a:endParaRPr lang="en-US" sz="2600" dirty="0"/>
          </a:p>
        </p:txBody>
      </p:sp>
      <p:sp>
        <p:nvSpPr>
          <p:cNvPr id="8" name="Text 5"/>
          <p:cNvSpPr/>
          <p:nvPr/>
        </p:nvSpPr>
        <p:spPr>
          <a:xfrm>
            <a:off x="699516" y="3154680"/>
            <a:ext cx="2286000" cy="36576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Total Revenue</a:t>
            </a:r>
            <a:endParaRPr lang="en-US" sz="1150" dirty="0"/>
          </a:p>
        </p:txBody>
      </p:sp>
      <p:sp>
        <p:nvSpPr>
          <p:cNvPr id="9" name="Shape 6"/>
          <p:cNvSpPr/>
          <p:nvPr/>
        </p:nvSpPr>
        <p:spPr>
          <a:xfrm>
            <a:off x="3351276" y="1920240"/>
            <a:ext cx="2651760" cy="1737360"/>
          </a:xfrm>
          <a:prstGeom prst="roundRect">
            <a:avLst>
              <a:gd name="adj" fmla="val 4737"/>
            </a:avLst>
          </a:prstGeom>
          <a:solidFill>
            <a:srgbClr val="0F2A5C"/>
          </a:solidFill>
          <a:ln/>
        </p:spPr>
      </p:sp>
      <p:pic>
        <p:nvPicPr>
          <p:cNvPr id="10" name="Image 1" descr="/home/claude/deck/icons/chartLine_cyan.png"/>
          <p:cNvPicPr>
            <a:picLocks noChangeAspect="1"/>
          </p:cNvPicPr>
          <p:nvPr/>
        </p:nvPicPr>
        <p:blipFill>
          <a:blip r:embed="rId4"/>
          <a:stretch>
            <a:fillRect/>
          </a:stretch>
        </p:blipFill>
        <p:spPr>
          <a:xfrm>
            <a:off x="3552444" y="2103120"/>
            <a:ext cx="329184" cy="329184"/>
          </a:xfrm>
          <a:prstGeom prst="rect">
            <a:avLst/>
          </a:prstGeom>
        </p:spPr>
      </p:pic>
      <p:sp>
        <p:nvSpPr>
          <p:cNvPr id="11" name="Text 7"/>
          <p:cNvSpPr/>
          <p:nvPr/>
        </p:nvSpPr>
        <p:spPr>
          <a:xfrm>
            <a:off x="3534156" y="2514600"/>
            <a:ext cx="22860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$286K</a:t>
            </a:r>
            <a:endParaRPr lang="en-US" sz="2600" dirty="0"/>
          </a:p>
        </p:txBody>
      </p:sp>
      <p:sp>
        <p:nvSpPr>
          <p:cNvPr id="12" name="Text 8"/>
          <p:cNvSpPr/>
          <p:nvPr/>
        </p:nvSpPr>
        <p:spPr>
          <a:xfrm>
            <a:off x="3534156" y="3154680"/>
            <a:ext cx="2286000" cy="36576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Total Profit</a:t>
            </a:r>
            <a:endParaRPr lang="en-US" sz="1150" dirty="0"/>
          </a:p>
        </p:txBody>
      </p:sp>
      <p:sp>
        <p:nvSpPr>
          <p:cNvPr id="13" name="Shape 9"/>
          <p:cNvSpPr/>
          <p:nvPr/>
        </p:nvSpPr>
        <p:spPr>
          <a:xfrm>
            <a:off x="6185916" y="1920240"/>
            <a:ext cx="2651760" cy="1737360"/>
          </a:xfrm>
          <a:prstGeom prst="roundRect">
            <a:avLst>
              <a:gd name="adj" fmla="val 4737"/>
            </a:avLst>
          </a:prstGeom>
          <a:solidFill>
            <a:srgbClr val="0F2A5C"/>
          </a:solidFill>
          <a:ln/>
        </p:spPr>
      </p:sp>
      <p:pic>
        <p:nvPicPr>
          <p:cNvPr id="14" name="Image 2" descr="/home/claude/deck/icons/calculator_cyan.png"/>
          <p:cNvPicPr>
            <a:picLocks noChangeAspect="1"/>
          </p:cNvPicPr>
          <p:nvPr/>
        </p:nvPicPr>
        <p:blipFill>
          <a:blip r:embed="rId5"/>
          <a:stretch>
            <a:fillRect/>
          </a:stretch>
        </p:blipFill>
        <p:spPr>
          <a:xfrm>
            <a:off x="6387084" y="2103120"/>
            <a:ext cx="329184" cy="329184"/>
          </a:xfrm>
          <a:prstGeom prst="rect">
            <a:avLst/>
          </a:prstGeom>
        </p:spPr>
      </p:pic>
      <p:sp>
        <p:nvSpPr>
          <p:cNvPr id="15" name="Text 10"/>
          <p:cNvSpPr/>
          <p:nvPr/>
        </p:nvSpPr>
        <p:spPr>
          <a:xfrm>
            <a:off x="6368796" y="2514600"/>
            <a:ext cx="22860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$458</a:t>
            </a:r>
            <a:endParaRPr lang="en-US" sz="2600" dirty="0"/>
          </a:p>
        </p:txBody>
      </p:sp>
      <p:sp>
        <p:nvSpPr>
          <p:cNvPr id="16" name="Text 11"/>
          <p:cNvSpPr/>
          <p:nvPr/>
        </p:nvSpPr>
        <p:spPr>
          <a:xfrm>
            <a:off x="6368796" y="3154680"/>
            <a:ext cx="2286000" cy="36576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Avg. Order Value</a:t>
            </a:r>
            <a:endParaRPr lang="en-US" sz="1150" dirty="0"/>
          </a:p>
        </p:txBody>
      </p:sp>
      <p:sp>
        <p:nvSpPr>
          <p:cNvPr id="17" name="Shape 12"/>
          <p:cNvSpPr/>
          <p:nvPr/>
        </p:nvSpPr>
        <p:spPr>
          <a:xfrm>
            <a:off x="9020556" y="1920240"/>
            <a:ext cx="2651760" cy="1737360"/>
          </a:xfrm>
          <a:prstGeom prst="roundRect">
            <a:avLst>
              <a:gd name="adj" fmla="val 4737"/>
            </a:avLst>
          </a:prstGeom>
          <a:solidFill>
            <a:srgbClr val="0F2A5C"/>
          </a:solidFill>
          <a:ln/>
        </p:spPr>
      </p:sp>
      <p:pic>
        <p:nvPicPr>
          <p:cNvPr id="18" name="Image 3" descr="/home/claude/deck/icons/userFriends_cyan.png"/>
          <p:cNvPicPr>
            <a:picLocks noChangeAspect="1"/>
          </p:cNvPicPr>
          <p:nvPr/>
        </p:nvPicPr>
        <p:blipFill>
          <a:blip r:embed="rId6"/>
          <a:stretch>
            <a:fillRect/>
          </a:stretch>
        </p:blipFill>
        <p:spPr>
          <a:xfrm>
            <a:off x="9221724" y="2103120"/>
            <a:ext cx="329184" cy="329184"/>
          </a:xfrm>
          <a:prstGeom prst="rect">
            <a:avLst/>
          </a:prstGeom>
        </p:spPr>
      </p:pic>
      <p:sp>
        <p:nvSpPr>
          <p:cNvPr id="19" name="Text 13"/>
          <p:cNvSpPr/>
          <p:nvPr/>
        </p:nvSpPr>
        <p:spPr>
          <a:xfrm>
            <a:off x="9203436" y="2514600"/>
            <a:ext cx="22860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793</a:t>
            </a:r>
            <a:endParaRPr lang="en-US" sz="2600" dirty="0"/>
          </a:p>
        </p:txBody>
      </p:sp>
      <p:sp>
        <p:nvSpPr>
          <p:cNvPr id="20" name="Text 14"/>
          <p:cNvSpPr/>
          <p:nvPr/>
        </p:nvSpPr>
        <p:spPr>
          <a:xfrm>
            <a:off x="9203436" y="3154680"/>
            <a:ext cx="2286000" cy="36576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Total Customers</a:t>
            </a:r>
            <a:endParaRPr lang="en-US" sz="1150" dirty="0"/>
          </a:p>
        </p:txBody>
      </p:sp>
      <p:sp>
        <p:nvSpPr>
          <p:cNvPr id="21" name="Shape 15"/>
          <p:cNvSpPr/>
          <p:nvPr/>
        </p:nvSpPr>
        <p:spPr>
          <a:xfrm>
            <a:off x="1933956" y="3886200"/>
            <a:ext cx="2651760" cy="1737360"/>
          </a:xfrm>
          <a:prstGeom prst="roundRect">
            <a:avLst>
              <a:gd name="adj" fmla="val 4737"/>
            </a:avLst>
          </a:prstGeom>
          <a:solidFill>
            <a:srgbClr val="0F2A5C"/>
          </a:solidFill>
          <a:ln/>
        </p:spPr>
      </p:sp>
      <p:pic>
        <p:nvPicPr>
          <p:cNvPr id="22" name="Image 4" descr="/home/claude/deck/icons/boxes_cyan.png"/>
          <p:cNvPicPr>
            <a:picLocks noChangeAspect="1"/>
          </p:cNvPicPr>
          <p:nvPr/>
        </p:nvPicPr>
        <p:blipFill>
          <a:blip r:embed="rId7"/>
          <a:stretch>
            <a:fillRect/>
          </a:stretch>
        </p:blipFill>
        <p:spPr>
          <a:xfrm>
            <a:off x="2135124" y="4069080"/>
            <a:ext cx="329184" cy="329184"/>
          </a:xfrm>
          <a:prstGeom prst="rect">
            <a:avLst/>
          </a:prstGeom>
        </p:spPr>
      </p:pic>
      <p:sp>
        <p:nvSpPr>
          <p:cNvPr id="23" name="Text 16"/>
          <p:cNvSpPr/>
          <p:nvPr/>
        </p:nvSpPr>
        <p:spPr>
          <a:xfrm>
            <a:off x="2116836" y="4480560"/>
            <a:ext cx="22860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5,009</a:t>
            </a:r>
            <a:endParaRPr lang="en-US" sz="2600" dirty="0"/>
          </a:p>
        </p:txBody>
      </p:sp>
      <p:sp>
        <p:nvSpPr>
          <p:cNvPr id="24" name="Text 17"/>
          <p:cNvSpPr/>
          <p:nvPr/>
        </p:nvSpPr>
        <p:spPr>
          <a:xfrm>
            <a:off x="2116836" y="5120640"/>
            <a:ext cx="2286000" cy="36576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Total Orders</a:t>
            </a:r>
            <a:endParaRPr lang="en-US" sz="1150" dirty="0"/>
          </a:p>
        </p:txBody>
      </p:sp>
      <p:sp>
        <p:nvSpPr>
          <p:cNvPr id="25" name="Shape 18"/>
          <p:cNvSpPr/>
          <p:nvPr/>
        </p:nvSpPr>
        <p:spPr>
          <a:xfrm>
            <a:off x="4768596" y="3886200"/>
            <a:ext cx="2651760" cy="1737360"/>
          </a:xfrm>
          <a:prstGeom prst="roundRect">
            <a:avLst>
              <a:gd name="adj" fmla="val 4737"/>
            </a:avLst>
          </a:prstGeom>
          <a:solidFill>
            <a:srgbClr val="0F2A5C"/>
          </a:solidFill>
          <a:ln/>
        </p:spPr>
      </p:sp>
      <p:pic>
        <p:nvPicPr>
          <p:cNvPr id="26" name="Image 5" descr="/home/claude/deck/icons/percentage_cyan.png"/>
          <p:cNvPicPr>
            <a:picLocks noChangeAspect="1"/>
          </p:cNvPicPr>
          <p:nvPr/>
        </p:nvPicPr>
        <p:blipFill>
          <a:blip r:embed="rId8"/>
          <a:stretch>
            <a:fillRect/>
          </a:stretch>
        </p:blipFill>
        <p:spPr>
          <a:xfrm>
            <a:off x="4969764" y="4069080"/>
            <a:ext cx="329184" cy="329184"/>
          </a:xfrm>
          <a:prstGeom prst="rect">
            <a:avLst/>
          </a:prstGeom>
        </p:spPr>
      </p:pic>
      <p:sp>
        <p:nvSpPr>
          <p:cNvPr id="27" name="Text 19"/>
          <p:cNvSpPr/>
          <p:nvPr/>
        </p:nvSpPr>
        <p:spPr>
          <a:xfrm>
            <a:off x="4951476" y="4480560"/>
            <a:ext cx="22860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12.4%</a:t>
            </a:r>
            <a:endParaRPr lang="en-US" sz="2600" dirty="0"/>
          </a:p>
        </p:txBody>
      </p:sp>
      <p:sp>
        <p:nvSpPr>
          <p:cNvPr id="28" name="Text 20"/>
          <p:cNvSpPr/>
          <p:nvPr/>
        </p:nvSpPr>
        <p:spPr>
          <a:xfrm>
            <a:off x="4951476" y="5120640"/>
            <a:ext cx="2286000" cy="36576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Profit Margin</a:t>
            </a:r>
            <a:endParaRPr lang="en-US" sz="1150" dirty="0"/>
          </a:p>
        </p:txBody>
      </p:sp>
      <p:sp>
        <p:nvSpPr>
          <p:cNvPr id="29" name="Shape 21"/>
          <p:cNvSpPr/>
          <p:nvPr/>
        </p:nvSpPr>
        <p:spPr>
          <a:xfrm>
            <a:off x="7603236" y="3886200"/>
            <a:ext cx="2651760" cy="1737360"/>
          </a:xfrm>
          <a:prstGeom prst="roundRect">
            <a:avLst>
              <a:gd name="adj" fmla="val 4737"/>
            </a:avLst>
          </a:prstGeom>
          <a:solidFill>
            <a:srgbClr val="0F2A5C"/>
          </a:solidFill>
          <a:ln/>
        </p:spPr>
      </p:sp>
      <p:pic>
        <p:nvPicPr>
          <p:cNvPr id="30" name="Image 6" descr="/home/claude/deck/icons/repeat_cyan.png"/>
          <p:cNvPicPr>
            <a:picLocks noChangeAspect="1"/>
          </p:cNvPicPr>
          <p:nvPr/>
        </p:nvPicPr>
        <p:blipFill>
          <a:blip r:embed="rId9"/>
          <a:stretch>
            <a:fillRect/>
          </a:stretch>
        </p:blipFill>
        <p:spPr>
          <a:xfrm>
            <a:off x="7804404" y="4069080"/>
            <a:ext cx="329184" cy="329184"/>
          </a:xfrm>
          <a:prstGeom prst="rect">
            <a:avLst/>
          </a:prstGeom>
        </p:spPr>
      </p:pic>
      <p:sp>
        <p:nvSpPr>
          <p:cNvPr id="31" name="Text 22"/>
          <p:cNvSpPr/>
          <p:nvPr/>
        </p:nvSpPr>
        <p:spPr>
          <a:xfrm>
            <a:off x="7786116" y="4480560"/>
            <a:ext cx="22860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68%</a:t>
            </a:r>
            <a:endParaRPr lang="en-US" sz="2600" dirty="0"/>
          </a:p>
        </p:txBody>
      </p:sp>
      <p:sp>
        <p:nvSpPr>
          <p:cNvPr id="32" name="Text 23"/>
          <p:cNvSpPr/>
          <p:nvPr/>
        </p:nvSpPr>
        <p:spPr>
          <a:xfrm>
            <a:off x="7786116" y="5120640"/>
            <a:ext cx="2286000" cy="36576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Repeat Customers</a:t>
            </a:r>
            <a:endParaRPr lang="en-US" sz="1150" dirty="0"/>
          </a:p>
        </p:txBody>
      </p:sp>
      <p:sp>
        <p:nvSpPr>
          <p:cNvPr id="33" name="Text 24"/>
          <p:cNvSpPr/>
          <p:nvPr/>
        </p:nvSpPr>
        <p:spPr>
          <a:xfrm>
            <a:off x="548640" y="6263640"/>
            <a:ext cx="11064240" cy="320040"/>
          </a:xfrm>
          <a:prstGeom prst="rect">
            <a:avLst/>
          </a:prstGeom>
          <a:noFill/>
          <a:ln/>
        </p:spPr>
        <p:txBody>
          <a:bodyPr wrap="square" lIns="0" tIns="0" rIns="0" bIns="0"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Illustrative figures based on the Superstore dataset scale — final values are computed directly from cleaned_sales.csv</a:t>
            </a:r>
            <a:endParaRPr lang="en-US" sz="950" dirty="0"/>
          </a:p>
        </p:txBody>
      </p:sp>
      <p:sp>
        <p:nvSpPr>
          <p:cNvPr id="35" name="Text 25"/>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DATA LAYER</a:t>
            </a:r>
            <a:endParaRPr lang="en-US" sz="1200" dirty="0"/>
          </a:p>
        </p:txBody>
      </p:sp>
      <p:sp>
        <p:nvSpPr>
          <p:cNvPr id="3" name="Text 1"/>
          <p:cNvSpPr/>
          <p:nvPr/>
        </p:nvSpPr>
        <p:spPr>
          <a:xfrm>
            <a:off x="548640" y="621792"/>
            <a:ext cx="10881360" cy="7315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SQL Database Design</a:t>
            </a:r>
            <a:endParaRPr lang="en-US" sz="30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A normalized MySQL schema behind the analytics</a:t>
            </a:r>
            <a:endParaRPr lang="en-US" sz="1400" dirty="0"/>
          </a:p>
        </p:txBody>
      </p:sp>
      <p:sp>
        <p:nvSpPr>
          <p:cNvPr id="5" name="Shape 3"/>
          <p:cNvSpPr/>
          <p:nvPr/>
        </p:nvSpPr>
        <p:spPr>
          <a:xfrm>
            <a:off x="731520" y="2103120"/>
            <a:ext cx="3017520" cy="2286000"/>
          </a:xfrm>
          <a:prstGeom prst="roundRect">
            <a:avLst>
              <a:gd name="adj" fmla="val 2400"/>
            </a:avLst>
          </a:prstGeom>
          <a:solidFill>
            <a:srgbClr val="FFFFFF"/>
          </a:solidFill>
          <a:ln w="15875">
            <a:solidFill>
              <a:srgbClr val="0A1F44"/>
            </a:solidFill>
            <a:prstDash val="solid"/>
          </a:ln>
          <a:effectLst>
            <a:outerShdw blurRad="101600" dist="38100" dir="5400000" algn="bl" rotWithShape="0">
              <a:srgbClr val="000000">
                <a:alpha val="10000"/>
              </a:srgbClr>
            </a:outerShdw>
          </a:effectLst>
        </p:spPr>
      </p:sp>
      <p:sp>
        <p:nvSpPr>
          <p:cNvPr id="6" name="Shape 4"/>
          <p:cNvSpPr/>
          <p:nvPr/>
        </p:nvSpPr>
        <p:spPr>
          <a:xfrm>
            <a:off x="731520" y="2103120"/>
            <a:ext cx="3017520" cy="457200"/>
          </a:xfrm>
          <a:prstGeom prst="rect">
            <a:avLst/>
          </a:prstGeom>
          <a:solidFill>
            <a:srgbClr val="0A1F44"/>
          </a:solidFill>
          <a:ln/>
        </p:spPr>
      </p:sp>
      <p:sp>
        <p:nvSpPr>
          <p:cNvPr id="7" name="Text 5"/>
          <p:cNvSpPr/>
          <p:nvPr/>
        </p:nvSpPr>
        <p:spPr>
          <a:xfrm>
            <a:off x="731520" y="2103120"/>
            <a:ext cx="3017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Customers</a:t>
            </a:r>
            <a:endParaRPr lang="en-US" sz="1400" dirty="0"/>
          </a:p>
        </p:txBody>
      </p:sp>
      <p:sp>
        <p:nvSpPr>
          <p:cNvPr id="8" name="Text 6"/>
          <p:cNvSpPr/>
          <p:nvPr/>
        </p:nvSpPr>
        <p:spPr>
          <a:xfrm>
            <a:off x="914400" y="2697480"/>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customer_id (PK)</a:t>
            </a:r>
            <a:endParaRPr lang="en-US" sz="1050" dirty="0"/>
          </a:p>
        </p:txBody>
      </p:sp>
      <p:sp>
        <p:nvSpPr>
          <p:cNvPr id="9" name="Text 7"/>
          <p:cNvSpPr/>
          <p:nvPr/>
        </p:nvSpPr>
        <p:spPr>
          <a:xfrm>
            <a:off x="914400" y="3044952"/>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customer_name</a:t>
            </a:r>
            <a:endParaRPr lang="en-US" sz="1050" dirty="0"/>
          </a:p>
        </p:txBody>
      </p:sp>
      <p:sp>
        <p:nvSpPr>
          <p:cNvPr id="10" name="Text 8"/>
          <p:cNvSpPr/>
          <p:nvPr/>
        </p:nvSpPr>
        <p:spPr>
          <a:xfrm>
            <a:off x="914400" y="3392424"/>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segment</a:t>
            </a:r>
            <a:endParaRPr lang="en-US" sz="1050" dirty="0"/>
          </a:p>
        </p:txBody>
      </p:sp>
      <p:sp>
        <p:nvSpPr>
          <p:cNvPr id="11" name="Text 9"/>
          <p:cNvSpPr/>
          <p:nvPr/>
        </p:nvSpPr>
        <p:spPr>
          <a:xfrm>
            <a:off x="914400" y="3739896"/>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region</a:t>
            </a:r>
            <a:endParaRPr lang="en-US" sz="1050" dirty="0"/>
          </a:p>
        </p:txBody>
      </p:sp>
      <p:sp>
        <p:nvSpPr>
          <p:cNvPr id="12" name="Shape 10"/>
          <p:cNvSpPr/>
          <p:nvPr/>
        </p:nvSpPr>
        <p:spPr>
          <a:xfrm>
            <a:off x="4480560" y="2103120"/>
            <a:ext cx="3017520" cy="2286000"/>
          </a:xfrm>
          <a:prstGeom prst="roundRect">
            <a:avLst>
              <a:gd name="adj" fmla="val 2400"/>
            </a:avLst>
          </a:prstGeom>
          <a:solidFill>
            <a:srgbClr val="FFFFFF"/>
          </a:solidFill>
          <a:ln w="15875">
            <a:solidFill>
              <a:srgbClr val="0A1F44"/>
            </a:solidFill>
            <a:prstDash val="solid"/>
          </a:ln>
          <a:effectLst>
            <a:outerShdw blurRad="101600" dist="38100" dir="5400000" algn="bl" rotWithShape="0">
              <a:srgbClr val="000000">
                <a:alpha val="10000"/>
              </a:srgbClr>
            </a:outerShdw>
          </a:effectLst>
        </p:spPr>
      </p:sp>
      <p:sp>
        <p:nvSpPr>
          <p:cNvPr id="13" name="Shape 11"/>
          <p:cNvSpPr/>
          <p:nvPr/>
        </p:nvSpPr>
        <p:spPr>
          <a:xfrm>
            <a:off x="4480560" y="2103120"/>
            <a:ext cx="3017520" cy="457200"/>
          </a:xfrm>
          <a:prstGeom prst="rect">
            <a:avLst/>
          </a:prstGeom>
          <a:solidFill>
            <a:srgbClr val="0A1F44"/>
          </a:solidFill>
          <a:ln/>
        </p:spPr>
      </p:sp>
      <p:sp>
        <p:nvSpPr>
          <p:cNvPr id="14" name="Text 12"/>
          <p:cNvSpPr/>
          <p:nvPr/>
        </p:nvSpPr>
        <p:spPr>
          <a:xfrm>
            <a:off x="4480560" y="2103120"/>
            <a:ext cx="3017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Orders</a:t>
            </a:r>
            <a:endParaRPr lang="en-US" sz="1400" dirty="0"/>
          </a:p>
        </p:txBody>
      </p:sp>
      <p:sp>
        <p:nvSpPr>
          <p:cNvPr id="15" name="Text 13"/>
          <p:cNvSpPr/>
          <p:nvPr/>
        </p:nvSpPr>
        <p:spPr>
          <a:xfrm>
            <a:off x="4663440" y="2697480"/>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order_id (PK)</a:t>
            </a:r>
            <a:endParaRPr lang="en-US" sz="1050" dirty="0"/>
          </a:p>
        </p:txBody>
      </p:sp>
      <p:sp>
        <p:nvSpPr>
          <p:cNvPr id="16" name="Text 14"/>
          <p:cNvSpPr/>
          <p:nvPr/>
        </p:nvSpPr>
        <p:spPr>
          <a:xfrm>
            <a:off x="4663440" y="3044952"/>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customer_id (FK)</a:t>
            </a:r>
            <a:endParaRPr lang="en-US" sz="1050" dirty="0"/>
          </a:p>
        </p:txBody>
      </p:sp>
      <p:sp>
        <p:nvSpPr>
          <p:cNvPr id="17" name="Text 15"/>
          <p:cNvSpPr/>
          <p:nvPr/>
        </p:nvSpPr>
        <p:spPr>
          <a:xfrm>
            <a:off x="4663440" y="3392424"/>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order_date</a:t>
            </a:r>
            <a:endParaRPr lang="en-US" sz="1050" dirty="0"/>
          </a:p>
        </p:txBody>
      </p:sp>
      <p:sp>
        <p:nvSpPr>
          <p:cNvPr id="18" name="Text 16"/>
          <p:cNvSpPr/>
          <p:nvPr/>
        </p:nvSpPr>
        <p:spPr>
          <a:xfrm>
            <a:off x="4663440" y="3739896"/>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ship_date</a:t>
            </a:r>
            <a:endParaRPr lang="en-US" sz="1050" dirty="0"/>
          </a:p>
        </p:txBody>
      </p:sp>
      <p:sp>
        <p:nvSpPr>
          <p:cNvPr id="19" name="Text 17"/>
          <p:cNvSpPr/>
          <p:nvPr/>
        </p:nvSpPr>
        <p:spPr>
          <a:xfrm>
            <a:off x="4663440" y="4087368"/>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ship_mode</a:t>
            </a:r>
            <a:endParaRPr lang="en-US" sz="1050" dirty="0"/>
          </a:p>
        </p:txBody>
      </p:sp>
      <p:sp>
        <p:nvSpPr>
          <p:cNvPr id="20" name="Shape 18"/>
          <p:cNvSpPr/>
          <p:nvPr/>
        </p:nvSpPr>
        <p:spPr>
          <a:xfrm>
            <a:off x="8229600" y="2103120"/>
            <a:ext cx="3017520" cy="2286000"/>
          </a:xfrm>
          <a:prstGeom prst="roundRect">
            <a:avLst>
              <a:gd name="adj" fmla="val 2400"/>
            </a:avLst>
          </a:prstGeom>
          <a:solidFill>
            <a:srgbClr val="FFFFFF"/>
          </a:solidFill>
          <a:ln w="15875">
            <a:solidFill>
              <a:srgbClr val="0A1F44"/>
            </a:solidFill>
            <a:prstDash val="solid"/>
          </a:ln>
          <a:effectLst>
            <a:outerShdw blurRad="101600" dist="38100" dir="5400000" algn="bl" rotWithShape="0">
              <a:srgbClr val="000000">
                <a:alpha val="10000"/>
              </a:srgbClr>
            </a:outerShdw>
          </a:effectLst>
        </p:spPr>
      </p:sp>
      <p:sp>
        <p:nvSpPr>
          <p:cNvPr id="21" name="Shape 19"/>
          <p:cNvSpPr/>
          <p:nvPr/>
        </p:nvSpPr>
        <p:spPr>
          <a:xfrm>
            <a:off x="8229600" y="2103120"/>
            <a:ext cx="3017520" cy="457200"/>
          </a:xfrm>
          <a:prstGeom prst="rect">
            <a:avLst/>
          </a:prstGeom>
          <a:solidFill>
            <a:srgbClr val="0A1F44"/>
          </a:solidFill>
          <a:ln/>
        </p:spPr>
      </p:sp>
      <p:sp>
        <p:nvSpPr>
          <p:cNvPr id="22" name="Text 20"/>
          <p:cNvSpPr/>
          <p:nvPr/>
        </p:nvSpPr>
        <p:spPr>
          <a:xfrm>
            <a:off x="8229600" y="2103120"/>
            <a:ext cx="3017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Products</a:t>
            </a:r>
            <a:endParaRPr lang="en-US" sz="1400" dirty="0"/>
          </a:p>
        </p:txBody>
      </p:sp>
      <p:sp>
        <p:nvSpPr>
          <p:cNvPr id="23" name="Text 21"/>
          <p:cNvSpPr/>
          <p:nvPr/>
        </p:nvSpPr>
        <p:spPr>
          <a:xfrm>
            <a:off x="8412480" y="2697480"/>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product_id (PK)</a:t>
            </a:r>
            <a:endParaRPr lang="en-US" sz="1050" dirty="0"/>
          </a:p>
        </p:txBody>
      </p:sp>
      <p:sp>
        <p:nvSpPr>
          <p:cNvPr id="24" name="Text 22"/>
          <p:cNvSpPr/>
          <p:nvPr/>
        </p:nvSpPr>
        <p:spPr>
          <a:xfrm>
            <a:off x="8412480" y="3044952"/>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category</a:t>
            </a:r>
            <a:endParaRPr lang="en-US" sz="1050" dirty="0"/>
          </a:p>
        </p:txBody>
      </p:sp>
      <p:sp>
        <p:nvSpPr>
          <p:cNvPr id="25" name="Text 23"/>
          <p:cNvSpPr/>
          <p:nvPr/>
        </p:nvSpPr>
        <p:spPr>
          <a:xfrm>
            <a:off x="8412480" y="3392424"/>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sub_category</a:t>
            </a:r>
            <a:endParaRPr lang="en-US" sz="1050" dirty="0"/>
          </a:p>
        </p:txBody>
      </p:sp>
      <p:sp>
        <p:nvSpPr>
          <p:cNvPr id="26" name="Text 24"/>
          <p:cNvSpPr/>
          <p:nvPr/>
        </p:nvSpPr>
        <p:spPr>
          <a:xfrm>
            <a:off x="8412480" y="3739896"/>
            <a:ext cx="2651760" cy="29260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product_name</a:t>
            </a:r>
            <a:endParaRPr lang="en-US" sz="1050" dirty="0"/>
          </a:p>
        </p:txBody>
      </p:sp>
      <p:sp>
        <p:nvSpPr>
          <p:cNvPr id="27" name="Shape 25"/>
          <p:cNvSpPr/>
          <p:nvPr/>
        </p:nvSpPr>
        <p:spPr>
          <a:xfrm>
            <a:off x="3749040" y="3246120"/>
            <a:ext cx="731520" cy="0"/>
          </a:xfrm>
          <a:prstGeom prst="line">
            <a:avLst/>
          </a:prstGeom>
          <a:noFill/>
          <a:ln w="19050">
            <a:solidFill>
              <a:srgbClr val="0891B2"/>
            </a:solidFill>
            <a:prstDash val="solid"/>
          </a:ln>
        </p:spPr>
      </p:sp>
      <p:sp>
        <p:nvSpPr>
          <p:cNvPr id="28" name="Text 26"/>
          <p:cNvSpPr/>
          <p:nvPr/>
        </p:nvSpPr>
        <p:spPr>
          <a:xfrm>
            <a:off x="3886200" y="2926080"/>
            <a:ext cx="640080" cy="27432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1 : N</a:t>
            </a:r>
            <a:endParaRPr lang="en-US" sz="1000" dirty="0"/>
          </a:p>
        </p:txBody>
      </p:sp>
      <p:sp>
        <p:nvSpPr>
          <p:cNvPr id="29" name="Shape 27"/>
          <p:cNvSpPr/>
          <p:nvPr/>
        </p:nvSpPr>
        <p:spPr>
          <a:xfrm>
            <a:off x="7498080" y="3246120"/>
            <a:ext cx="731520" cy="0"/>
          </a:xfrm>
          <a:prstGeom prst="line">
            <a:avLst/>
          </a:prstGeom>
          <a:noFill/>
          <a:ln w="19050">
            <a:solidFill>
              <a:srgbClr val="0891B2"/>
            </a:solidFill>
            <a:prstDash val="solid"/>
          </a:ln>
        </p:spPr>
      </p:sp>
      <p:sp>
        <p:nvSpPr>
          <p:cNvPr id="30" name="Text 28"/>
          <p:cNvSpPr/>
          <p:nvPr/>
        </p:nvSpPr>
        <p:spPr>
          <a:xfrm>
            <a:off x="7589520" y="2926080"/>
            <a:ext cx="640080" cy="27432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N : 1</a:t>
            </a:r>
            <a:endParaRPr lang="en-US" sz="1000" dirty="0"/>
          </a:p>
        </p:txBody>
      </p:sp>
      <p:sp>
        <p:nvSpPr>
          <p:cNvPr id="31" name="Text 29"/>
          <p:cNvSpPr/>
          <p:nvPr/>
        </p:nvSpPr>
        <p:spPr>
          <a:xfrm>
            <a:off x="731520" y="4754880"/>
            <a:ext cx="365760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Beyond Tables</a:t>
            </a:r>
            <a:endParaRPr lang="en-US" sz="1300" dirty="0"/>
          </a:p>
        </p:txBody>
      </p:sp>
      <p:sp>
        <p:nvSpPr>
          <p:cNvPr id="32" name="Shape 30"/>
          <p:cNvSpPr/>
          <p:nvPr/>
        </p:nvSpPr>
        <p:spPr>
          <a:xfrm>
            <a:off x="731520" y="5120640"/>
            <a:ext cx="2624328" cy="1051560"/>
          </a:xfrm>
          <a:prstGeom prst="roundRect">
            <a:avLst>
              <a:gd name="adj" fmla="val 6087"/>
            </a:avLst>
          </a:prstGeom>
          <a:solidFill>
            <a:srgbClr val="F1F5F9"/>
          </a:solidFill>
          <a:ln/>
        </p:spPr>
      </p:sp>
      <p:sp>
        <p:nvSpPr>
          <p:cNvPr id="33" name="Text 31"/>
          <p:cNvSpPr/>
          <p:nvPr/>
        </p:nvSpPr>
        <p:spPr>
          <a:xfrm>
            <a:off x="868680" y="5212080"/>
            <a:ext cx="2350008" cy="274320"/>
          </a:xfrm>
          <a:prstGeom prst="rect">
            <a:avLst/>
          </a:prstGeom>
          <a:noFill/>
          <a:ln/>
        </p:spPr>
        <p:txBody>
          <a:bodyPr wrap="square" lIns="0" tIns="0" rIns="0" bIns="0" rtlCol="0" anchor="ctr"/>
          <a:lstStyle/>
          <a:p>
            <a:pPr marL="0" indent="0">
              <a:buNone/>
            </a:pPr>
            <a:r>
              <a:rPr lang="en-US" sz="1200" b="1" dirty="0">
                <a:solidFill>
                  <a:srgbClr val="0A1F44"/>
                </a:solidFill>
                <a:latin typeface="Calibri" pitchFamily="34" charset="0"/>
                <a:ea typeface="Calibri" pitchFamily="34" charset="-122"/>
                <a:cs typeface="Calibri" pitchFamily="34" charset="-120"/>
              </a:rPr>
              <a:t>Views</a:t>
            </a:r>
            <a:endParaRPr lang="en-US" sz="1200" dirty="0"/>
          </a:p>
        </p:txBody>
      </p:sp>
      <p:sp>
        <p:nvSpPr>
          <p:cNvPr id="34" name="Text 32"/>
          <p:cNvSpPr/>
          <p:nvPr/>
        </p:nvSpPr>
        <p:spPr>
          <a:xfrm>
            <a:off x="868680" y="5504688"/>
            <a:ext cx="2350008" cy="5943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Pre-joined sales summaries for reporting</a:t>
            </a:r>
            <a:endParaRPr lang="en-US" sz="950" dirty="0"/>
          </a:p>
        </p:txBody>
      </p:sp>
      <p:sp>
        <p:nvSpPr>
          <p:cNvPr id="35" name="Shape 33"/>
          <p:cNvSpPr/>
          <p:nvPr/>
        </p:nvSpPr>
        <p:spPr>
          <a:xfrm>
            <a:off x="3493008" y="5120640"/>
            <a:ext cx="2624328" cy="1051560"/>
          </a:xfrm>
          <a:prstGeom prst="roundRect">
            <a:avLst>
              <a:gd name="adj" fmla="val 6087"/>
            </a:avLst>
          </a:prstGeom>
          <a:solidFill>
            <a:srgbClr val="F1F5F9"/>
          </a:solidFill>
          <a:ln/>
        </p:spPr>
      </p:sp>
      <p:sp>
        <p:nvSpPr>
          <p:cNvPr id="36" name="Text 34"/>
          <p:cNvSpPr/>
          <p:nvPr/>
        </p:nvSpPr>
        <p:spPr>
          <a:xfrm>
            <a:off x="3630168" y="5212080"/>
            <a:ext cx="2350008" cy="274320"/>
          </a:xfrm>
          <a:prstGeom prst="rect">
            <a:avLst/>
          </a:prstGeom>
          <a:noFill/>
          <a:ln/>
        </p:spPr>
        <p:txBody>
          <a:bodyPr wrap="square" lIns="0" tIns="0" rIns="0" bIns="0" rtlCol="0" anchor="ctr"/>
          <a:lstStyle/>
          <a:p>
            <a:pPr marL="0" indent="0">
              <a:buNone/>
            </a:pPr>
            <a:r>
              <a:rPr lang="en-US" sz="1200" b="1" dirty="0">
                <a:solidFill>
                  <a:srgbClr val="0A1F44"/>
                </a:solidFill>
                <a:latin typeface="Calibri" pitchFamily="34" charset="0"/>
                <a:ea typeface="Calibri" pitchFamily="34" charset="-122"/>
                <a:cs typeface="Calibri" pitchFamily="34" charset="-120"/>
              </a:rPr>
              <a:t>Stored Procedures</a:t>
            </a:r>
            <a:endParaRPr lang="en-US" sz="1200" dirty="0"/>
          </a:p>
        </p:txBody>
      </p:sp>
      <p:sp>
        <p:nvSpPr>
          <p:cNvPr id="37" name="Text 35"/>
          <p:cNvSpPr/>
          <p:nvPr/>
        </p:nvSpPr>
        <p:spPr>
          <a:xfrm>
            <a:off x="3630168" y="5504688"/>
            <a:ext cx="2350008" cy="5943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Reusable logic for monthly/regional rollups</a:t>
            </a:r>
            <a:endParaRPr lang="en-US" sz="950" dirty="0"/>
          </a:p>
        </p:txBody>
      </p:sp>
      <p:sp>
        <p:nvSpPr>
          <p:cNvPr id="38" name="Shape 36"/>
          <p:cNvSpPr/>
          <p:nvPr/>
        </p:nvSpPr>
        <p:spPr>
          <a:xfrm>
            <a:off x="6254496" y="5120640"/>
            <a:ext cx="2624328" cy="1051560"/>
          </a:xfrm>
          <a:prstGeom prst="roundRect">
            <a:avLst>
              <a:gd name="adj" fmla="val 6087"/>
            </a:avLst>
          </a:prstGeom>
          <a:solidFill>
            <a:srgbClr val="F1F5F9"/>
          </a:solidFill>
          <a:ln/>
        </p:spPr>
      </p:sp>
      <p:sp>
        <p:nvSpPr>
          <p:cNvPr id="39" name="Text 37"/>
          <p:cNvSpPr/>
          <p:nvPr/>
        </p:nvSpPr>
        <p:spPr>
          <a:xfrm>
            <a:off x="6391656" y="5212080"/>
            <a:ext cx="2350008" cy="274320"/>
          </a:xfrm>
          <a:prstGeom prst="rect">
            <a:avLst/>
          </a:prstGeom>
          <a:noFill/>
          <a:ln/>
        </p:spPr>
        <p:txBody>
          <a:bodyPr wrap="square" lIns="0" tIns="0" rIns="0" bIns="0" rtlCol="0" anchor="ctr"/>
          <a:lstStyle/>
          <a:p>
            <a:pPr marL="0" indent="0">
              <a:buNone/>
            </a:pPr>
            <a:r>
              <a:rPr lang="en-US" sz="1200" b="1" dirty="0">
                <a:solidFill>
                  <a:srgbClr val="0A1F44"/>
                </a:solidFill>
                <a:latin typeface="Calibri" pitchFamily="34" charset="0"/>
                <a:ea typeface="Calibri" pitchFamily="34" charset="-122"/>
                <a:cs typeface="Calibri" pitchFamily="34" charset="-120"/>
              </a:rPr>
              <a:t>Window Functions</a:t>
            </a:r>
            <a:endParaRPr lang="en-US" sz="1200" dirty="0"/>
          </a:p>
        </p:txBody>
      </p:sp>
      <p:sp>
        <p:nvSpPr>
          <p:cNvPr id="40" name="Text 38"/>
          <p:cNvSpPr/>
          <p:nvPr/>
        </p:nvSpPr>
        <p:spPr>
          <a:xfrm>
            <a:off x="6391656" y="5504688"/>
            <a:ext cx="2350008" cy="5943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Running totals &amp; rank customers by spend</a:t>
            </a:r>
            <a:endParaRPr lang="en-US" sz="950" dirty="0"/>
          </a:p>
        </p:txBody>
      </p:sp>
      <p:sp>
        <p:nvSpPr>
          <p:cNvPr id="41" name="Shape 39"/>
          <p:cNvSpPr/>
          <p:nvPr/>
        </p:nvSpPr>
        <p:spPr>
          <a:xfrm>
            <a:off x="9015984" y="5120640"/>
            <a:ext cx="2624328" cy="1051560"/>
          </a:xfrm>
          <a:prstGeom prst="roundRect">
            <a:avLst>
              <a:gd name="adj" fmla="val 6087"/>
            </a:avLst>
          </a:prstGeom>
          <a:solidFill>
            <a:srgbClr val="F1F5F9"/>
          </a:solidFill>
          <a:ln/>
        </p:spPr>
      </p:sp>
      <p:sp>
        <p:nvSpPr>
          <p:cNvPr id="42" name="Text 40"/>
          <p:cNvSpPr/>
          <p:nvPr/>
        </p:nvSpPr>
        <p:spPr>
          <a:xfrm>
            <a:off x="9153144" y="5212080"/>
            <a:ext cx="2350008" cy="274320"/>
          </a:xfrm>
          <a:prstGeom prst="rect">
            <a:avLst/>
          </a:prstGeom>
          <a:noFill/>
          <a:ln/>
        </p:spPr>
        <p:txBody>
          <a:bodyPr wrap="square" lIns="0" tIns="0" rIns="0" bIns="0" rtlCol="0" anchor="ctr"/>
          <a:lstStyle/>
          <a:p>
            <a:pPr marL="0" indent="0">
              <a:buNone/>
            </a:pPr>
            <a:r>
              <a:rPr lang="en-US" sz="1200" b="1" dirty="0">
                <a:solidFill>
                  <a:srgbClr val="0A1F44"/>
                </a:solidFill>
                <a:latin typeface="Calibri" pitchFamily="34" charset="0"/>
                <a:ea typeface="Calibri" pitchFamily="34" charset="-122"/>
                <a:cs typeface="Calibri" pitchFamily="34" charset="-120"/>
              </a:rPr>
              <a:t>Aggregate Queries</a:t>
            </a:r>
            <a:endParaRPr lang="en-US" sz="1200" dirty="0"/>
          </a:p>
        </p:txBody>
      </p:sp>
      <p:sp>
        <p:nvSpPr>
          <p:cNvPr id="43" name="Text 41"/>
          <p:cNvSpPr/>
          <p:nvPr/>
        </p:nvSpPr>
        <p:spPr>
          <a:xfrm>
            <a:off x="9153144" y="5504688"/>
            <a:ext cx="2350008" cy="5943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GROUP BY revenue, profit, and order counts</a:t>
            </a:r>
            <a:endParaRPr lang="en-US" sz="950" dirty="0"/>
          </a:p>
        </p:txBody>
      </p:sp>
      <p:sp>
        <p:nvSpPr>
          <p:cNvPr id="45" name="Text 42"/>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44"/>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INTELLIGENCE LAYER</a:t>
            </a:r>
            <a:endParaRPr lang="en-US" sz="1200" dirty="0"/>
          </a:p>
        </p:txBody>
      </p:sp>
      <p:sp>
        <p:nvSpPr>
          <p:cNvPr id="3" name="Text 1"/>
          <p:cNvSpPr/>
          <p:nvPr/>
        </p:nvSpPr>
        <p:spPr>
          <a:xfrm>
            <a:off x="548640" y="621792"/>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Machine Learning</a:t>
            </a:r>
            <a:endParaRPr lang="en-US" sz="3200" dirty="0"/>
          </a:p>
        </p:txBody>
      </p:sp>
      <p:sp>
        <p:nvSpPr>
          <p:cNvPr id="4" name="Text 2"/>
          <p:cNvSpPr/>
          <p:nvPr/>
        </p:nvSpPr>
        <p:spPr>
          <a:xfrm>
            <a:off x="548640" y="1234440"/>
            <a:ext cx="10515600" cy="45720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Two complementary models turn history into foresight</a:t>
            </a:r>
            <a:endParaRPr lang="en-US" sz="1500" dirty="0"/>
          </a:p>
        </p:txBody>
      </p:sp>
      <p:sp>
        <p:nvSpPr>
          <p:cNvPr id="5" name="Shape 3"/>
          <p:cNvSpPr/>
          <p:nvPr/>
        </p:nvSpPr>
        <p:spPr>
          <a:xfrm>
            <a:off x="653796" y="1965960"/>
            <a:ext cx="5212080" cy="3840480"/>
          </a:xfrm>
          <a:prstGeom prst="roundRect">
            <a:avLst>
              <a:gd name="adj" fmla="val 2143"/>
            </a:avLst>
          </a:prstGeom>
          <a:solidFill>
            <a:srgbClr val="0F2A5C"/>
          </a:solidFill>
          <a:ln/>
          <a:effectLst>
            <a:outerShdw blurRad="152400" dist="50800" dir="5400000" algn="bl" rotWithShape="0">
              <a:srgbClr val="000000">
                <a:alpha val="16000"/>
              </a:srgbClr>
            </a:outerShdw>
          </a:effectLst>
        </p:spPr>
      </p:sp>
      <p:sp>
        <p:nvSpPr>
          <p:cNvPr id="6" name="Shape 4"/>
          <p:cNvSpPr/>
          <p:nvPr/>
        </p:nvSpPr>
        <p:spPr>
          <a:xfrm>
            <a:off x="928116" y="2240280"/>
            <a:ext cx="640080" cy="640080"/>
          </a:xfrm>
          <a:prstGeom prst="ellipse">
            <a:avLst/>
          </a:prstGeom>
          <a:solidFill>
            <a:srgbClr val="0F3460"/>
          </a:solidFill>
          <a:ln/>
        </p:spPr>
      </p:sp>
      <p:pic>
        <p:nvPicPr>
          <p:cNvPr id="7" name="Image 0" descr="/home/claude/deck/icons/chartLine_cyan.png"/>
          <p:cNvPicPr>
            <a:picLocks noChangeAspect="1"/>
          </p:cNvPicPr>
          <p:nvPr/>
        </p:nvPicPr>
        <p:blipFill>
          <a:blip r:embed="rId3"/>
          <a:stretch>
            <a:fillRect/>
          </a:stretch>
        </p:blipFill>
        <p:spPr>
          <a:xfrm>
            <a:off x="1074420" y="2386584"/>
            <a:ext cx="347472" cy="347472"/>
          </a:xfrm>
          <a:prstGeom prst="rect">
            <a:avLst/>
          </a:prstGeom>
        </p:spPr>
      </p:pic>
      <p:sp>
        <p:nvSpPr>
          <p:cNvPr id="8" name="Text 5"/>
          <p:cNvSpPr/>
          <p:nvPr/>
        </p:nvSpPr>
        <p:spPr>
          <a:xfrm>
            <a:off x="1751076" y="2258568"/>
            <a:ext cx="3931920" cy="274320"/>
          </a:xfrm>
          <a:prstGeom prst="rect">
            <a:avLst/>
          </a:prstGeom>
          <a:noFill/>
          <a:ln/>
        </p:spPr>
        <p:txBody>
          <a:bodyPr wrap="square" lIns="0" tIns="0" rIns="0" bIns="0" rtlCol="0" anchor="ctr"/>
          <a:lstStyle/>
          <a:p>
            <a:pPr marL="0" indent="0">
              <a:buNone/>
            </a:pPr>
            <a:r>
              <a:rPr lang="en-US" sz="1050" b="1" kern="0" spc="100" dirty="0">
                <a:solidFill>
                  <a:srgbClr val="22D3EE"/>
                </a:solidFill>
                <a:latin typeface="Calibri" pitchFamily="34" charset="0"/>
                <a:ea typeface="Calibri" pitchFamily="34" charset="-122"/>
                <a:cs typeface="Calibri" pitchFamily="34" charset="-120"/>
              </a:rPr>
              <a:t>MODEL 1 — SUPERVISED</a:t>
            </a:r>
            <a:endParaRPr lang="en-US" sz="1050" dirty="0"/>
          </a:p>
        </p:txBody>
      </p:sp>
      <p:sp>
        <p:nvSpPr>
          <p:cNvPr id="9" name="Text 6"/>
          <p:cNvSpPr/>
          <p:nvPr/>
        </p:nvSpPr>
        <p:spPr>
          <a:xfrm>
            <a:off x="1751076" y="2514600"/>
            <a:ext cx="393192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Sales Forecasting</a:t>
            </a:r>
            <a:endParaRPr lang="en-US" sz="1900" dirty="0"/>
          </a:p>
        </p:txBody>
      </p:sp>
      <p:sp>
        <p:nvSpPr>
          <p:cNvPr id="10" name="Text 7"/>
          <p:cNvSpPr/>
          <p:nvPr/>
        </p:nvSpPr>
        <p:spPr>
          <a:xfrm>
            <a:off x="973836" y="3246120"/>
            <a:ext cx="4572000" cy="1463040"/>
          </a:xfrm>
          <a:prstGeom prst="rect">
            <a:avLst/>
          </a:prstGeom>
          <a:noFill/>
          <a:ln/>
        </p:spPr>
        <p:txBody>
          <a:bodyPr wrap="square" lIns="0" tIns="0" rIns="0" bIns="0" rtlCol="0" anchor="t"/>
          <a:lstStyle/>
          <a:p>
            <a:pPr marL="0" indent="0">
              <a:buNone/>
            </a:pPr>
            <a:r>
              <a:rPr lang="en-US" sz="1250" dirty="0">
                <a:solidFill>
                  <a:srgbClr val="94A3B8"/>
                </a:solidFill>
                <a:latin typeface="Calibri" pitchFamily="34" charset="0"/>
                <a:ea typeface="Calibri" pitchFamily="34" charset="-122"/>
                <a:cs typeface="Calibri" pitchFamily="34" charset="-120"/>
              </a:rPr>
              <a:t>Linear Regression predicts future sales revenue from historical order patterns, seasonality, and product/region features.</a:t>
            </a:r>
            <a:endParaRPr lang="en-US" sz="1250" dirty="0"/>
          </a:p>
        </p:txBody>
      </p:sp>
      <p:sp>
        <p:nvSpPr>
          <p:cNvPr id="11" name="Shape 8"/>
          <p:cNvSpPr/>
          <p:nvPr/>
        </p:nvSpPr>
        <p:spPr>
          <a:xfrm>
            <a:off x="973836" y="5120640"/>
            <a:ext cx="4572000" cy="457200"/>
          </a:xfrm>
          <a:prstGeom prst="roundRect">
            <a:avLst>
              <a:gd name="adj" fmla="val 10000"/>
            </a:avLst>
          </a:prstGeom>
          <a:solidFill>
            <a:srgbClr val="0A1F44"/>
          </a:solidFill>
          <a:ln/>
        </p:spPr>
      </p:sp>
      <p:sp>
        <p:nvSpPr>
          <p:cNvPr id="12" name="Text 9"/>
          <p:cNvSpPr/>
          <p:nvPr/>
        </p:nvSpPr>
        <p:spPr>
          <a:xfrm>
            <a:off x="1110996" y="5120640"/>
            <a:ext cx="4297680" cy="457200"/>
          </a:xfrm>
          <a:prstGeom prst="rect">
            <a:avLst/>
          </a:prstGeom>
          <a:noFill/>
          <a:ln/>
        </p:spPr>
        <p:txBody>
          <a:bodyPr wrap="square" lIns="0" tIns="0" rIns="0" bIns="0" rtlCol="0" anchor="ctr"/>
          <a:lstStyle/>
          <a:p>
            <a:pPr marL="0" indent="0">
              <a:buNone/>
            </a:pPr>
            <a:r>
              <a:rPr lang="en-US" sz="1100" dirty="0">
                <a:solidFill>
                  <a:srgbClr val="22D3EE"/>
                </a:solidFill>
                <a:latin typeface="Courier New" pitchFamily="34" charset="0"/>
                <a:ea typeface="Courier New" pitchFamily="34" charset="-122"/>
                <a:cs typeface="Courier New" pitchFamily="34" charset="-120"/>
              </a:rPr>
              <a:t>Output artifact:  sales_model.pkl</a:t>
            </a:r>
            <a:endParaRPr lang="en-US" sz="1100" dirty="0"/>
          </a:p>
        </p:txBody>
      </p:sp>
      <p:sp>
        <p:nvSpPr>
          <p:cNvPr id="13" name="Shape 10"/>
          <p:cNvSpPr/>
          <p:nvPr/>
        </p:nvSpPr>
        <p:spPr>
          <a:xfrm>
            <a:off x="6323076" y="1965960"/>
            <a:ext cx="5212080" cy="3840480"/>
          </a:xfrm>
          <a:prstGeom prst="roundRect">
            <a:avLst>
              <a:gd name="adj" fmla="val 2143"/>
            </a:avLst>
          </a:prstGeom>
          <a:solidFill>
            <a:srgbClr val="0F2A5C"/>
          </a:solidFill>
          <a:ln/>
          <a:effectLst>
            <a:outerShdw blurRad="152400" dist="50800" dir="5400000" algn="bl" rotWithShape="0">
              <a:srgbClr val="000000">
                <a:alpha val="16000"/>
              </a:srgbClr>
            </a:outerShdw>
          </a:effectLst>
        </p:spPr>
      </p:sp>
      <p:sp>
        <p:nvSpPr>
          <p:cNvPr id="14" name="Shape 11"/>
          <p:cNvSpPr/>
          <p:nvPr/>
        </p:nvSpPr>
        <p:spPr>
          <a:xfrm>
            <a:off x="6597396" y="2240280"/>
            <a:ext cx="640080" cy="640080"/>
          </a:xfrm>
          <a:prstGeom prst="ellipse">
            <a:avLst/>
          </a:prstGeom>
          <a:solidFill>
            <a:srgbClr val="0F3460"/>
          </a:solidFill>
          <a:ln/>
        </p:spPr>
      </p:sp>
      <p:pic>
        <p:nvPicPr>
          <p:cNvPr id="15" name="Image 1" descr="/home/claude/deck/icons/users_cyan.png"/>
          <p:cNvPicPr>
            <a:picLocks noChangeAspect="1"/>
          </p:cNvPicPr>
          <p:nvPr/>
        </p:nvPicPr>
        <p:blipFill>
          <a:blip r:embed="rId4"/>
          <a:stretch>
            <a:fillRect/>
          </a:stretch>
        </p:blipFill>
        <p:spPr>
          <a:xfrm>
            <a:off x="6743700" y="2386584"/>
            <a:ext cx="347472" cy="347472"/>
          </a:xfrm>
          <a:prstGeom prst="rect">
            <a:avLst/>
          </a:prstGeom>
        </p:spPr>
      </p:pic>
      <p:sp>
        <p:nvSpPr>
          <p:cNvPr id="16" name="Text 12"/>
          <p:cNvSpPr/>
          <p:nvPr/>
        </p:nvSpPr>
        <p:spPr>
          <a:xfrm>
            <a:off x="7420356" y="2258568"/>
            <a:ext cx="3931920" cy="274320"/>
          </a:xfrm>
          <a:prstGeom prst="rect">
            <a:avLst/>
          </a:prstGeom>
          <a:noFill/>
          <a:ln/>
        </p:spPr>
        <p:txBody>
          <a:bodyPr wrap="square" lIns="0" tIns="0" rIns="0" bIns="0" rtlCol="0" anchor="ctr"/>
          <a:lstStyle/>
          <a:p>
            <a:pPr marL="0" indent="0">
              <a:buNone/>
            </a:pPr>
            <a:r>
              <a:rPr lang="en-US" sz="1050" b="1" kern="0" spc="100" dirty="0">
                <a:solidFill>
                  <a:srgbClr val="22D3EE"/>
                </a:solidFill>
                <a:latin typeface="Calibri" pitchFamily="34" charset="0"/>
                <a:ea typeface="Calibri" pitchFamily="34" charset="-122"/>
                <a:cs typeface="Calibri" pitchFamily="34" charset="-120"/>
              </a:rPr>
              <a:t>MODEL 2 — UNSUPERVISED</a:t>
            </a:r>
            <a:endParaRPr lang="en-US" sz="1050" dirty="0"/>
          </a:p>
        </p:txBody>
      </p:sp>
      <p:sp>
        <p:nvSpPr>
          <p:cNvPr id="17" name="Text 13"/>
          <p:cNvSpPr/>
          <p:nvPr/>
        </p:nvSpPr>
        <p:spPr>
          <a:xfrm>
            <a:off x="7420356" y="2514600"/>
            <a:ext cx="393192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Customer Segmentation</a:t>
            </a:r>
            <a:endParaRPr lang="en-US" sz="1900" dirty="0"/>
          </a:p>
        </p:txBody>
      </p:sp>
      <p:sp>
        <p:nvSpPr>
          <p:cNvPr id="18" name="Text 14"/>
          <p:cNvSpPr/>
          <p:nvPr/>
        </p:nvSpPr>
        <p:spPr>
          <a:xfrm>
            <a:off x="6643116" y="3246120"/>
            <a:ext cx="4572000" cy="1463040"/>
          </a:xfrm>
          <a:prstGeom prst="rect">
            <a:avLst/>
          </a:prstGeom>
          <a:noFill/>
          <a:ln/>
        </p:spPr>
        <p:txBody>
          <a:bodyPr wrap="square" lIns="0" tIns="0" rIns="0" bIns="0" rtlCol="0" anchor="t"/>
          <a:lstStyle/>
          <a:p>
            <a:pPr marL="0" indent="0">
              <a:buNone/>
            </a:pPr>
            <a:r>
              <a:rPr lang="en-US" sz="1250" dirty="0">
                <a:solidFill>
                  <a:srgbClr val="94A3B8"/>
                </a:solidFill>
                <a:latin typeface="Calibri" pitchFamily="34" charset="0"/>
                <a:ea typeface="Calibri" pitchFamily="34" charset="-122"/>
                <a:cs typeface="Calibri" pitchFamily="34" charset="-120"/>
              </a:rPr>
              <a:t>K-Means clustering groups customers into Premium, Regular, and Low-Value tiers based on spend, frequency, and recency.</a:t>
            </a:r>
            <a:endParaRPr lang="en-US" sz="1250" dirty="0"/>
          </a:p>
        </p:txBody>
      </p:sp>
      <p:sp>
        <p:nvSpPr>
          <p:cNvPr id="19" name="Shape 15"/>
          <p:cNvSpPr/>
          <p:nvPr/>
        </p:nvSpPr>
        <p:spPr>
          <a:xfrm>
            <a:off x="6643116" y="5120640"/>
            <a:ext cx="4572000" cy="457200"/>
          </a:xfrm>
          <a:prstGeom prst="roundRect">
            <a:avLst>
              <a:gd name="adj" fmla="val 10000"/>
            </a:avLst>
          </a:prstGeom>
          <a:solidFill>
            <a:srgbClr val="0A1F44"/>
          </a:solidFill>
          <a:ln/>
        </p:spPr>
      </p:sp>
      <p:sp>
        <p:nvSpPr>
          <p:cNvPr id="20" name="Text 16"/>
          <p:cNvSpPr/>
          <p:nvPr/>
        </p:nvSpPr>
        <p:spPr>
          <a:xfrm>
            <a:off x="6780276" y="5120640"/>
            <a:ext cx="4297680" cy="457200"/>
          </a:xfrm>
          <a:prstGeom prst="rect">
            <a:avLst/>
          </a:prstGeom>
          <a:noFill/>
          <a:ln/>
        </p:spPr>
        <p:txBody>
          <a:bodyPr wrap="square" lIns="0" tIns="0" rIns="0" bIns="0" rtlCol="0" anchor="ctr"/>
          <a:lstStyle/>
          <a:p>
            <a:pPr marL="0" indent="0">
              <a:buNone/>
            </a:pPr>
            <a:r>
              <a:rPr lang="en-US" sz="1100" dirty="0">
                <a:solidFill>
                  <a:srgbClr val="22D3EE"/>
                </a:solidFill>
                <a:latin typeface="Courier New" pitchFamily="34" charset="0"/>
                <a:ea typeface="Courier New" pitchFamily="34" charset="-122"/>
                <a:cs typeface="Courier New" pitchFamily="34" charset="-120"/>
              </a:rPr>
              <a:t>Output artifact:  kmeans.pkl</a:t>
            </a:r>
            <a:endParaRPr lang="en-US" sz="1100" dirty="0"/>
          </a:p>
        </p:txBody>
      </p:sp>
      <p:sp>
        <p:nvSpPr>
          <p:cNvPr id="22" name="Text 17"/>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MODEL 1</a:t>
            </a:r>
            <a:endParaRPr lang="en-US" sz="1200" dirty="0"/>
          </a:p>
        </p:txBody>
      </p:sp>
      <p:sp>
        <p:nvSpPr>
          <p:cNvPr id="3" name="Text 1"/>
          <p:cNvSpPr/>
          <p:nvPr/>
        </p:nvSpPr>
        <p:spPr>
          <a:xfrm>
            <a:off x="548640" y="621792"/>
            <a:ext cx="10881360" cy="7315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Sales Forecasting</a:t>
            </a:r>
            <a:endParaRPr lang="en-US" sz="30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From historical sales to a business decision</a:t>
            </a:r>
            <a:endParaRPr lang="en-US" sz="1400" dirty="0"/>
          </a:p>
        </p:txBody>
      </p:sp>
      <p:sp>
        <p:nvSpPr>
          <p:cNvPr id="5" name="Shape 3"/>
          <p:cNvSpPr/>
          <p:nvPr/>
        </p:nvSpPr>
        <p:spPr>
          <a:xfrm>
            <a:off x="781812" y="2011680"/>
            <a:ext cx="1920240" cy="1188720"/>
          </a:xfrm>
          <a:prstGeom prst="roundRect">
            <a:avLst>
              <a:gd name="adj" fmla="val 6154"/>
            </a:avLst>
          </a:prstGeom>
          <a:solidFill>
            <a:srgbClr val="0A1F44"/>
          </a:solidFill>
          <a:ln/>
        </p:spPr>
      </p:sp>
      <p:pic>
        <p:nvPicPr>
          <p:cNvPr id="6" name="Image 0" descr="/home/claude/deck/icons/database_cyan.png"/>
          <p:cNvPicPr>
            <a:picLocks noChangeAspect="1"/>
          </p:cNvPicPr>
          <p:nvPr/>
        </p:nvPicPr>
        <p:blipFill>
          <a:blip r:embed="rId3"/>
          <a:stretch>
            <a:fillRect/>
          </a:stretch>
        </p:blipFill>
        <p:spPr>
          <a:xfrm>
            <a:off x="1568196" y="2176272"/>
            <a:ext cx="347472" cy="347472"/>
          </a:xfrm>
          <a:prstGeom prst="rect">
            <a:avLst/>
          </a:prstGeom>
        </p:spPr>
      </p:pic>
      <p:sp>
        <p:nvSpPr>
          <p:cNvPr id="7" name="Text 4"/>
          <p:cNvSpPr/>
          <p:nvPr/>
        </p:nvSpPr>
        <p:spPr>
          <a:xfrm>
            <a:off x="736092" y="2670048"/>
            <a:ext cx="20116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Historical Sales</a:t>
            </a:r>
            <a:endParaRPr lang="en-US" sz="1050" dirty="0"/>
          </a:p>
        </p:txBody>
      </p:sp>
      <p:pic>
        <p:nvPicPr>
          <p:cNvPr id="8" name="Image 1" descr="/home/claude/deck/icons/arrowRight_navy.png"/>
          <p:cNvPicPr>
            <a:picLocks noChangeAspect="1"/>
          </p:cNvPicPr>
          <p:nvPr/>
        </p:nvPicPr>
        <p:blipFill>
          <a:blip r:embed="rId4"/>
          <a:stretch>
            <a:fillRect/>
          </a:stretch>
        </p:blipFill>
        <p:spPr>
          <a:xfrm>
            <a:off x="2756916" y="2532888"/>
            <a:ext cx="146304" cy="146304"/>
          </a:xfrm>
          <a:prstGeom prst="rect">
            <a:avLst/>
          </a:prstGeom>
        </p:spPr>
      </p:pic>
      <p:sp>
        <p:nvSpPr>
          <p:cNvPr id="9" name="Shape 5"/>
          <p:cNvSpPr/>
          <p:nvPr/>
        </p:nvSpPr>
        <p:spPr>
          <a:xfrm>
            <a:off x="2958084" y="2011680"/>
            <a:ext cx="1920240" cy="1188720"/>
          </a:xfrm>
          <a:prstGeom prst="roundRect">
            <a:avLst>
              <a:gd name="adj" fmla="val 6154"/>
            </a:avLst>
          </a:prstGeom>
          <a:solidFill>
            <a:srgbClr val="0A1F44"/>
          </a:solidFill>
          <a:ln/>
        </p:spPr>
      </p:sp>
      <p:pic>
        <p:nvPicPr>
          <p:cNvPr id="10" name="Image 2" descr="/home/claude/deck/icons/cogs_cyan.png"/>
          <p:cNvPicPr>
            <a:picLocks noChangeAspect="1"/>
          </p:cNvPicPr>
          <p:nvPr/>
        </p:nvPicPr>
        <p:blipFill>
          <a:blip r:embed="rId5"/>
          <a:stretch>
            <a:fillRect/>
          </a:stretch>
        </p:blipFill>
        <p:spPr>
          <a:xfrm>
            <a:off x="3744468" y="2176272"/>
            <a:ext cx="347472" cy="347472"/>
          </a:xfrm>
          <a:prstGeom prst="rect">
            <a:avLst/>
          </a:prstGeom>
        </p:spPr>
      </p:pic>
      <p:sp>
        <p:nvSpPr>
          <p:cNvPr id="11" name="Text 6"/>
          <p:cNvSpPr/>
          <p:nvPr/>
        </p:nvSpPr>
        <p:spPr>
          <a:xfrm>
            <a:off x="2912364" y="2670048"/>
            <a:ext cx="20116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Feature Engineering</a:t>
            </a:r>
            <a:endParaRPr lang="en-US" sz="1050" dirty="0"/>
          </a:p>
        </p:txBody>
      </p:sp>
      <p:pic>
        <p:nvPicPr>
          <p:cNvPr id="12" name="Image 3" descr="/home/claude/deck/icons/arrowRight_navy.png"/>
          <p:cNvPicPr>
            <a:picLocks noChangeAspect="1"/>
          </p:cNvPicPr>
          <p:nvPr/>
        </p:nvPicPr>
        <p:blipFill>
          <a:blip r:embed="rId4"/>
          <a:stretch>
            <a:fillRect/>
          </a:stretch>
        </p:blipFill>
        <p:spPr>
          <a:xfrm>
            <a:off x="4933188" y="2532888"/>
            <a:ext cx="146304" cy="146304"/>
          </a:xfrm>
          <a:prstGeom prst="rect">
            <a:avLst/>
          </a:prstGeom>
        </p:spPr>
      </p:pic>
      <p:sp>
        <p:nvSpPr>
          <p:cNvPr id="13" name="Shape 7"/>
          <p:cNvSpPr/>
          <p:nvPr/>
        </p:nvSpPr>
        <p:spPr>
          <a:xfrm>
            <a:off x="5134356" y="2011680"/>
            <a:ext cx="1920240" cy="1188720"/>
          </a:xfrm>
          <a:prstGeom prst="roundRect">
            <a:avLst>
              <a:gd name="adj" fmla="val 6154"/>
            </a:avLst>
          </a:prstGeom>
          <a:solidFill>
            <a:srgbClr val="0A1F44"/>
          </a:solidFill>
          <a:ln/>
        </p:spPr>
      </p:sp>
      <p:pic>
        <p:nvPicPr>
          <p:cNvPr id="14" name="Image 4" descr="/home/claude/deck/icons/brain_cyan.png"/>
          <p:cNvPicPr>
            <a:picLocks noChangeAspect="1"/>
          </p:cNvPicPr>
          <p:nvPr/>
        </p:nvPicPr>
        <p:blipFill>
          <a:blip r:embed="rId6"/>
          <a:stretch>
            <a:fillRect/>
          </a:stretch>
        </p:blipFill>
        <p:spPr>
          <a:xfrm>
            <a:off x="5920740" y="2176272"/>
            <a:ext cx="347472" cy="347472"/>
          </a:xfrm>
          <a:prstGeom prst="rect">
            <a:avLst/>
          </a:prstGeom>
        </p:spPr>
      </p:pic>
      <p:sp>
        <p:nvSpPr>
          <p:cNvPr id="15" name="Text 8"/>
          <p:cNvSpPr/>
          <p:nvPr/>
        </p:nvSpPr>
        <p:spPr>
          <a:xfrm>
            <a:off x="5088636" y="2670048"/>
            <a:ext cx="20116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Model Training</a:t>
            </a:r>
            <a:endParaRPr lang="en-US" sz="1050" dirty="0"/>
          </a:p>
        </p:txBody>
      </p:sp>
      <p:pic>
        <p:nvPicPr>
          <p:cNvPr id="16" name="Image 5" descr="/home/claude/deck/icons/arrowRight_navy.png"/>
          <p:cNvPicPr>
            <a:picLocks noChangeAspect="1"/>
          </p:cNvPicPr>
          <p:nvPr/>
        </p:nvPicPr>
        <p:blipFill>
          <a:blip r:embed="rId4"/>
          <a:stretch>
            <a:fillRect/>
          </a:stretch>
        </p:blipFill>
        <p:spPr>
          <a:xfrm>
            <a:off x="7109460" y="2532888"/>
            <a:ext cx="146304" cy="146304"/>
          </a:xfrm>
          <a:prstGeom prst="rect">
            <a:avLst/>
          </a:prstGeom>
        </p:spPr>
      </p:pic>
      <p:sp>
        <p:nvSpPr>
          <p:cNvPr id="17" name="Shape 9"/>
          <p:cNvSpPr/>
          <p:nvPr/>
        </p:nvSpPr>
        <p:spPr>
          <a:xfrm>
            <a:off x="7310628" y="2011680"/>
            <a:ext cx="1920240" cy="1188720"/>
          </a:xfrm>
          <a:prstGeom prst="roundRect">
            <a:avLst>
              <a:gd name="adj" fmla="val 6154"/>
            </a:avLst>
          </a:prstGeom>
          <a:solidFill>
            <a:srgbClr val="0A1F44"/>
          </a:solidFill>
          <a:ln/>
        </p:spPr>
      </p:sp>
      <p:pic>
        <p:nvPicPr>
          <p:cNvPr id="18" name="Image 6" descr="/home/claude/deck/icons/chartLine_cyan.png"/>
          <p:cNvPicPr>
            <a:picLocks noChangeAspect="1"/>
          </p:cNvPicPr>
          <p:nvPr/>
        </p:nvPicPr>
        <p:blipFill>
          <a:blip r:embed="rId7"/>
          <a:stretch>
            <a:fillRect/>
          </a:stretch>
        </p:blipFill>
        <p:spPr>
          <a:xfrm>
            <a:off x="8097012" y="2176272"/>
            <a:ext cx="347472" cy="347472"/>
          </a:xfrm>
          <a:prstGeom prst="rect">
            <a:avLst/>
          </a:prstGeom>
        </p:spPr>
      </p:pic>
      <p:sp>
        <p:nvSpPr>
          <p:cNvPr id="19" name="Text 10"/>
          <p:cNvSpPr/>
          <p:nvPr/>
        </p:nvSpPr>
        <p:spPr>
          <a:xfrm>
            <a:off x="7264908" y="2670048"/>
            <a:ext cx="20116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Prediction</a:t>
            </a:r>
            <a:endParaRPr lang="en-US" sz="1050" dirty="0"/>
          </a:p>
        </p:txBody>
      </p:sp>
      <p:pic>
        <p:nvPicPr>
          <p:cNvPr id="20" name="Image 7" descr="/home/claude/deck/icons/arrowRight_navy.png"/>
          <p:cNvPicPr>
            <a:picLocks noChangeAspect="1"/>
          </p:cNvPicPr>
          <p:nvPr/>
        </p:nvPicPr>
        <p:blipFill>
          <a:blip r:embed="rId4"/>
          <a:stretch>
            <a:fillRect/>
          </a:stretch>
        </p:blipFill>
        <p:spPr>
          <a:xfrm>
            <a:off x="9285732" y="2532888"/>
            <a:ext cx="146304" cy="146304"/>
          </a:xfrm>
          <a:prstGeom prst="rect">
            <a:avLst/>
          </a:prstGeom>
        </p:spPr>
      </p:pic>
      <p:sp>
        <p:nvSpPr>
          <p:cNvPr id="21" name="Shape 11"/>
          <p:cNvSpPr/>
          <p:nvPr/>
        </p:nvSpPr>
        <p:spPr>
          <a:xfrm>
            <a:off x="9486900" y="2011680"/>
            <a:ext cx="1920240" cy="1188720"/>
          </a:xfrm>
          <a:prstGeom prst="roundRect">
            <a:avLst>
              <a:gd name="adj" fmla="val 6154"/>
            </a:avLst>
          </a:prstGeom>
          <a:solidFill>
            <a:srgbClr val="0A1F44"/>
          </a:solidFill>
          <a:ln/>
        </p:spPr>
      </p:sp>
      <p:pic>
        <p:nvPicPr>
          <p:cNvPr id="22" name="Image 8" descr="/home/claude/deck/icons/bullseye_cyan.png"/>
          <p:cNvPicPr>
            <a:picLocks noChangeAspect="1"/>
          </p:cNvPicPr>
          <p:nvPr/>
        </p:nvPicPr>
        <p:blipFill>
          <a:blip r:embed="rId8"/>
          <a:stretch>
            <a:fillRect/>
          </a:stretch>
        </p:blipFill>
        <p:spPr>
          <a:xfrm>
            <a:off x="10273284" y="2176272"/>
            <a:ext cx="347472" cy="347472"/>
          </a:xfrm>
          <a:prstGeom prst="rect">
            <a:avLst/>
          </a:prstGeom>
        </p:spPr>
      </p:pic>
      <p:sp>
        <p:nvSpPr>
          <p:cNvPr id="23" name="Text 12"/>
          <p:cNvSpPr/>
          <p:nvPr/>
        </p:nvSpPr>
        <p:spPr>
          <a:xfrm>
            <a:off x="9441180" y="2670048"/>
            <a:ext cx="20116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Business Decision</a:t>
            </a:r>
            <a:endParaRPr lang="en-US" sz="1050" dirty="0"/>
          </a:p>
        </p:txBody>
      </p:sp>
      <p:sp>
        <p:nvSpPr>
          <p:cNvPr id="24" name="Text 13"/>
          <p:cNvSpPr/>
          <p:nvPr/>
        </p:nvSpPr>
        <p:spPr>
          <a:xfrm>
            <a:off x="731520" y="3703320"/>
            <a:ext cx="457200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Model Evaluation Metrics</a:t>
            </a:r>
            <a:endParaRPr lang="en-US" sz="1400" dirty="0"/>
          </a:p>
        </p:txBody>
      </p:sp>
      <p:sp>
        <p:nvSpPr>
          <p:cNvPr id="25" name="Shape 14"/>
          <p:cNvSpPr/>
          <p:nvPr/>
        </p:nvSpPr>
        <p:spPr>
          <a:xfrm>
            <a:off x="731520" y="4114800"/>
            <a:ext cx="3429000" cy="1737360"/>
          </a:xfrm>
          <a:prstGeom prst="roundRect">
            <a:avLst>
              <a:gd name="adj" fmla="val 4211"/>
            </a:avLst>
          </a:prstGeom>
          <a:solidFill>
            <a:srgbClr val="F1F5F9"/>
          </a:solidFill>
          <a:ln/>
        </p:spPr>
      </p:sp>
      <p:sp>
        <p:nvSpPr>
          <p:cNvPr id="26" name="Text 15"/>
          <p:cNvSpPr/>
          <p:nvPr/>
        </p:nvSpPr>
        <p:spPr>
          <a:xfrm>
            <a:off x="914400" y="4297680"/>
            <a:ext cx="3063240" cy="548640"/>
          </a:xfrm>
          <a:prstGeom prst="rect">
            <a:avLst/>
          </a:prstGeom>
          <a:noFill/>
          <a:ln/>
        </p:spPr>
        <p:txBody>
          <a:bodyPr wrap="square" lIns="0" tIns="0" rIns="0" bIns="0" rtlCol="0" anchor="ctr"/>
          <a:lstStyle/>
          <a:p>
            <a:pPr marL="0" indent="0">
              <a:buNone/>
            </a:pPr>
            <a:r>
              <a:rPr lang="en-US" sz="3000" b="1" dirty="0">
                <a:solidFill>
                  <a:srgbClr val="0891B2"/>
                </a:solidFill>
                <a:latin typeface="Cambria" pitchFamily="34" charset="0"/>
                <a:ea typeface="Cambria" pitchFamily="34" charset="-122"/>
                <a:cs typeface="Cambria" pitchFamily="34" charset="-120"/>
              </a:rPr>
              <a:t>0.84</a:t>
            </a:r>
            <a:endParaRPr lang="en-US" sz="3000" dirty="0"/>
          </a:p>
        </p:txBody>
      </p:sp>
      <p:sp>
        <p:nvSpPr>
          <p:cNvPr id="27" name="Text 16"/>
          <p:cNvSpPr/>
          <p:nvPr/>
        </p:nvSpPr>
        <p:spPr>
          <a:xfrm>
            <a:off x="914400" y="4846320"/>
            <a:ext cx="306324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R² Score</a:t>
            </a:r>
            <a:endParaRPr lang="en-US" sz="1300" dirty="0"/>
          </a:p>
        </p:txBody>
      </p:sp>
      <p:sp>
        <p:nvSpPr>
          <p:cNvPr id="28" name="Text 17"/>
          <p:cNvSpPr/>
          <p:nvPr/>
        </p:nvSpPr>
        <p:spPr>
          <a:xfrm>
            <a:off x="914400" y="5166360"/>
            <a:ext cx="3063240" cy="594360"/>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Share of variance in sales explained by the model</a:t>
            </a:r>
            <a:endParaRPr lang="en-US" sz="1000" dirty="0"/>
          </a:p>
        </p:txBody>
      </p:sp>
      <p:sp>
        <p:nvSpPr>
          <p:cNvPr id="29" name="Shape 18"/>
          <p:cNvSpPr/>
          <p:nvPr/>
        </p:nvSpPr>
        <p:spPr>
          <a:xfrm>
            <a:off x="4343400" y="4114800"/>
            <a:ext cx="3429000" cy="1737360"/>
          </a:xfrm>
          <a:prstGeom prst="roundRect">
            <a:avLst>
              <a:gd name="adj" fmla="val 4211"/>
            </a:avLst>
          </a:prstGeom>
          <a:solidFill>
            <a:srgbClr val="F1F5F9"/>
          </a:solidFill>
          <a:ln/>
        </p:spPr>
      </p:sp>
      <p:sp>
        <p:nvSpPr>
          <p:cNvPr id="30" name="Text 19"/>
          <p:cNvSpPr/>
          <p:nvPr/>
        </p:nvSpPr>
        <p:spPr>
          <a:xfrm>
            <a:off x="4526280" y="4297680"/>
            <a:ext cx="3063240" cy="548640"/>
          </a:xfrm>
          <a:prstGeom prst="rect">
            <a:avLst/>
          </a:prstGeom>
          <a:noFill/>
          <a:ln/>
        </p:spPr>
        <p:txBody>
          <a:bodyPr wrap="square" lIns="0" tIns="0" rIns="0" bIns="0" rtlCol="0" anchor="ctr"/>
          <a:lstStyle/>
          <a:p>
            <a:pPr marL="0" indent="0">
              <a:buNone/>
            </a:pPr>
            <a:r>
              <a:rPr lang="en-US" sz="3000" b="1" dirty="0">
                <a:solidFill>
                  <a:srgbClr val="0891B2"/>
                </a:solidFill>
                <a:latin typeface="Cambria" pitchFamily="34" charset="0"/>
                <a:ea typeface="Cambria" pitchFamily="34" charset="-122"/>
                <a:cs typeface="Cambria" pitchFamily="34" charset="-120"/>
              </a:rPr>
              <a:t>$62.10</a:t>
            </a:r>
            <a:endParaRPr lang="en-US" sz="3000" dirty="0"/>
          </a:p>
        </p:txBody>
      </p:sp>
      <p:sp>
        <p:nvSpPr>
          <p:cNvPr id="31" name="Text 20"/>
          <p:cNvSpPr/>
          <p:nvPr/>
        </p:nvSpPr>
        <p:spPr>
          <a:xfrm>
            <a:off x="4526280" y="4846320"/>
            <a:ext cx="306324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MAE</a:t>
            </a:r>
            <a:endParaRPr lang="en-US" sz="1300" dirty="0"/>
          </a:p>
        </p:txBody>
      </p:sp>
      <p:sp>
        <p:nvSpPr>
          <p:cNvPr id="32" name="Text 21"/>
          <p:cNvSpPr/>
          <p:nvPr/>
        </p:nvSpPr>
        <p:spPr>
          <a:xfrm>
            <a:off x="4526280" y="5166360"/>
            <a:ext cx="3063240" cy="594360"/>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Average absolute forecast error per order</a:t>
            </a:r>
            <a:endParaRPr lang="en-US" sz="1000" dirty="0"/>
          </a:p>
        </p:txBody>
      </p:sp>
      <p:sp>
        <p:nvSpPr>
          <p:cNvPr id="33" name="Shape 22"/>
          <p:cNvSpPr/>
          <p:nvPr/>
        </p:nvSpPr>
        <p:spPr>
          <a:xfrm>
            <a:off x="7955280" y="4114800"/>
            <a:ext cx="3429000" cy="1737360"/>
          </a:xfrm>
          <a:prstGeom prst="roundRect">
            <a:avLst>
              <a:gd name="adj" fmla="val 4211"/>
            </a:avLst>
          </a:prstGeom>
          <a:solidFill>
            <a:srgbClr val="F1F5F9"/>
          </a:solidFill>
          <a:ln/>
        </p:spPr>
      </p:sp>
      <p:sp>
        <p:nvSpPr>
          <p:cNvPr id="34" name="Text 23"/>
          <p:cNvSpPr/>
          <p:nvPr/>
        </p:nvSpPr>
        <p:spPr>
          <a:xfrm>
            <a:off x="8138160" y="4297680"/>
            <a:ext cx="3063240" cy="548640"/>
          </a:xfrm>
          <a:prstGeom prst="rect">
            <a:avLst/>
          </a:prstGeom>
          <a:noFill/>
          <a:ln/>
        </p:spPr>
        <p:txBody>
          <a:bodyPr wrap="square" lIns="0" tIns="0" rIns="0" bIns="0" rtlCol="0" anchor="ctr"/>
          <a:lstStyle/>
          <a:p>
            <a:pPr marL="0" indent="0">
              <a:buNone/>
            </a:pPr>
            <a:r>
              <a:rPr lang="en-US" sz="3000" b="1" dirty="0">
                <a:solidFill>
                  <a:srgbClr val="0891B2"/>
                </a:solidFill>
                <a:latin typeface="Cambria" pitchFamily="34" charset="0"/>
                <a:ea typeface="Cambria" pitchFamily="34" charset="-122"/>
                <a:cs typeface="Cambria" pitchFamily="34" charset="-120"/>
              </a:rPr>
              <a:t>$95.40</a:t>
            </a:r>
            <a:endParaRPr lang="en-US" sz="3000" dirty="0"/>
          </a:p>
        </p:txBody>
      </p:sp>
      <p:sp>
        <p:nvSpPr>
          <p:cNvPr id="35" name="Text 24"/>
          <p:cNvSpPr/>
          <p:nvPr/>
        </p:nvSpPr>
        <p:spPr>
          <a:xfrm>
            <a:off x="8138160" y="4846320"/>
            <a:ext cx="306324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RMSE</a:t>
            </a:r>
            <a:endParaRPr lang="en-US" sz="1300" dirty="0"/>
          </a:p>
        </p:txBody>
      </p:sp>
      <p:sp>
        <p:nvSpPr>
          <p:cNvPr id="36" name="Text 25"/>
          <p:cNvSpPr/>
          <p:nvPr/>
        </p:nvSpPr>
        <p:spPr>
          <a:xfrm>
            <a:off x="8138160" y="5166360"/>
            <a:ext cx="3063240" cy="594360"/>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Penalizes larger forecast errors more heavily</a:t>
            </a:r>
            <a:endParaRPr lang="en-US" sz="1000" dirty="0"/>
          </a:p>
        </p:txBody>
      </p:sp>
      <p:sp>
        <p:nvSpPr>
          <p:cNvPr id="37" name="Text 26"/>
          <p:cNvSpPr/>
          <p:nvPr/>
        </p:nvSpPr>
        <p:spPr>
          <a:xfrm>
            <a:off x="731520" y="5989320"/>
            <a:ext cx="10515600" cy="274320"/>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Illustrative metrics — exact values depend on the final train/test split of cleaned_sales.csv</a:t>
            </a:r>
            <a:endParaRPr lang="en-US" sz="950" dirty="0"/>
          </a:p>
        </p:txBody>
      </p:sp>
      <p:sp>
        <p:nvSpPr>
          <p:cNvPr id="39" name="Text 27"/>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F44"/>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MODEL 2</a:t>
            </a:r>
            <a:endParaRPr lang="en-US" sz="1200" dirty="0"/>
          </a:p>
        </p:txBody>
      </p:sp>
      <p:sp>
        <p:nvSpPr>
          <p:cNvPr id="3" name="Text 1"/>
          <p:cNvSpPr/>
          <p:nvPr/>
        </p:nvSpPr>
        <p:spPr>
          <a:xfrm>
            <a:off x="548640" y="621792"/>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Customer Segmentation</a:t>
            </a:r>
            <a:endParaRPr lang="en-US" sz="3200" dirty="0"/>
          </a:p>
        </p:txBody>
      </p:sp>
      <p:sp>
        <p:nvSpPr>
          <p:cNvPr id="4" name="Text 2"/>
          <p:cNvSpPr/>
          <p:nvPr/>
        </p:nvSpPr>
        <p:spPr>
          <a:xfrm>
            <a:off x="548640" y="1234440"/>
            <a:ext cx="10515600" cy="45720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K-Means clustering groups customers into actionable tiers</a:t>
            </a:r>
            <a:endParaRPr lang="en-US" sz="1500" dirty="0"/>
          </a:p>
        </p:txBody>
      </p:sp>
      <p:sp>
        <p:nvSpPr>
          <p:cNvPr id="5" name="Shape 3"/>
          <p:cNvSpPr/>
          <p:nvPr/>
        </p:nvSpPr>
        <p:spPr>
          <a:xfrm>
            <a:off x="548640" y="1883146"/>
            <a:ext cx="6035040" cy="4114800"/>
          </a:xfrm>
          <a:prstGeom prst="roundRect">
            <a:avLst>
              <a:gd name="adj" fmla="val 1778"/>
            </a:avLst>
          </a:prstGeom>
          <a:solidFill>
            <a:srgbClr val="0F2A5C"/>
          </a:solidFill>
          <a:ln/>
        </p:spPr>
      </p:sp>
      <p:sp>
        <p:nvSpPr>
          <p:cNvPr id="6" name="Text 4"/>
          <p:cNvSpPr/>
          <p:nvPr/>
        </p:nvSpPr>
        <p:spPr>
          <a:xfrm>
            <a:off x="777240" y="2011680"/>
            <a:ext cx="5486400" cy="274320"/>
          </a:xfrm>
          <a:prstGeom prst="rect">
            <a:avLst/>
          </a:prstGeom>
          <a:noFill/>
          <a:ln/>
        </p:spPr>
        <p:txBody>
          <a:bodyPr wrap="square" lIns="0" tIns="0" rIns="0" bIns="0" rtlCol="0" anchor="ctr"/>
          <a:lstStyle/>
          <a:p>
            <a:pPr marL="0" indent="0">
              <a:buNone/>
            </a:pPr>
            <a:r>
              <a:rPr lang="en-US" sz="1150" b="1" dirty="0">
                <a:solidFill>
                  <a:srgbClr val="94A3B8"/>
                </a:solidFill>
                <a:latin typeface="Calibri" pitchFamily="34" charset="0"/>
                <a:ea typeface="Calibri" pitchFamily="34" charset="-122"/>
                <a:cs typeface="Calibri" pitchFamily="34" charset="-120"/>
              </a:rPr>
              <a:t>Customer Value Map (illustrative)</a:t>
            </a:r>
            <a:endParaRPr lang="en-US" sz="1150" dirty="0"/>
          </a:p>
        </p:txBody>
      </p:sp>
      <p:sp>
        <p:nvSpPr>
          <p:cNvPr id="7" name="Shape 5"/>
          <p:cNvSpPr/>
          <p:nvPr/>
        </p:nvSpPr>
        <p:spPr>
          <a:xfrm>
            <a:off x="1005840" y="5623560"/>
            <a:ext cx="5120640" cy="0"/>
          </a:xfrm>
          <a:prstGeom prst="line">
            <a:avLst/>
          </a:prstGeom>
          <a:noFill/>
          <a:ln w="12700">
            <a:solidFill>
              <a:srgbClr val="0F3460"/>
            </a:solidFill>
            <a:prstDash val="solid"/>
          </a:ln>
        </p:spPr>
      </p:sp>
      <p:sp>
        <p:nvSpPr>
          <p:cNvPr id="8" name="Shape 6"/>
          <p:cNvSpPr/>
          <p:nvPr/>
        </p:nvSpPr>
        <p:spPr>
          <a:xfrm>
            <a:off x="1005840" y="2514600"/>
            <a:ext cx="0" cy="3108960"/>
          </a:xfrm>
          <a:prstGeom prst="line">
            <a:avLst/>
          </a:prstGeom>
          <a:noFill/>
          <a:ln w="12700">
            <a:solidFill>
              <a:srgbClr val="0F3460"/>
            </a:solidFill>
            <a:prstDash val="solid"/>
          </a:ln>
        </p:spPr>
      </p:sp>
      <p:sp>
        <p:nvSpPr>
          <p:cNvPr id="9" name="Text 7"/>
          <p:cNvSpPr/>
          <p:nvPr/>
        </p:nvSpPr>
        <p:spPr>
          <a:xfrm>
            <a:off x="4389120" y="5669280"/>
            <a:ext cx="164592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Frequency →</a:t>
            </a:r>
            <a:endParaRPr lang="en-US" sz="900" dirty="0"/>
          </a:p>
        </p:txBody>
      </p:sp>
      <p:sp>
        <p:nvSpPr>
          <p:cNvPr id="10" name="Text 8"/>
          <p:cNvSpPr/>
          <p:nvPr/>
        </p:nvSpPr>
        <p:spPr>
          <a:xfrm>
            <a:off x="1051560" y="2377440"/>
            <a:ext cx="13716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Spend →</a:t>
            </a:r>
            <a:endParaRPr lang="en-US" sz="900" dirty="0"/>
          </a:p>
        </p:txBody>
      </p:sp>
      <p:sp>
        <p:nvSpPr>
          <p:cNvPr id="11" name="Shape 9"/>
          <p:cNvSpPr/>
          <p:nvPr/>
        </p:nvSpPr>
        <p:spPr>
          <a:xfrm>
            <a:off x="5120640" y="2834640"/>
            <a:ext cx="201168" cy="201168"/>
          </a:xfrm>
          <a:prstGeom prst="ellipse">
            <a:avLst/>
          </a:prstGeom>
          <a:solidFill>
            <a:srgbClr val="22D3EE"/>
          </a:solidFill>
          <a:ln/>
        </p:spPr>
      </p:sp>
      <p:sp>
        <p:nvSpPr>
          <p:cNvPr id="12" name="Shape 10"/>
          <p:cNvSpPr/>
          <p:nvPr/>
        </p:nvSpPr>
        <p:spPr>
          <a:xfrm>
            <a:off x="5394960" y="3108960"/>
            <a:ext cx="201168" cy="201168"/>
          </a:xfrm>
          <a:prstGeom prst="ellipse">
            <a:avLst/>
          </a:prstGeom>
          <a:solidFill>
            <a:srgbClr val="22D3EE"/>
          </a:solidFill>
          <a:ln/>
        </p:spPr>
      </p:sp>
      <p:sp>
        <p:nvSpPr>
          <p:cNvPr id="13" name="Shape 11"/>
          <p:cNvSpPr/>
          <p:nvPr/>
        </p:nvSpPr>
        <p:spPr>
          <a:xfrm>
            <a:off x="4937760" y="2697480"/>
            <a:ext cx="201168" cy="201168"/>
          </a:xfrm>
          <a:prstGeom prst="ellipse">
            <a:avLst/>
          </a:prstGeom>
          <a:solidFill>
            <a:srgbClr val="22D3EE"/>
          </a:solidFill>
          <a:ln/>
        </p:spPr>
        <p:txBody>
          <a:bodyPr/>
          <a:lstStyle/>
          <a:p>
            <a:endParaRPr lang="en-IN" dirty="0"/>
          </a:p>
        </p:txBody>
      </p:sp>
      <p:sp>
        <p:nvSpPr>
          <p:cNvPr id="14" name="Shape 12"/>
          <p:cNvSpPr/>
          <p:nvPr/>
        </p:nvSpPr>
        <p:spPr>
          <a:xfrm>
            <a:off x="5577840" y="2971800"/>
            <a:ext cx="201168" cy="201168"/>
          </a:xfrm>
          <a:prstGeom prst="ellipse">
            <a:avLst/>
          </a:prstGeom>
          <a:solidFill>
            <a:srgbClr val="22D3EE"/>
          </a:solidFill>
          <a:ln/>
        </p:spPr>
      </p:sp>
      <p:sp>
        <p:nvSpPr>
          <p:cNvPr id="15" name="Shape 13"/>
          <p:cNvSpPr/>
          <p:nvPr/>
        </p:nvSpPr>
        <p:spPr>
          <a:xfrm>
            <a:off x="5212080" y="3246120"/>
            <a:ext cx="201168" cy="201168"/>
          </a:xfrm>
          <a:prstGeom prst="ellipse">
            <a:avLst/>
          </a:prstGeom>
          <a:solidFill>
            <a:srgbClr val="22D3EE"/>
          </a:solidFill>
          <a:ln/>
        </p:spPr>
      </p:sp>
      <p:sp>
        <p:nvSpPr>
          <p:cNvPr id="16" name="Shape 14"/>
          <p:cNvSpPr/>
          <p:nvPr/>
        </p:nvSpPr>
        <p:spPr>
          <a:xfrm>
            <a:off x="3291840" y="4206240"/>
            <a:ext cx="201168" cy="201168"/>
          </a:xfrm>
          <a:prstGeom prst="ellipse">
            <a:avLst/>
          </a:prstGeom>
          <a:solidFill>
            <a:srgbClr val="94A3B8"/>
          </a:solidFill>
          <a:ln/>
        </p:spPr>
      </p:sp>
      <p:sp>
        <p:nvSpPr>
          <p:cNvPr id="17" name="Shape 15"/>
          <p:cNvSpPr/>
          <p:nvPr/>
        </p:nvSpPr>
        <p:spPr>
          <a:xfrm>
            <a:off x="3566160" y="4480560"/>
            <a:ext cx="201168" cy="201168"/>
          </a:xfrm>
          <a:prstGeom prst="ellipse">
            <a:avLst/>
          </a:prstGeom>
          <a:solidFill>
            <a:srgbClr val="94A3B8"/>
          </a:solidFill>
          <a:ln/>
        </p:spPr>
      </p:sp>
      <p:sp>
        <p:nvSpPr>
          <p:cNvPr id="18" name="Shape 16"/>
          <p:cNvSpPr/>
          <p:nvPr/>
        </p:nvSpPr>
        <p:spPr>
          <a:xfrm>
            <a:off x="3108960" y="4023360"/>
            <a:ext cx="201168" cy="201168"/>
          </a:xfrm>
          <a:prstGeom prst="ellipse">
            <a:avLst/>
          </a:prstGeom>
          <a:solidFill>
            <a:srgbClr val="94A3B8"/>
          </a:solidFill>
          <a:ln/>
        </p:spPr>
      </p:sp>
      <p:sp>
        <p:nvSpPr>
          <p:cNvPr id="19" name="Shape 17"/>
          <p:cNvSpPr/>
          <p:nvPr/>
        </p:nvSpPr>
        <p:spPr>
          <a:xfrm>
            <a:off x="3749040" y="4297680"/>
            <a:ext cx="201168" cy="201168"/>
          </a:xfrm>
          <a:prstGeom prst="ellipse">
            <a:avLst/>
          </a:prstGeom>
          <a:solidFill>
            <a:srgbClr val="94A3B8"/>
          </a:solidFill>
          <a:ln/>
        </p:spPr>
      </p:sp>
      <p:sp>
        <p:nvSpPr>
          <p:cNvPr id="20" name="Shape 18"/>
          <p:cNvSpPr/>
          <p:nvPr/>
        </p:nvSpPr>
        <p:spPr>
          <a:xfrm>
            <a:off x="3383280" y="4663440"/>
            <a:ext cx="201168" cy="201168"/>
          </a:xfrm>
          <a:prstGeom prst="ellipse">
            <a:avLst/>
          </a:prstGeom>
          <a:solidFill>
            <a:srgbClr val="94A3B8"/>
          </a:solidFill>
          <a:ln/>
        </p:spPr>
      </p:sp>
      <p:sp>
        <p:nvSpPr>
          <p:cNvPr id="21" name="Shape 19"/>
          <p:cNvSpPr/>
          <p:nvPr/>
        </p:nvSpPr>
        <p:spPr>
          <a:xfrm>
            <a:off x="3200400" y="4434840"/>
            <a:ext cx="201168" cy="201168"/>
          </a:xfrm>
          <a:prstGeom prst="ellipse">
            <a:avLst/>
          </a:prstGeom>
          <a:solidFill>
            <a:srgbClr val="94A3B8"/>
          </a:solidFill>
          <a:ln/>
        </p:spPr>
      </p:sp>
      <p:sp>
        <p:nvSpPr>
          <p:cNvPr id="22" name="Shape 20"/>
          <p:cNvSpPr/>
          <p:nvPr/>
        </p:nvSpPr>
        <p:spPr>
          <a:xfrm>
            <a:off x="1554480" y="5212080"/>
            <a:ext cx="201168" cy="201168"/>
          </a:xfrm>
          <a:prstGeom prst="ellipse">
            <a:avLst/>
          </a:prstGeom>
          <a:solidFill>
            <a:srgbClr val="64748B"/>
          </a:solidFill>
          <a:ln/>
        </p:spPr>
      </p:sp>
      <p:sp>
        <p:nvSpPr>
          <p:cNvPr id="23" name="Shape 21"/>
          <p:cNvSpPr/>
          <p:nvPr/>
        </p:nvSpPr>
        <p:spPr>
          <a:xfrm>
            <a:off x="1828800" y="5394960"/>
            <a:ext cx="201168" cy="201168"/>
          </a:xfrm>
          <a:prstGeom prst="ellipse">
            <a:avLst/>
          </a:prstGeom>
          <a:solidFill>
            <a:srgbClr val="64748B"/>
          </a:solidFill>
          <a:ln/>
        </p:spPr>
      </p:sp>
      <p:sp>
        <p:nvSpPr>
          <p:cNvPr id="24" name="Shape 22"/>
          <p:cNvSpPr/>
          <p:nvPr/>
        </p:nvSpPr>
        <p:spPr>
          <a:xfrm>
            <a:off x="1371600" y="5029200"/>
            <a:ext cx="201168" cy="201168"/>
          </a:xfrm>
          <a:prstGeom prst="ellipse">
            <a:avLst/>
          </a:prstGeom>
          <a:solidFill>
            <a:srgbClr val="64748B"/>
          </a:solidFill>
          <a:ln/>
        </p:spPr>
      </p:sp>
      <p:sp>
        <p:nvSpPr>
          <p:cNvPr id="25" name="Shape 23"/>
          <p:cNvSpPr/>
          <p:nvPr/>
        </p:nvSpPr>
        <p:spPr>
          <a:xfrm>
            <a:off x="2011680" y="5486400"/>
            <a:ext cx="201168" cy="201168"/>
          </a:xfrm>
          <a:prstGeom prst="ellipse">
            <a:avLst/>
          </a:prstGeom>
          <a:solidFill>
            <a:srgbClr val="64748B"/>
          </a:solidFill>
          <a:ln/>
        </p:spPr>
      </p:sp>
      <p:sp>
        <p:nvSpPr>
          <p:cNvPr id="26" name="Shape 24"/>
          <p:cNvSpPr/>
          <p:nvPr/>
        </p:nvSpPr>
        <p:spPr>
          <a:xfrm>
            <a:off x="1645920" y="5303520"/>
            <a:ext cx="201168" cy="201168"/>
          </a:xfrm>
          <a:prstGeom prst="ellipse">
            <a:avLst/>
          </a:prstGeom>
          <a:solidFill>
            <a:srgbClr val="64748B"/>
          </a:solidFill>
          <a:ln/>
        </p:spPr>
      </p:sp>
      <p:sp>
        <p:nvSpPr>
          <p:cNvPr id="27" name="Shape 25"/>
          <p:cNvSpPr/>
          <p:nvPr/>
        </p:nvSpPr>
        <p:spPr>
          <a:xfrm>
            <a:off x="6858000" y="1965960"/>
            <a:ext cx="4800600" cy="1234440"/>
          </a:xfrm>
          <a:prstGeom prst="roundRect">
            <a:avLst>
              <a:gd name="adj" fmla="val 5926"/>
            </a:avLst>
          </a:prstGeom>
          <a:solidFill>
            <a:srgbClr val="0F2A5C"/>
          </a:solidFill>
          <a:ln/>
        </p:spPr>
      </p:sp>
      <p:sp>
        <p:nvSpPr>
          <p:cNvPr id="28" name="Shape 26"/>
          <p:cNvSpPr/>
          <p:nvPr/>
        </p:nvSpPr>
        <p:spPr>
          <a:xfrm>
            <a:off x="7059168" y="2148840"/>
            <a:ext cx="457200" cy="457200"/>
          </a:xfrm>
          <a:prstGeom prst="ellipse">
            <a:avLst/>
          </a:prstGeom>
          <a:solidFill>
            <a:srgbClr val="0F3460"/>
          </a:solidFill>
          <a:ln/>
        </p:spPr>
      </p:sp>
      <p:pic>
        <p:nvPicPr>
          <p:cNvPr id="29" name="Image 0" descr="/home/claude/deck/icons/gem_cyan.png"/>
          <p:cNvPicPr>
            <a:picLocks noChangeAspect="1"/>
          </p:cNvPicPr>
          <p:nvPr/>
        </p:nvPicPr>
        <p:blipFill>
          <a:blip r:embed="rId3"/>
          <a:stretch>
            <a:fillRect/>
          </a:stretch>
        </p:blipFill>
        <p:spPr>
          <a:xfrm>
            <a:off x="7159752" y="2249424"/>
            <a:ext cx="256032" cy="256032"/>
          </a:xfrm>
          <a:prstGeom prst="rect">
            <a:avLst/>
          </a:prstGeom>
        </p:spPr>
      </p:pic>
      <p:sp>
        <p:nvSpPr>
          <p:cNvPr id="30" name="Text 27"/>
          <p:cNvSpPr/>
          <p:nvPr/>
        </p:nvSpPr>
        <p:spPr>
          <a:xfrm>
            <a:off x="7680960" y="2103120"/>
            <a:ext cx="384048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Premium Customers</a:t>
            </a:r>
            <a:endParaRPr lang="en-US" sz="1350" dirty="0"/>
          </a:p>
        </p:txBody>
      </p:sp>
      <p:sp>
        <p:nvSpPr>
          <p:cNvPr id="31" name="Text 28"/>
          <p:cNvSpPr/>
          <p:nvPr/>
        </p:nvSpPr>
        <p:spPr>
          <a:xfrm>
            <a:off x="7680960" y="2441448"/>
            <a:ext cx="3840480" cy="68580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High frequency, high spend — prioritize retention &amp; loyalty perks</a:t>
            </a:r>
            <a:endParaRPr lang="en-US" sz="1050" dirty="0"/>
          </a:p>
        </p:txBody>
      </p:sp>
      <p:sp>
        <p:nvSpPr>
          <p:cNvPr id="32" name="Shape 29"/>
          <p:cNvSpPr/>
          <p:nvPr/>
        </p:nvSpPr>
        <p:spPr>
          <a:xfrm>
            <a:off x="6858000" y="3383280"/>
            <a:ext cx="4800600" cy="1234440"/>
          </a:xfrm>
          <a:prstGeom prst="roundRect">
            <a:avLst>
              <a:gd name="adj" fmla="val 5926"/>
            </a:avLst>
          </a:prstGeom>
          <a:solidFill>
            <a:srgbClr val="0F2A5C"/>
          </a:solidFill>
          <a:ln/>
        </p:spPr>
      </p:sp>
      <p:sp>
        <p:nvSpPr>
          <p:cNvPr id="33" name="Shape 30"/>
          <p:cNvSpPr/>
          <p:nvPr/>
        </p:nvSpPr>
        <p:spPr>
          <a:xfrm>
            <a:off x="7059168" y="3566160"/>
            <a:ext cx="457200" cy="457200"/>
          </a:xfrm>
          <a:prstGeom prst="ellipse">
            <a:avLst/>
          </a:prstGeom>
          <a:solidFill>
            <a:srgbClr val="0F3460"/>
          </a:solidFill>
          <a:ln/>
        </p:spPr>
      </p:sp>
      <p:pic>
        <p:nvPicPr>
          <p:cNvPr id="34" name="Image 1" descr="/home/claude/deck/icons/userFriends_cyan.png"/>
          <p:cNvPicPr>
            <a:picLocks noChangeAspect="1"/>
          </p:cNvPicPr>
          <p:nvPr/>
        </p:nvPicPr>
        <p:blipFill>
          <a:blip r:embed="rId4"/>
          <a:stretch>
            <a:fillRect/>
          </a:stretch>
        </p:blipFill>
        <p:spPr>
          <a:xfrm>
            <a:off x="7159752" y="3666744"/>
            <a:ext cx="256032" cy="256032"/>
          </a:xfrm>
          <a:prstGeom prst="rect">
            <a:avLst/>
          </a:prstGeom>
        </p:spPr>
      </p:pic>
      <p:sp>
        <p:nvSpPr>
          <p:cNvPr id="35" name="Text 31"/>
          <p:cNvSpPr/>
          <p:nvPr/>
        </p:nvSpPr>
        <p:spPr>
          <a:xfrm>
            <a:off x="7680960" y="3520440"/>
            <a:ext cx="384048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Regular Customers</a:t>
            </a:r>
            <a:endParaRPr lang="en-US" sz="1350" dirty="0"/>
          </a:p>
        </p:txBody>
      </p:sp>
      <p:sp>
        <p:nvSpPr>
          <p:cNvPr id="36" name="Text 32"/>
          <p:cNvSpPr/>
          <p:nvPr/>
        </p:nvSpPr>
        <p:spPr>
          <a:xfrm>
            <a:off x="7680960" y="3858768"/>
            <a:ext cx="3840480" cy="68580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Steady, moderate spend — grow via targeted upsell offers</a:t>
            </a:r>
            <a:endParaRPr lang="en-US" sz="1050" dirty="0"/>
          </a:p>
        </p:txBody>
      </p:sp>
      <p:sp>
        <p:nvSpPr>
          <p:cNvPr id="37" name="Shape 33"/>
          <p:cNvSpPr/>
          <p:nvPr/>
        </p:nvSpPr>
        <p:spPr>
          <a:xfrm>
            <a:off x="6858000" y="4800600"/>
            <a:ext cx="4800600" cy="1234440"/>
          </a:xfrm>
          <a:prstGeom prst="roundRect">
            <a:avLst>
              <a:gd name="adj" fmla="val 5926"/>
            </a:avLst>
          </a:prstGeom>
          <a:solidFill>
            <a:srgbClr val="0F2A5C"/>
          </a:solidFill>
          <a:ln/>
        </p:spPr>
      </p:sp>
      <p:sp>
        <p:nvSpPr>
          <p:cNvPr id="38" name="Shape 34"/>
          <p:cNvSpPr/>
          <p:nvPr/>
        </p:nvSpPr>
        <p:spPr>
          <a:xfrm>
            <a:off x="7059168" y="4983480"/>
            <a:ext cx="457200" cy="457200"/>
          </a:xfrm>
          <a:prstGeom prst="ellipse">
            <a:avLst/>
          </a:prstGeom>
          <a:solidFill>
            <a:srgbClr val="0F3460"/>
          </a:solidFill>
          <a:ln/>
        </p:spPr>
      </p:sp>
      <p:pic>
        <p:nvPicPr>
          <p:cNvPr id="39" name="Image 2" descr="/home/claude/deck/icons/boxes_cyan.png"/>
          <p:cNvPicPr>
            <a:picLocks noChangeAspect="1"/>
          </p:cNvPicPr>
          <p:nvPr/>
        </p:nvPicPr>
        <p:blipFill>
          <a:blip r:embed="rId5"/>
          <a:stretch>
            <a:fillRect/>
          </a:stretch>
        </p:blipFill>
        <p:spPr>
          <a:xfrm>
            <a:off x="7159752" y="5084064"/>
            <a:ext cx="256032" cy="256032"/>
          </a:xfrm>
          <a:prstGeom prst="rect">
            <a:avLst/>
          </a:prstGeom>
        </p:spPr>
      </p:pic>
      <p:sp>
        <p:nvSpPr>
          <p:cNvPr id="40" name="Text 35"/>
          <p:cNvSpPr/>
          <p:nvPr/>
        </p:nvSpPr>
        <p:spPr>
          <a:xfrm>
            <a:off x="7680960" y="4937760"/>
            <a:ext cx="384048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Low-Value Customers</a:t>
            </a:r>
            <a:endParaRPr lang="en-US" sz="1350" dirty="0"/>
          </a:p>
        </p:txBody>
      </p:sp>
      <p:sp>
        <p:nvSpPr>
          <p:cNvPr id="41" name="Text 36"/>
          <p:cNvSpPr/>
          <p:nvPr/>
        </p:nvSpPr>
        <p:spPr>
          <a:xfrm>
            <a:off x="7680960" y="5276088"/>
            <a:ext cx="3840480" cy="68580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Infrequent, low spend — re-engage with discovery campaigns</a:t>
            </a:r>
            <a:endParaRPr lang="en-US" sz="1050" dirty="0"/>
          </a:p>
        </p:txBody>
      </p:sp>
      <p:sp>
        <p:nvSpPr>
          <p:cNvPr id="43" name="Text 37"/>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VISUALIZATION</a:t>
            </a:r>
            <a:endParaRPr lang="en-US" sz="1200" dirty="0"/>
          </a:p>
        </p:txBody>
      </p:sp>
      <p:sp>
        <p:nvSpPr>
          <p:cNvPr id="3" name="Text 1"/>
          <p:cNvSpPr/>
          <p:nvPr/>
        </p:nvSpPr>
        <p:spPr>
          <a:xfrm>
            <a:off x="548640" y="621792"/>
            <a:ext cx="10881360" cy="7315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Power BI Dashboard</a:t>
            </a:r>
            <a:endParaRPr lang="en-US" sz="30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Four connected views — executive, sales, customer, forecast</a:t>
            </a:r>
            <a:endParaRPr lang="en-US" sz="1400" dirty="0"/>
          </a:p>
        </p:txBody>
      </p:sp>
      <p:sp>
        <p:nvSpPr>
          <p:cNvPr id="5" name="Shape 3"/>
          <p:cNvSpPr/>
          <p:nvPr/>
        </p:nvSpPr>
        <p:spPr>
          <a:xfrm>
            <a:off x="548640" y="1874520"/>
            <a:ext cx="5349240" cy="1965960"/>
          </a:xfrm>
          <a:prstGeom prst="roundRect">
            <a:avLst>
              <a:gd name="adj" fmla="val 2791"/>
            </a:avLst>
          </a:prstGeom>
          <a:solidFill>
            <a:srgbClr val="0A1F44"/>
          </a:solidFill>
          <a:ln/>
          <a:effectLst>
            <a:outerShdw blurRad="101600" dist="38100" dir="5400000" algn="bl" rotWithShape="0">
              <a:srgbClr val="000000">
                <a:alpha val="10000"/>
              </a:srgbClr>
            </a:outerShdw>
          </a:effectLst>
        </p:spPr>
      </p:sp>
      <p:sp>
        <p:nvSpPr>
          <p:cNvPr id="6" name="Text 4"/>
          <p:cNvSpPr/>
          <p:nvPr/>
        </p:nvSpPr>
        <p:spPr>
          <a:xfrm>
            <a:off x="713232" y="1984248"/>
            <a:ext cx="5020056"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Executive Dashboard</a:t>
            </a:r>
            <a:endParaRPr lang="en-US" sz="1250" dirty="0"/>
          </a:p>
        </p:txBody>
      </p:sp>
      <p:sp>
        <p:nvSpPr>
          <p:cNvPr id="7" name="Shape 5"/>
          <p:cNvSpPr/>
          <p:nvPr/>
        </p:nvSpPr>
        <p:spPr>
          <a:xfrm>
            <a:off x="713232" y="2350008"/>
            <a:ext cx="1569720" cy="502920"/>
          </a:xfrm>
          <a:prstGeom prst="roundRect">
            <a:avLst>
              <a:gd name="adj" fmla="val 9091"/>
            </a:avLst>
          </a:prstGeom>
          <a:solidFill>
            <a:srgbClr val="0F2A5C"/>
          </a:solidFill>
          <a:ln/>
        </p:spPr>
      </p:sp>
      <p:sp>
        <p:nvSpPr>
          <p:cNvPr id="8" name="Text 6"/>
          <p:cNvSpPr/>
          <p:nvPr/>
        </p:nvSpPr>
        <p:spPr>
          <a:xfrm>
            <a:off x="786384" y="238658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Revenue</a:t>
            </a:r>
            <a:endParaRPr lang="en-US" sz="900" dirty="0"/>
          </a:p>
        </p:txBody>
      </p:sp>
      <p:sp>
        <p:nvSpPr>
          <p:cNvPr id="9" name="Shape 7"/>
          <p:cNvSpPr/>
          <p:nvPr/>
        </p:nvSpPr>
        <p:spPr>
          <a:xfrm>
            <a:off x="804672" y="3474720"/>
            <a:ext cx="310134" cy="137160"/>
          </a:xfrm>
          <a:prstGeom prst="rect">
            <a:avLst/>
          </a:prstGeom>
          <a:solidFill>
            <a:srgbClr val="22D3EE"/>
          </a:solidFill>
          <a:ln/>
        </p:spPr>
      </p:sp>
      <p:sp>
        <p:nvSpPr>
          <p:cNvPr id="10" name="Shape 8"/>
          <p:cNvSpPr/>
          <p:nvPr/>
        </p:nvSpPr>
        <p:spPr>
          <a:xfrm>
            <a:off x="1151382" y="3383280"/>
            <a:ext cx="310134" cy="228600"/>
          </a:xfrm>
          <a:prstGeom prst="rect">
            <a:avLst/>
          </a:prstGeom>
          <a:solidFill>
            <a:srgbClr val="22D3EE"/>
          </a:solidFill>
          <a:ln/>
        </p:spPr>
      </p:sp>
      <p:sp>
        <p:nvSpPr>
          <p:cNvPr id="11" name="Shape 9"/>
          <p:cNvSpPr/>
          <p:nvPr/>
        </p:nvSpPr>
        <p:spPr>
          <a:xfrm>
            <a:off x="1498092" y="3291840"/>
            <a:ext cx="310134" cy="320040"/>
          </a:xfrm>
          <a:prstGeom prst="rect">
            <a:avLst/>
          </a:prstGeom>
          <a:solidFill>
            <a:srgbClr val="22D3EE"/>
          </a:solidFill>
          <a:ln/>
        </p:spPr>
      </p:sp>
      <p:sp>
        <p:nvSpPr>
          <p:cNvPr id="12" name="Shape 10"/>
          <p:cNvSpPr/>
          <p:nvPr/>
        </p:nvSpPr>
        <p:spPr>
          <a:xfrm>
            <a:off x="1844802" y="3474720"/>
            <a:ext cx="310134" cy="137160"/>
          </a:xfrm>
          <a:prstGeom prst="rect">
            <a:avLst/>
          </a:prstGeom>
          <a:solidFill>
            <a:srgbClr val="22D3EE"/>
          </a:solidFill>
          <a:ln/>
        </p:spPr>
      </p:sp>
      <p:sp>
        <p:nvSpPr>
          <p:cNvPr id="13" name="Shape 11"/>
          <p:cNvSpPr/>
          <p:nvPr/>
        </p:nvSpPr>
        <p:spPr>
          <a:xfrm>
            <a:off x="2420112" y="2350008"/>
            <a:ext cx="1569720" cy="502920"/>
          </a:xfrm>
          <a:prstGeom prst="roundRect">
            <a:avLst>
              <a:gd name="adj" fmla="val 9091"/>
            </a:avLst>
          </a:prstGeom>
          <a:solidFill>
            <a:srgbClr val="0F2A5C"/>
          </a:solidFill>
          <a:ln/>
        </p:spPr>
      </p:sp>
      <p:sp>
        <p:nvSpPr>
          <p:cNvPr id="14" name="Text 12"/>
          <p:cNvSpPr/>
          <p:nvPr/>
        </p:nvSpPr>
        <p:spPr>
          <a:xfrm>
            <a:off x="2493264" y="238658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Profit</a:t>
            </a:r>
            <a:endParaRPr lang="en-US" sz="900" dirty="0"/>
          </a:p>
        </p:txBody>
      </p:sp>
      <p:sp>
        <p:nvSpPr>
          <p:cNvPr id="15" name="Shape 13"/>
          <p:cNvSpPr/>
          <p:nvPr/>
        </p:nvSpPr>
        <p:spPr>
          <a:xfrm>
            <a:off x="2511552" y="3474720"/>
            <a:ext cx="310134" cy="137160"/>
          </a:xfrm>
          <a:prstGeom prst="rect">
            <a:avLst/>
          </a:prstGeom>
          <a:solidFill>
            <a:srgbClr val="22D3EE"/>
          </a:solidFill>
          <a:ln/>
        </p:spPr>
      </p:sp>
      <p:sp>
        <p:nvSpPr>
          <p:cNvPr id="16" name="Shape 14"/>
          <p:cNvSpPr/>
          <p:nvPr/>
        </p:nvSpPr>
        <p:spPr>
          <a:xfrm>
            <a:off x="2858262" y="3383280"/>
            <a:ext cx="310134" cy="228600"/>
          </a:xfrm>
          <a:prstGeom prst="rect">
            <a:avLst/>
          </a:prstGeom>
          <a:solidFill>
            <a:srgbClr val="22D3EE"/>
          </a:solidFill>
          <a:ln/>
        </p:spPr>
      </p:sp>
      <p:sp>
        <p:nvSpPr>
          <p:cNvPr id="17" name="Shape 15"/>
          <p:cNvSpPr/>
          <p:nvPr/>
        </p:nvSpPr>
        <p:spPr>
          <a:xfrm>
            <a:off x="3204972" y="3291840"/>
            <a:ext cx="310134" cy="320040"/>
          </a:xfrm>
          <a:prstGeom prst="rect">
            <a:avLst/>
          </a:prstGeom>
          <a:solidFill>
            <a:srgbClr val="22D3EE"/>
          </a:solidFill>
          <a:ln/>
        </p:spPr>
      </p:sp>
      <p:sp>
        <p:nvSpPr>
          <p:cNvPr id="18" name="Shape 16"/>
          <p:cNvSpPr/>
          <p:nvPr/>
        </p:nvSpPr>
        <p:spPr>
          <a:xfrm>
            <a:off x="3551682" y="3474720"/>
            <a:ext cx="310134" cy="137160"/>
          </a:xfrm>
          <a:prstGeom prst="rect">
            <a:avLst/>
          </a:prstGeom>
          <a:solidFill>
            <a:srgbClr val="22D3EE"/>
          </a:solidFill>
          <a:ln/>
        </p:spPr>
      </p:sp>
      <p:sp>
        <p:nvSpPr>
          <p:cNvPr id="19" name="Shape 17"/>
          <p:cNvSpPr/>
          <p:nvPr/>
        </p:nvSpPr>
        <p:spPr>
          <a:xfrm>
            <a:off x="4126992" y="2350008"/>
            <a:ext cx="1569720" cy="502920"/>
          </a:xfrm>
          <a:prstGeom prst="roundRect">
            <a:avLst>
              <a:gd name="adj" fmla="val 9091"/>
            </a:avLst>
          </a:prstGeom>
          <a:solidFill>
            <a:srgbClr val="0F2A5C"/>
          </a:solidFill>
          <a:ln/>
        </p:spPr>
      </p:sp>
      <p:sp>
        <p:nvSpPr>
          <p:cNvPr id="20" name="Text 18"/>
          <p:cNvSpPr/>
          <p:nvPr/>
        </p:nvSpPr>
        <p:spPr>
          <a:xfrm>
            <a:off x="4200144" y="238658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AOV</a:t>
            </a:r>
            <a:endParaRPr lang="en-US" sz="900" dirty="0"/>
          </a:p>
        </p:txBody>
      </p:sp>
      <p:sp>
        <p:nvSpPr>
          <p:cNvPr id="21" name="Shape 19"/>
          <p:cNvSpPr/>
          <p:nvPr/>
        </p:nvSpPr>
        <p:spPr>
          <a:xfrm>
            <a:off x="4218432" y="3474720"/>
            <a:ext cx="310134" cy="137160"/>
          </a:xfrm>
          <a:prstGeom prst="rect">
            <a:avLst/>
          </a:prstGeom>
          <a:solidFill>
            <a:srgbClr val="22D3EE"/>
          </a:solidFill>
          <a:ln/>
        </p:spPr>
      </p:sp>
      <p:sp>
        <p:nvSpPr>
          <p:cNvPr id="22" name="Shape 20"/>
          <p:cNvSpPr/>
          <p:nvPr/>
        </p:nvSpPr>
        <p:spPr>
          <a:xfrm>
            <a:off x="4565142" y="3383280"/>
            <a:ext cx="310134" cy="228600"/>
          </a:xfrm>
          <a:prstGeom prst="rect">
            <a:avLst/>
          </a:prstGeom>
          <a:solidFill>
            <a:srgbClr val="22D3EE"/>
          </a:solidFill>
          <a:ln/>
        </p:spPr>
      </p:sp>
      <p:sp>
        <p:nvSpPr>
          <p:cNvPr id="23" name="Shape 21"/>
          <p:cNvSpPr/>
          <p:nvPr/>
        </p:nvSpPr>
        <p:spPr>
          <a:xfrm>
            <a:off x="4911852" y="3291840"/>
            <a:ext cx="310134" cy="320040"/>
          </a:xfrm>
          <a:prstGeom prst="rect">
            <a:avLst/>
          </a:prstGeom>
          <a:solidFill>
            <a:srgbClr val="22D3EE"/>
          </a:solidFill>
          <a:ln/>
        </p:spPr>
      </p:sp>
      <p:sp>
        <p:nvSpPr>
          <p:cNvPr id="24" name="Shape 22"/>
          <p:cNvSpPr/>
          <p:nvPr/>
        </p:nvSpPr>
        <p:spPr>
          <a:xfrm>
            <a:off x="5258562" y="3474720"/>
            <a:ext cx="310134" cy="137160"/>
          </a:xfrm>
          <a:prstGeom prst="rect">
            <a:avLst/>
          </a:prstGeom>
          <a:solidFill>
            <a:srgbClr val="22D3EE"/>
          </a:solidFill>
          <a:ln/>
        </p:spPr>
      </p:sp>
      <p:sp>
        <p:nvSpPr>
          <p:cNvPr id="25" name="Shape 23"/>
          <p:cNvSpPr/>
          <p:nvPr/>
        </p:nvSpPr>
        <p:spPr>
          <a:xfrm>
            <a:off x="6263640" y="1874520"/>
            <a:ext cx="5349240" cy="1965960"/>
          </a:xfrm>
          <a:prstGeom prst="roundRect">
            <a:avLst>
              <a:gd name="adj" fmla="val 2791"/>
            </a:avLst>
          </a:prstGeom>
          <a:solidFill>
            <a:srgbClr val="0A1F44"/>
          </a:solidFill>
          <a:ln/>
          <a:effectLst>
            <a:outerShdw blurRad="101600" dist="38100" dir="5400000" algn="bl" rotWithShape="0">
              <a:srgbClr val="000000">
                <a:alpha val="10000"/>
              </a:srgbClr>
            </a:outerShdw>
          </a:effectLst>
        </p:spPr>
      </p:sp>
      <p:sp>
        <p:nvSpPr>
          <p:cNvPr id="26" name="Text 24"/>
          <p:cNvSpPr/>
          <p:nvPr/>
        </p:nvSpPr>
        <p:spPr>
          <a:xfrm>
            <a:off x="6428232" y="1984248"/>
            <a:ext cx="5020056"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Sales Dashboard</a:t>
            </a:r>
            <a:endParaRPr lang="en-US" sz="1250" dirty="0"/>
          </a:p>
        </p:txBody>
      </p:sp>
      <p:sp>
        <p:nvSpPr>
          <p:cNvPr id="27" name="Shape 25"/>
          <p:cNvSpPr/>
          <p:nvPr/>
        </p:nvSpPr>
        <p:spPr>
          <a:xfrm>
            <a:off x="6428232" y="2350008"/>
            <a:ext cx="1569720" cy="502920"/>
          </a:xfrm>
          <a:prstGeom prst="roundRect">
            <a:avLst>
              <a:gd name="adj" fmla="val 9091"/>
            </a:avLst>
          </a:prstGeom>
          <a:solidFill>
            <a:srgbClr val="0F2A5C"/>
          </a:solidFill>
          <a:ln/>
        </p:spPr>
      </p:sp>
      <p:sp>
        <p:nvSpPr>
          <p:cNvPr id="28" name="Text 26"/>
          <p:cNvSpPr/>
          <p:nvPr/>
        </p:nvSpPr>
        <p:spPr>
          <a:xfrm>
            <a:off x="6501384" y="238658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By Region</a:t>
            </a:r>
            <a:endParaRPr lang="en-US" sz="900" dirty="0"/>
          </a:p>
        </p:txBody>
      </p:sp>
      <p:sp>
        <p:nvSpPr>
          <p:cNvPr id="29" name="Shape 27"/>
          <p:cNvSpPr/>
          <p:nvPr/>
        </p:nvSpPr>
        <p:spPr>
          <a:xfrm>
            <a:off x="6519672" y="3474720"/>
            <a:ext cx="310134" cy="137160"/>
          </a:xfrm>
          <a:prstGeom prst="rect">
            <a:avLst/>
          </a:prstGeom>
          <a:solidFill>
            <a:srgbClr val="22D3EE"/>
          </a:solidFill>
          <a:ln/>
        </p:spPr>
      </p:sp>
      <p:sp>
        <p:nvSpPr>
          <p:cNvPr id="30" name="Shape 28"/>
          <p:cNvSpPr/>
          <p:nvPr/>
        </p:nvSpPr>
        <p:spPr>
          <a:xfrm>
            <a:off x="6866382" y="3383280"/>
            <a:ext cx="310134" cy="228600"/>
          </a:xfrm>
          <a:prstGeom prst="rect">
            <a:avLst/>
          </a:prstGeom>
          <a:solidFill>
            <a:srgbClr val="22D3EE"/>
          </a:solidFill>
          <a:ln/>
        </p:spPr>
      </p:sp>
      <p:sp>
        <p:nvSpPr>
          <p:cNvPr id="31" name="Shape 29"/>
          <p:cNvSpPr/>
          <p:nvPr/>
        </p:nvSpPr>
        <p:spPr>
          <a:xfrm>
            <a:off x="7213092" y="3291840"/>
            <a:ext cx="310134" cy="320040"/>
          </a:xfrm>
          <a:prstGeom prst="rect">
            <a:avLst/>
          </a:prstGeom>
          <a:solidFill>
            <a:srgbClr val="22D3EE"/>
          </a:solidFill>
          <a:ln/>
        </p:spPr>
      </p:sp>
      <p:sp>
        <p:nvSpPr>
          <p:cNvPr id="32" name="Shape 30"/>
          <p:cNvSpPr/>
          <p:nvPr/>
        </p:nvSpPr>
        <p:spPr>
          <a:xfrm>
            <a:off x="7559802" y="3474720"/>
            <a:ext cx="310134" cy="137160"/>
          </a:xfrm>
          <a:prstGeom prst="rect">
            <a:avLst/>
          </a:prstGeom>
          <a:solidFill>
            <a:srgbClr val="22D3EE"/>
          </a:solidFill>
          <a:ln/>
        </p:spPr>
      </p:sp>
      <p:sp>
        <p:nvSpPr>
          <p:cNvPr id="33" name="Shape 31"/>
          <p:cNvSpPr/>
          <p:nvPr/>
        </p:nvSpPr>
        <p:spPr>
          <a:xfrm>
            <a:off x="8135112" y="2350008"/>
            <a:ext cx="1569720" cy="502920"/>
          </a:xfrm>
          <a:prstGeom prst="roundRect">
            <a:avLst>
              <a:gd name="adj" fmla="val 9091"/>
            </a:avLst>
          </a:prstGeom>
          <a:solidFill>
            <a:srgbClr val="0F2A5C"/>
          </a:solidFill>
          <a:ln/>
        </p:spPr>
      </p:sp>
      <p:sp>
        <p:nvSpPr>
          <p:cNvPr id="34" name="Text 32"/>
          <p:cNvSpPr/>
          <p:nvPr/>
        </p:nvSpPr>
        <p:spPr>
          <a:xfrm>
            <a:off x="8208264" y="238658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By Category</a:t>
            </a:r>
            <a:endParaRPr lang="en-US" sz="900" dirty="0"/>
          </a:p>
        </p:txBody>
      </p:sp>
      <p:sp>
        <p:nvSpPr>
          <p:cNvPr id="35" name="Shape 33"/>
          <p:cNvSpPr/>
          <p:nvPr/>
        </p:nvSpPr>
        <p:spPr>
          <a:xfrm>
            <a:off x="8226552" y="3474720"/>
            <a:ext cx="310134" cy="137160"/>
          </a:xfrm>
          <a:prstGeom prst="rect">
            <a:avLst/>
          </a:prstGeom>
          <a:solidFill>
            <a:srgbClr val="22D3EE"/>
          </a:solidFill>
          <a:ln/>
        </p:spPr>
      </p:sp>
      <p:sp>
        <p:nvSpPr>
          <p:cNvPr id="36" name="Shape 34"/>
          <p:cNvSpPr/>
          <p:nvPr/>
        </p:nvSpPr>
        <p:spPr>
          <a:xfrm>
            <a:off x="8573262" y="3383280"/>
            <a:ext cx="310134" cy="228600"/>
          </a:xfrm>
          <a:prstGeom prst="rect">
            <a:avLst/>
          </a:prstGeom>
          <a:solidFill>
            <a:srgbClr val="22D3EE"/>
          </a:solidFill>
          <a:ln/>
        </p:spPr>
      </p:sp>
      <p:sp>
        <p:nvSpPr>
          <p:cNvPr id="37" name="Shape 35"/>
          <p:cNvSpPr/>
          <p:nvPr/>
        </p:nvSpPr>
        <p:spPr>
          <a:xfrm>
            <a:off x="8919972" y="3291840"/>
            <a:ext cx="310134" cy="320040"/>
          </a:xfrm>
          <a:prstGeom prst="rect">
            <a:avLst/>
          </a:prstGeom>
          <a:solidFill>
            <a:srgbClr val="22D3EE"/>
          </a:solidFill>
          <a:ln/>
        </p:spPr>
      </p:sp>
      <p:sp>
        <p:nvSpPr>
          <p:cNvPr id="38" name="Shape 36"/>
          <p:cNvSpPr/>
          <p:nvPr/>
        </p:nvSpPr>
        <p:spPr>
          <a:xfrm>
            <a:off x="9266682" y="3474720"/>
            <a:ext cx="310134" cy="137160"/>
          </a:xfrm>
          <a:prstGeom prst="rect">
            <a:avLst/>
          </a:prstGeom>
          <a:solidFill>
            <a:srgbClr val="22D3EE"/>
          </a:solidFill>
          <a:ln/>
        </p:spPr>
      </p:sp>
      <p:sp>
        <p:nvSpPr>
          <p:cNvPr id="39" name="Shape 37"/>
          <p:cNvSpPr/>
          <p:nvPr/>
        </p:nvSpPr>
        <p:spPr>
          <a:xfrm>
            <a:off x="9841992" y="2350008"/>
            <a:ext cx="1569720" cy="502920"/>
          </a:xfrm>
          <a:prstGeom prst="roundRect">
            <a:avLst>
              <a:gd name="adj" fmla="val 9091"/>
            </a:avLst>
          </a:prstGeom>
          <a:solidFill>
            <a:srgbClr val="0F2A5C"/>
          </a:solidFill>
          <a:ln/>
        </p:spPr>
      </p:sp>
      <p:sp>
        <p:nvSpPr>
          <p:cNvPr id="40" name="Text 38"/>
          <p:cNvSpPr/>
          <p:nvPr/>
        </p:nvSpPr>
        <p:spPr>
          <a:xfrm>
            <a:off x="9915144" y="238658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Trend</a:t>
            </a:r>
            <a:endParaRPr lang="en-US" sz="900" dirty="0"/>
          </a:p>
        </p:txBody>
      </p:sp>
      <p:sp>
        <p:nvSpPr>
          <p:cNvPr id="41" name="Shape 39"/>
          <p:cNvSpPr/>
          <p:nvPr/>
        </p:nvSpPr>
        <p:spPr>
          <a:xfrm>
            <a:off x="9933432" y="3474720"/>
            <a:ext cx="310134" cy="137160"/>
          </a:xfrm>
          <a:prstGeom prst="rect">
            <a:avLst/>
          </a:prstGeom>
          <a:solidFill>
            <a:srgbClr val="22D3EE"/>
          </a:solidFill>
          <a:ln/>
        </p:spPr>
      </p:sp>
      <p:sp>
        <p:nvSpPr>
          <p:cNvPr id="42" name="Shape 40"/>
          <p:cNvSpPr/>
          <p:nvPr/>
        </p:nvSpPr>
        <p:spPr>
          <a:xfrm>
            <a:off x="10280142" y="3383280"/>
            <a:ext cx="310134" cy="228600"/>
          </a:xfrm>
          <a:prstGeom prst="rect">
            <a:avLst/>
          </a:prstGeom>
          <a:solidFill>
            <a:srgbClr val="22D3EE"/>
          </a:solidFill>
          <a:ln/>
        </p:spPr>
      </p:sp>
      <p:sp>
        <p:nvSpPr>
          <p:cNvPr id="43" name="Shape 41"/>
          <p:cNvSpPr/>
          <p:nvPr/>
        </p:nvSpPr>
        <p:spPr>
          <a:xfrm>
            <a:off x="10626852" y="3291840"/>
            <a:ext cx="310134" cy="320040"/>
          </a:xfrm>
          <a:prstGeom prst="rect">
            <a:avLst/>
          </a:prstGeom>
          <a:solidFill>
            <a:srgbClr val="22D3EE"/>
          </a:solidFill>
          <a:ln/>
        </p:spPr>
      </p:sp>
      <p:sp>
        <p:nvSpPr>
          <p:cNvPr id="44" name="Shape 42"/>
          <p:cNvSpPr/>
          <p:nvPr/>
        </p:nvSpPr>
        <p:spPr>
          <a:xfrm>
            <a:off x="10973562" y="3474720"/>
            <a:ext cx="310134" cy="137160"/>
          </a:xfrm>
          <a:prstGeom prst="rect">
            <a:avLst/>
          </a:prstGeom>
          <a:solidFill>
            <a:srgbClr val="22D3EE"/>
          </a:solidFill>
          <a:ln/>
        </p:spPr>
      </p:sp>
      <p:sp>
        <p:nvSpPr>
          <p:cNvPr id="45" name="Shape 43"/>
          <p:cNvSpPr/>
          <p:nvPr/>
        </p:nvSpPr>
        <p:spPr>
          <a:xfrm>
            <a:off x="548640" y="4069080"/>
            <a:ext cx="5349240" cy="1965960"/>
          </a:xfrm>
          <a:prstGeom prst="roundRect">
            <a:avLst>
              <a:gd name="adj" fmla="val 2791"/>
            </a:avLst>
          </a:prstGeom>
          <a:solidFill>
            <a:srgbClr val="0A1F44"/>
          </a:solidFill>
          <a:ln/>
          <a:effectLst>
            <a:outerShdw blurRad="101600" dist="38100" dir="5400000" algn="bl" rotWithShape="0">
              <a:srgbClr val="000000">
                <a:alpha val="10000"/>
              </a:srgbClr>
            </a:outerShdw>
          </a:effectLst>
        </p:spPr>
      </p:sp>
      <p:sp>
        <p:nvSpPr>
          <p:cNvPr id="46" name="Text 44"/>
          <p:cNvSpPr/>
          <p:nvPr/>
        </p:nvSpPr>
        <p:spPr>
          <a:xfrm>
            <a:off x="713232" y="4178808"/>
            <a:ext cx="5020056"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Customer Dashboard</a:t>
            </a:r>
            <a:endParaRPr lang="en-US" sz="1250" dirty="0"/>
          </a:p>
        </p:txBody>
      </p:sp>
      <p:sp>
        <p:nvSpPr>
          <p:cNvPr id="47" name="Shape 45"/>
          <p:cNvSpPr/>
          <p:nvPr/>
        </p:nvSpPr>
        <p:spPr>
          <a:xfrm>
            <a:off x="713232" y="4544568"/>
            <a:ext cx="1569720" cy="502920"/>
          </a:xfrm>
          <a:prstGeom prst="roundRect">
            <a:avLst>
              <a:gd name="adj" fmla="val 9091"/>
            </a:avLst>
          </a:prstGeom>
          <a:solidFill>
            <a:srgbClr val="0F2A5C"/>
          </a:solidFill>
          <a:ln/>
        </p:spPr>
      </p:sp>
      <p:sp>
        <p:nvSpPr>
          <p:cNvPr id="48" name="Text 46"/>
          <p:cNvSpPr/>
          <p:nvPr/>
        </p:nvSpPr>
        <p:spPr>
          <a:xfrm>
            <a:off x="786384" y="458114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Segments</a:t>
            </a:r>
            <a:endParaRPr lang="en-US" sz="900" dirty="0"/>
          </a:p>
        </p:txBody>
      </p:sp>
      <p:sp>
        <p:nvSpPr>
          <p:cNvPr id="49" name="Shape 47"/>
          <p:cNvSpPr/>
          <p:nvPr/>
        </p:nvSpPr>
        <p:spPr>
          <a:xfrm>
            <a:off x="804672" y="5669280"/>
            <a:ext cx="310134" cy="137160"/>
          </a:xfrm>
          <a:prstGeom prst="rect">
            <a:avLst/>
          </a:prstGeom>
          <a:solidFill>
            <a:srgbClr val="22D3EE"/>
          </a:solidFill>
          <a:ln/>
        </p:spPr>
      </p:sp>
      <p:sp>
        <p:nvSpPr>
          <p:cNvPr id="50" name="Shape 48"/>
          <p:cNvSpPr/>
          <p:nvPr/>
        </p:nvSpPr>
        <p:spPr>
          <a:xfrm>
            <a:off x="1151382" y="5577840"/>
            <a:ext cx="310134" cy="228600"/>
          </a:xfrm>
          <a:prstGeom prst="rect">
            <a:avLst/>
          </a:prstGeom>
          <a:solidFill>
            <a:srgbClr val="22D3EE"/>
          </a:solidFill>
          <a:ln/>
        </p:spPr>
      </p:sp>
      <p:sp>
        <p:nvSpPr>
          <p:cNvPr id="51" name="Shape 49"/>
          <p:cNvSpPr/>
          <p:nvPr/>
        </p:nvSpPr>
        <p:spPr>
          <a:xfrm>
            <a:off x="1498092" y="5486400"/>
            <a:ext cx="310134" cy="320040"/>
          </a:xfrm>
          <a:prstGeom prst="rect">
            <a:avLst/>
          </a:prstGeom>
          <a:solidFill>
            <a:srgbClr val="22D3EE"/>
          </a:solidFill>
          <a:ln/>
        </p:spPr>
      </p:sp>
      <p:sp>
        <p:nvSpPr>
          <p:cNvPr id="52" name="Shape 50"/>
          <p:cNvSpPr/>
          <p:nvPr/>
        </p:nvSpPr>
        <p:spPr>
          <a:xfrm>
            <a:off x="1844802" y="5669280"/>
            <a:ext cx="310134" cy="137160"/>
          </a:xfrm>
          <a:prstGeom prst="rect">
            <a:avLst/>
          </a:prstGeom>
          <a:solidFill>
            <a:srgbClr val="22D3EE"/>
          </a:solidFill>
          <a:ln/>
        </p:spPr>
      </p:sp>
      <p:sp>
        <p:nvSpPr>
          <p:cNvPr id="53" name="Shape 51"/>
          <p:cNvSpPr/>
          <p:nvPr/>
        </p:nvSpPr>
        <p:spPr>
          <a:xfrm>
            <a:off x="2420112" y="4544568"/>
            <a:ext cx="1569720" cy="502920"/>
          </a:xfrm>
          <a:prstGeom prst="roundRect">
            <a:avLst>
              <a:gd name="adj" fmla="val 9091"/>
            </a:avLst>
          </a:prstGeom>
          <a:solidFill>
            <a:srgbClr val="0F2A5C"/>
          </a:solidFill>
          <a:ln/>
        </p:spPr>
      </p:sp>
      <p:sp>
        <p:nvSpPr>
          <p:cNvPr id="54" name="Text 52"/>
          <p:cNvSpPr/>
          <p:nvPr/>
        </p:nvSpPr>
        <p:spPr>
          <a:xfrm>
            <a:off x="2493264" y="458114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Retention</a:t>
            </a:r>
            <a:endParaRPr lang="en-US" sz="900" dirty="0"/>
          </a:p>
        </p:txBody>
      </p:sp>
      <p:sp>
        <p:nvSpPr>
          <p:cNvPr id="55" name="Shape 53"/>
          <p:cNvSpPr/>
          <p:nvPr/>
        </p:nvSpPr>
        <p:spPr>
          <a:xfrm>
            <a:off x="2511552" y="5669280"/>
            <a:ext cx="310134" cy="137160"/>
          </a:xfrm>
          <a:prstGeom prst="rect">
            <a:avLst/>
          </a:prstGeom>
          <a:solidFill>
            <a:srgbClr val="22D3EE"/>
          </a:solidFill>
          <a:ln/>
        </p:spPr>
      </p:sp>
      <p:sp>
        <p:nvSpPr>
          <p:cNvPr id="56" name="Shape 54"/>
          <p:cNvSpPr/>
          <p:nvPr/>
        </p:nvSpPr>
        <p:spPr>
          <a:xfrm>
            <a:off x="2858262" y="5577840"/>
            <a:ext cx="310134" cy="228600"/>
          </a:xfrm>
          <a:prstGeom prst="rect">
            <a:avLst/>
          </a:prstGeom>
          <a:solidFill>
            <a:srgbClr val="22D3EE"/>
          </a:solidFill>
          <a:ln/>
        </p:spPr>
      </p:sp>
      <p:sp>
        <p:nvSpPr>
          <p:cNvPr id="57" name="Shape 55"/>
          <p:cNvSpPr/>
          <p:nvPr/>
        </p:nvSpPr>
        <p:spPr>
          <a:xfrm>
            <a:off x="3204972" y="5486400"/>
            <a:ext cx="310134" cy="320040"/>
          </a:xfrm>
          <a:prstGeom prst="rect">
            <a:avLst/>
          </a:prstGeom>
          <a:solidFill>
            <a:srgbClr val="22D3EE"/>
          </a:solidFill>
          <a:ln/>
        </p:spPr>
      </p:sp>
      <p:sp>
        <p:nvSpPr>
          <p:cNvPr id="58" name="Shape 56"/>
          <p:cNvSpPr/>
          <p:nvPr/>
        </p:nvSpPr>
        <p:spPr>
          <a:xfrm>
            <a:off x="3551682" y="5669280"/>
            <a:ext cx="310134" cy="137160"/>
          </a:xfrm>
          <a:prstGeom prst="rect">
            <a:avLst/>
          </a:prstGeom>
          <a:solidFill>
            <a:srgbClr val="22D3EE"/>
          </a:solidFill>
          <a:ln/>
        </p:spPr>
      </p:sp>
      <p:sp>
        <p:nvSpPr>
          <p:cNvPr id="59" name="Shape 57"/>
          <p:cNvSpPr/>
          <p:nvPr/>
        </p:nvSpPr>
        <p:spPr>
          <a:xfrm>
            <a:off x="4126992" y="4544568"/>
            <a:ext cx="1569720" cy="502920"/>
          </a:xfrm>
          <a:prstGeom prst="roundRect">
            <a:avLst>
              <a:gd name="adj" fmla="val 9091"/>
            </a:avLst>
          </a:prstGeom>
          <a:solidFill>
            <a:srgbClr val="0F2A5C"/>
          </a:solidFill>
          <a:ln/>
        </p:spPr>
      </p:sp>
      <p:sp>
        <p:nvSpPr>
          <p:cNvPr id="60" name="Text 58"/>
          <p:cNvSpPr/>
          <p:nvPr/>
        </p:nvSpPr>
        <p:spPr>
          <a:xfrm>
            <a:off x="4200144" y="458114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Top Customers</a:t>
            </a:r>
            <a:endParaRPr lang="en-US" sz="900" dirty="0"/>
          </a:p>
        </p:txBody>
      </p:sp>
      <p:sp>
        <p:nvSpPr>
          <p:cNvPr id="61" name="Shape 59"/>
          <p:cNvSpPr/>
          <p:nvPr/>
        </p:nvSpPr>
        <p:spPr>
          <a:xfrm>
            <a:off x="4218432" y="5669280"/>
            <a:ext cx="310134" cy="137160"/>
          </a:xfrm>
          <a:prstGeom prst="rect">
            <a:avLst/>
          </a:prstGeom>
          <a:solidFill>
            <a:srgbClr val="22D3EE"/>
          </a:solidFill>
          <a:ln/>
        </p:spPr>
      </p:sp>
      <p:sp>
        <p:nvSpPr>
          <p:cNvPr id="62" name="Shape 60"/>
          <p:cNvSpPr/>
          <p:nvPr/>
        </p:nvSpPr>
        <p:spPr>
          <a:xfrm>
            <a:off x="4565142" y="5577840"/>
            <a:ext cx="310134" cy="228600"/>
          </a:xfrm>
          <a:prstGeom prst="rect">
            <a:avLst/>
          </a:prstGeom>
          <a:solidFill>
            <a:srgbClr val="22D3EE"/>
          </a:solidFill>
          <a:ln/>
        </p:spPr>
      </p:sp>
      <p:sp>
        <p:nvSpPr>
          <p:cNvPr id="63" name="Shape 61"/>
          <p:cNvSpPr/>
          <p:nvPr/>
        </p:nvSpPr>
        <p:spPr>
          <a:xfrm>
            <a:off x="4911852" y="5486400"/>
            <a:ext cx="310134" cy="320040"/>
          </a:xfrm>
          <a:prstGeom prst="rect">
            <a:avLst/>
          </a:prstGeom>
          <a:solidFill>
            <a:srgbClr val="22D3EE"/>
          </a:solidFill>
          <a:ln/>
        </p:spPr>
      </p:sp>
      <p:sp>
        <p:nvSpPr>
          <p:cNvPr id="64" name="Shape 62"/>
          <p:cNvSpPr/>
          <p:nvPr/>
        </p:nvSpPr>
        <p:spPr>
          <a:xfrm>
            <a:off x="5258562" y="5669280"/>
            <a:ext cx="310134" cy="137160"/>
          </a:xfrm>
          <a:prstGeom prst="rect">
            <a:avLst/>
          </a:prstGeom>
          <a:solidFill>
            <a:srgbClr val="22D3EE"/>
          </a:solidFill>
          <a:ln/>
        </p:spPr>
      </p:sp>
      <p:sp>
        <p:nvSpPr>
          <p:cNvPr id="65" name="Shape 63"/>
          <p:cNvSpPr/>
          <p:nvPr/>
        </p:nvSpPr>
        <p:spPr>
          <a:xfrm>
            <a:off x="6263640" y="4069080"/>
            <a:ext cx="5349240" cy="1965960"/>
          </a:xfrm>
          <a:prstGeom prst="roundRect">
            <a:avLst>
              <a:gd name="adj" fmla="val 2791"/>
            </a:avLst>
          </a:prstGeom>
          <a:solidFill>
            <a:srgbClr val="0A1F44"/>
          </a:solidFill>
          <a:ln/>
          <a:effectLst>
            <a:outerShdw blurRad="101600" dist="38100" dir="5400000" algn="bl" rotWithShape="0">
              <a:srgbClr val="000000">
                <a:alpha val="10000"/>
              </a:srgbClr>
            </a:outerShdw>
          </a:effectLst>
        </p:spPr>
      </p:sp>
      <p:sp>
        <p:nvSpPr>
          <p:cNvPr id="66" name="Text 64"/>
          <p:cNvSpPr/>
          <p:nvPr/>
        </p:nvSpPr>
        <p:spPr>
          <a:xfrm>
            <a:off x="6428232" y="4178808"/>
            <a:ext cx="5020056"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Forecast Dashboard</a:t>
            </a:r>
            <a:endParaRPr lang="en-US" sz="1250" dirty="0"/>
          </a:p>
        </p:txBody>
      </p:sp>
      <p:sp>
        <p:nvSpPr>
          <p:cNvPr id="67" name="Shape 65"/>
          <p:cNvSpPr/>
          <p:nvPr/>
        </p:nvSpPr>
        <p:spPr>
          <a:xfrm>
            <a:off x="6428232" y="4544568"/>
            <a:ext cx="1569720" cy="502920"/>
          </a:xfrm>
          <a:prstGeom prst="roundRect">
            <a:avLst>
              <a:gd name="adj" fmla="val 9091"/>
            </a:avLst>
          </a:prstGeom>
          <a:solidFill>
            <a:srgbClr val="0F2A5C"/>
          </a:solidFill>
          <a:ln/>
        </p:spPr>
      </p:sp>
      <p:sp>
        <p:nvSpPr>
          <p:cNvPr id="68" name="Text 66"/>
          <p:cNvSpPr/>
          <p:nvPr/>
        </p:nvSpPr>
        <p:spPr>
          <a:xfrm>
            <a:off x="6501384" y="458114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Predicted Sales</a:t>
            </a:r>
            <a:endParaRPr lang="en-US" sz="900" dirty="0"/>
          </a:p>
        </p:txBody>
      </p:sp>
      <p:sp>
        <p:nvSpPr>
          <p:cNvPr id="69" name="Shape 67"/>
          <p:cNvSpPr/>
          <p:nvPr/>
        </p:nvSpPr>
        <p:spPr>
          <a:xfrm>
            <a:off x="6519672" y="5669280"/>
            <a:ext cx="310134" cy="137160"/>
          </a:xfrm>
          <a:prstGeom prst="rect">
            <a:avLst/>
          </a:prstGeom>
          <a:solidFill>
            <a:srgbClr val="22D3EE"/>
          </a:solidFill>
          <a:ln/>
        </p:spPr>
      </p:sp>
      <p:sp>
        <p:nvSpPr>
          <p:cNvPr id="70" name="Shape 68"/>
          <p:cNvSpPr/>
          <p:nvPr/>
        </p:nvSpPr>
        <p:spPr>
          <a:xfrm>
            <a:off x="6866382" y="5577840"/>
            <a:ext cx="310134" cy="228600"/>
          </a:xfrm>
          <a:prstGeom prst="rect">
            <a:avLst/>
          </a:prstGeom>
          <a:solidFill>
            <a:srgbClr val="22D3EE"/>
          </a:solidFill>
          <a:ln/>
        </p:spPr>
      </p:sp>
      <p:sp>
        <p:nvSpPr>
          <p:cNvPr id="71" name="Shape 69"/>
          <p:cNvSpPr/>
          <p:nvPr/>
        </p:nvSpPr>
        <p:spPr>
          <a:xfrm>
            <a:off x="7213092" y="5486400"/>
            <a:ext cx="310134" cy="320040"/>
          </a:xfrm>
          <a:prstGeom prst="rect">
            <a:avLst/>
          </a:prstGeom>
          <a:solidFill>
            <a:srgbClr val="22D3EE"/>
          </a:solidFill>
          <a:ln/>
        </p:spPr>
      </p:sp>
      <p:sp>
        <p:nvSpPr>
          <p:cNvPr id="72" name="Shape 70"/>
          <p:cNvSpPr/>
          <p:nvPr/>
        </p:nvSpPr>
        <p:spPr>
          <a:xfrm>
            <a:off x="7559802" y="5669280"/>
            <a:ext cx="310134" cy="137160"/>
          </a:xfrm>
          <a:prstGeom prst="rect">
            <a:avLst/>
          </a:prstGeom>
          <a:solidFill>
            <a:srgbClr val="22D3EE"/>
          </a:solidFill>
          <a:ln/>
        </p:spPr>
      </p:sp>
      <p:sp>
        <p:nvSpPr>
          <p:cNvPr id="73" name="Shape 71"/>
          <p:cNvSpPr/>
          <p:nvPr/>
        </p:nvSpPr>
        <p:spPr>
          <a:xfrm>
            <a:off x="8135112" y="4544568"/>
            <a:ext cx="1569720" cy="502920"/>
          </a:xfrm>
          <a:prstGeom prst="roundRect">
            <a:avLst>
              <a:gd name="adj" fmla="val 9091"/>
            </a:avLst>
          </a:prstGeom>
          <a:solidFill>
            <a:srgbClr val="0F2A5C"/>
          </a:solidFill>
          <a:ln/>
        </p:spPr>
      </p:sp>
      <p:sp>
        <p:nvSpPr>
          <p:cNvPr id="74" name="Text 72"/>
          <p:cNvSpPr/>
          <p:nvPr/>
        </p:nvSpPr>
        <p:spPr>
          <a:xfrm>
            <a:off x="8208264" y="458114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Confidence Band</a:t>
            </a:r>
            <a:endParaRPr lang="en-US" sz="900" dirty="0"/>
          </a:p>
        </p:txBody>
      </p:sp>
      <p:sp>
        <p:nvSpPr>
          <p:cNvPr id="75" name="Shape 73"/>
          <p:cNvSpPr/>
          <p:nvPr/>
        </p:nvSpPr>
        <p:spPr>
          <a:xfrm>
            <a:off x="8226552" y="5669280"/>
            <a:ext cx="310134" cy="137160"/>
          </a:xfrm>
          <a:prstGeom prst="rect">
            <a:avLst/>
          </a:prstGeom>
          <a:solidFill>
            <a:srgbClr val="22D3EE"/>
          </a:solidFill>
          <a:ln/>
        </p:spPr>
      </p:sp>
      <p:sp>
        <p:nvSpPr>
          <p:cNvPr id="76" name="Shape 74"/>
          <p:cNvSpPr/>
          <p:nvPr/>
        </p:nvSpPr>
        <p:spPr>
          <a:xfrm>
            <a:off x="8573262" y="5577840"/>
            <a:ext cx="310134" cy="228600"/>
          </a:xfrm>
          <a:prstGeom prst="rect">
            <a:avLst/>
          </a:prstGeom>
          <a:solidFill>
            <a:srgbClr val="22D3EE"/>
          </a:solidFill>
          <a:ln/>
        </p:spPr>
      </p:sp>
      <p:sp>
        <p:nvSpPr>
          <p:cNvPr id="77" name="Shape 75"/>
          <p:cNvSpPr/>
          <p:nvPr/>
        </p:nvSpPr>
        <p:spPr>
          <a:xfrm>
            <a:off x="8919972" y="5486400"/>
            <a:ext cx="310134" cy="320040"/>
          </a:xfrm>
          <a:prstGeom prst="rect">
            <a:avLst/>
          </a:prstGeom>
          <a:solidFill>
            <a:srgbClr val="22D3EE"/>
          </a:solidFill>
          <a:ln/>
        </p:spPr>
      </p:sp>
      <p:sp>
        <p:nvSpPr>
          <p:cNvPr id="78" name="Shape 76"/>
          <p:cNvSpPr/>
          <p:nvPr/>
        </p:nvSpPr>
        <p:spPr>
          <a:xfrm>
            <a:off x="9266682" y="5669280"/>
            <a:ext cx="310134" cy="137160"/>
          </a:xfrm>
          <a:prstGeom prst="rect">
            <a:avLst/>
          </a:prstGeom>
          <a:solidFill>
            <a:srgbClr val="22D3EE"/>
          </a:solidFill>
          <a:ln/>
        </p:spPr>
      </p:sp>
      <p:sp>
        <p:nvSpPr>
          <p:cNvPr id="79" name="Shape 77"/>
          <p:cNvSpPr/>
          <p:nvPr/>
        </p:nvSpPr>
        <p:spPr>
          <a:xfrm>
            <a:off x="9841992" y="4544568"/>
            <a:ext cx="1569720" cy="502920"/>
          </a:xfrm>
          <a:prstGeom prst="roundRect">
            <a:avLst>
              <a:gd name="adj" fmla="val 9091"/>
            </a:avLst>
          </a:prstGeom>
          <a:solidFill>
            <a:srgbClr val="0F2A5C"/>
          </a:solidFill>
          <a:ln/>
        </p:spPr>
      </p:sp>
      <p:sp>
        <p:nvSpPr>
          <p:cNvPr id="80" name="Text 78"/>
          <p:cNvSpPr/>
          <p:nvPr/>
        </p:nvSpPr>
        <p:spPr>
          <a:xfrm>
            <a:off x="9915144" y="4581144"/>
            <a:ext cx="1423416" cy="420624"/>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Accuracy</a:t>
            </a:r>
            <a:endParaRPr lang="en-US" sz="900" dirty="0"/>
          </a:p>
        </p:txBody>
      </p:sp>
      <p:sp>
        <p:nvSpPr>
          <p:cNvPr id="81" name="Shape 79"/>
          <p:cNvSpPr/>
          <p:nvPr/>
        </p:nvSpPr>
        <p:spPr>
          <a:xfrm>
            <a:off x="9933432" y="5669280"/>
            <a:ext cx="310134" cy="137160"/>
          </a:xfrm>
          <a:prstGeom prst="rect">
            <a:avLst/>
          </a:prstGeom>
          <a:solidFill>
            <a:srgbClr val="22D3EE"/>
          </a:solidFill>
          <a:ln/>
        </p:spPr>
      </p:sp>
      <p:sp>
        <p:nvSpPr>
          <p:cNvPr id="82" name="Shape 80"/>
          <p:cNvSpPr/>
          <p:nvPr/>
        </p:nvSpPr>
        <p:spPr>
          <a:xfrm>
            <a:off x="10280142" y="5577840"/>
            <a:ext cx="310134" cy="228600"/>
          </a:xfrm>
          <a:prstGeom prst="rect">
            <a:avLst/>
          </a:prstGeom>
          <a:solidFill>
            <a:srgbClr val="22D3EE"/>
          </a:solidFill>
          <a:ln/>
        </p:spPr>
      </p:sp>
      <p:sp>
        <p:nvSpPr>
          <p:cNvPr id="83" name="Shape 81"/>
          <p:cNvSpPr/>
          <p:nvPr/>
        </p:nvSpPr>
        <p:spPr>
          <a:xfrm>
            <a:off x="10626852" y="5486400"/>
            <a:ext cx="310134" cy="320040"/>
          </a:xfrm>
          <a:prstGeom prst="rect">
            <a:avLst/>
          </a:prstGeom>
          <a:solidFill>
            <a:srgbClr val="22D3EE"/>
          </a:solidFill>
          <a:ln/>
        </p:spPr>
      </p:sp>
      <p:sp>
        <p:nvSpPr>
          <p:cNvPr id="84" name="Shape 82"/>
          <p:cNvSpPr/>
          <p:nvPr/>
        </p:nvSpPr>
        <p:spPr>
          <a:xfrm>
            <a:off x="10973562" y="5669280"/>
            <a:ext cx="310134" cy="137160"/>
          </a:xfrm>
          <a:prstGeom prst="rect">
            <a:avLst/>
          </a:prstGeom>
          <a:solidFill>
            <a:srgbClr val="22D3EE"/>
          </a:solidFill>
          <a:ln/>
        </p:spPr>
      </p:sp>
      <p:sp>
        <p:nvSpPr>
          <p:cNvPr id="86" name="Text 83"/>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F44"/>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DEPLOYMENT</a:t>
            </a:r>
            <a:endParaRPr lang="en-US" sz="1200" dirty="0"/>
          </a:p>
        </p:txBody>
      </p:sp>
      <p:sp>
        <p:nvSpPr>
          <p:cNvPr id="3" name="Text 1"/>
          <p:cNvSpPr/>
          <p:nvPr/>
        </p:nvSpPr>
        <p:spPr>
          <a:xfrm>
            <a:off x="548640" y="621792"/>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Streamlit Web Application</a:t>
            </a:r>
            <a:endParaRPr lang="en-US" sz="3200" dirty="0"/>
          </a:p>
        </p:txBody>
      </p:sp>
      <p:sp>
        <p:nvSpPr>
          <p:cNvPr id="4" name="Text 2"/>
          <p:cNvSpPr/>
          <p:nvPr/>
        </p:nvSpPr>
        <p:spPr>
          <a:xfrm>
            <a:off x="548640" y="1234440"/>
            <a:ext cx="10515600" cy="45720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A lightweight interface bringing the models to end users</a:t>
            </a:r>
            <a:endParaRPr lang="en-US" sz="1500" dirty="0"/>
          </a:p>
        </p:txBody>
      </p:sp>
      <p:sp>
        <p:nvSpPr>
          <p:cNvPr id="5" name="Shape 3"/>
          <p:cNvSpPr/>
          <p:nvPr/>
        </p:nvSpPr>
        <p:spPr>
          <a:xfrm>
            <a:off x="548640" y="1828800"/>
            <a:ext cx="11064240" cy="4297680"/>
          </a:xfrm>
          <a:prstGeom prst="roundRect">
            <a:avLst>
              <a:gd name="adj" fmla="val 1489"/>
            </a:avLst>
          </a:prstGeom>
          <a:solidFill>
            <a:srgbClr val="FFFFFF"/>
          </a:solidFill>
          <a:ln/>
          <a:effectLst>
            <a:outerShdw blurRad="152400" dist="50800" dir="5400000" algn="bl" rotWithShape="0">
              <a:srgbClr val="000000">
                <a:alpha val="16000"/>
              </a:srgbClr>
            </a:outerShdw>
          </a:effectLst>
        </p:spPr>
      </p:sp>
      <p:sp>
        <p:nvSpPr>
          <p:cNvPr id="6" name="Shape 4"/>
          <p:cNvSpPr/>
          <p:nvPr/>
        </p:nvSpPr>
        <p:spPr>
          <a:xfrm>
            <a:off x="548640" y="1828800"/>
            <a:ext cx="11064240" cy="365760"/>
          </a:xfrm>
          <a:prstGeom prst="rect">
            <a:avLst/>
          </a:prstGeom>
          <a:solidFill>
            <a:srgbClr val="F1F5F9"/>
          </a:solidFill>
          <a:ln/>
        </p:spPr>
      </p:sp>
      <p:sp>
        <p:nvSpPr>
          <p:cNvPr id="7" name="Shape 5"/>
          <p:cNvSpPr/>
          <p:nvPr/>
        </p:nvSpPr>
        <p:spPr>
          <a:xfrm>
            <a:off x="731520" y="1956816"/>
            <a:ext cx="109728" cy="109728"/>
          </a:xfrm>
          <a:prstGeom prst="ellipse">
            <a:avLst/>
          </a:prstGeom>
          <a:solidFill>
            <a:srgbClr val="FF5F56"/>
          </a:solidFill>
          <a:ln/>
        </p:spPr>
      </p:sp>
      <p:sp>
        <p:nvSpPr>
          <p:cNvPr id="8" name="Shape 6"/>
          <p:cNvSpPr/>
          <p:nvPr/>
        </p:nvSpPr>
        <p:spPr>
          <a:xfrm>
            <a:off x="960120" y="1956816"/>
            <a:ext cx="109728" cy="109728"/>
          </a:xfrm>
          <a:prstGeom prst="ellipse">
            <a:avLst/>
          </a:prstGeom>
          <a:solidFill>
            <a:srgbClr val="FFBD2E"/>
          </a:solidFill>
          <a:ln/>
        </p:spPr>
      </p:sp>
      <p:sp>
        <p:nvSpPr>
          <p:cNvPr id="9" name="Shape 7"/>
          <p:cNvSpPr/>
          <p:nvPr/>
        </p:nvSpPr>
        <p:spPr>
          <a:xfrm>
            <a:off x="1188720" y="1956816"/>
            <a:ext cx="109728" cy="109728"/>
          </a:xfrm>
          <a:prstGeom prst="ellipse">
            <a:avLst/>
          </a:prstGeom>
          <a:solidFill>
            <a:srgbClr val="27C93F"/>
          </a:solidFill>
          <a:ln/>
        </p:spPr>
      </p:sp>
      <p:sp>
        <p:nvSpPr>
          <p:cNvPr id="10" name="Text 8"/>
          <p:cNvSpPr/>
          <p:nvPr/>
        </p:nvSpPr>
        <p:spPr>
          <a:xfrm>
            <a:off x="4480560" y="1847088"/>
            <a:ext cx="3200400" cy="32004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app.py — localhost:8501</a:t>
            </a:r>
            <a:endParaRPr lang="en-US" sz="950" dirty="0"/>
          </a:p>
        </p:txBody>
      </p:sp>
      <p:sp>
        <p:nvSpPr>
          <p:cNvPr id="11" name="Shape 9"/>
          <p:cNvSpPr/>
          <p:nvPr/>
        </p:nvSpPr>
        <p:spPr>
          <a:xfrm>
            <a:off x="548640" y="2194560"/>
            <a:ext cx="2103120" cy="3931920"/>
          </a:xfrm>
          <a:prstGeom prst="rect">
            <a:avLst/>
          </a:prstGeom>
          <a:solidFill>
            <a:srgbClr val="0A1F44"/>
          </a:solidFill>
          <a:ln/>
        </p:spPr>
      </p:sp>
      <p:pic>
        <p:nvPicPr>
          <p:cNvPr id="12" name="Image 0" descr="/home/claude/deck/icons/chartBar_cyan.png"/>
          <p:cNvPicPr>
            <a:picLocks noChangeAspect="1"/>
          </p:cNvPicPr>
          <p:nvPr/>
        </p:nvPicPr>
        <p:blipFill>
          <a:blip r:embed="rId3"/>
          <a:stretch>
            <a:fillRect/>
          </a:stretch>
        </p:blipFill>
        <p:spPr>
          <a:xfrm>
            <a:off x="777240" y="2423160"/>
            <a:ext cx="219456" cy="219456"/>
          </a:xfrm>
          <a:prstGeom prst="rect">
            <a:avLst/>
          </a:prstGeom>
        </p:spPr>
      </p:pic>
      <p:sp>
        <p:nvSpPr>
          <p:cNvPr id="13" name="Text 10"/>
          <p:cNvSpPr/>
          <p:nvPr/>
        </p:nvSpPr>
        <p:spPr>
          <a:xfrm>
            <a:off x="1097280" y="2386584"/>
            <a:ext cx="146304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Home</a:t>
            </a:r>
            <a:endParaRPr lang="en-US" sz="1100" dirty="0"/>
          </a:p>
        </p:txBody>
      </p:sp>
      <p:pic>
        <p:nvPicPr>
          <p:cNvPr id="14" name="Image 1" descr="/home/claude/deck/icons/chartArea_cyan.png"/>
          <p:cNvPicPr>
            <a:picLocks noChangeAspect="1"/>
          </p:cNvPicPr>
          <p:nvPr/>
        </p:nvPicPr>
        <p:blipFill>
          <a:blip r:embed="rId4"/>
          <a:stretch>
            <a:fillRect/>
          </a:stretch>
        </p:blipFill>
        <p:spPr>
          <a:xfrm>
            <a:off x="777240" y="2990088"/>
            <a:ext cx="219456" cy="219456"/>
          </a:xfrm>
          <a:prstGeom prst="rect">
            <a:avLst/>
          </a:prstGeom>
        </p:spPr>
      </p:pic>
      <p:sp>
        <p:nvSpPr>
          <p:cNvPr id="15" name="Text 11"/>
          <p:cNvSpPr/>
          <p:nvPr/>
        </p:nvSpPr>
        <p:spPr>
          <a:xfrm>
            <a:off x="1097280" y="2953512"/>
            <a:ext cx="146304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Dashboard</a:t>
            </a:r>
            <a:endParaRPr lang="en-US" sz="1100" dirty="0"/>
          </a:p>
        </p:txBody>
      </p:sp>
      <p:pic>
        <p:nvPicPr>
          <p:cNvPr id="16" name="Image 2" descr="/home/claude/deck/icons/chartLine_cyan.png"/>
          <p:cNvPicPr>
            <a:picLocks noChangeAspect="1"/>
          </p:cNvPicPr>
          <p:nvPr/>
        </p:nvPicPr>
        <p:blipFill>
          <a:blip r:embed="rId5"/>
          <a:stretch>
            <a:fillRect/>
          </a:stretch>
        </p:blipFill>
        <p:spPr>
          <a:xfrm>
            <a:off x="777240" y="3557016"/>
            <a:ext cx="219456" cy="219456"/>
          </a:xfrm>
          <a:prstGeom prst="rect">
            <a:avLst/>
          </a:prstGeom>
        </p:spPr>
      </p:pic>
      <p:sp>
        <p:nvSpPr>
          <p:cNvPr id="17" name="Text 12"/>
          <p:cNvSpPr/>
          <p:nvPr/>
        </p:nvSpPr>
        <p:spPr>
          <a:xfrm>
            <a:off x="1097280" y="3520440"/>
            <a:ext cx="146304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Forecast</a:t>
            </a:r>
            <a:endParaRPr lang="en-US" sz="1100" dirty="0"/>
          </a:p>
        </p:txBody>
      </p:sp>
      <p:pic>
        <p:nvPicPr>
          <p:cNvPr id="18" name="Image 3" descr="/home/claude/deck/icons/users_cyan.png"/>
          <p:cNvPicPr>
            <a:picLocks noChangeAspect="1"/>
          </p:cNvPicPr>
          <p:nvPr/>
        </p:nvPicPr>
        <p:blipFill>
          <a:blip r:embed="rId6"/>
          <a:stretch>
            <a:fillRect/>
          </a:stretch>
        </p:blipFill>
        <p:spPr>
          <a:xfrm>
            <a:off x="777240" y="4123944"/>
            <a:ext cx="219456" cy="219456"/>
          </a:xfrm>
          <a:prstGeom prst="rect">
            <a:avLst/>
          </a:prstGeom>
        </p:spPr>
      </p:pic>
      <p:sp>
        <p:nvSpPr>
          <p:cNvPr id="19" name="Text 13"/>
          <p:cNvSpPr/>
          <p:nvPr/>
        </p:nvSpPr>
        <p:spPr>
          <a:xfrm>
            <a:off x="1097280" y="4087368"/>
            <a:ext cx="146304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Segmentation</a:t>
            </a:r>
            <a:endParaRPr lang="en-US" sz="1100" dirty="0"/>
          </a:p>
        </p:txBody>
      </p:sp>
      <p:pic>
        <p:nvPicPr>
          <p:cNvPr id="20" name="Image 4" descr="/home/claude/deck/icons/table_cyan.png"/>
          <p:cNvPicPr>
            <a:picLocks noChangeAspect="1"/>
          </p:cNvPicPr>
          <p:nvPr/>
        </p:nvPicPr>
        <p:blipFill>
          <a:blip r:embed="rId7"/>
          <a:stretch>
            <a:fillRect/>
          </a:stretch>
        </p:blipFill>
        <p:spPr>
          <a:xfrm>
            <a:off x="777240" y="4690872"/>
            <a:ext cx="219456" cy="219456"/>
          </a:xfrm>
          <a:prstGeom prst="rect">
            <a:avLst/>
          </a:prstGeom>
        </p:spPr>
      </p:pic>
      <p:sp>
        <p:nvSpPr>
          <p:cNvPr id="21" name="Text 14"/>
          <p:cNvSpPr/>
          <p:nvPr/>
        </p:nvSpPr>
        <p:spPr>
          <a:xfrm>
            <a:off x="1097280" y="4654296"/>
            <a:ext cx="146304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Analytics</a:t>
            </a:r>
            <a:endParaRPr lang="en-US" sz="1100" dirty="0"/>
          </a:p>
        </p:txBody>
      </p:sp>
      <p:sp>
        <p:nvSpPr>
          <p:cNvPr id="22" name="Text 15"/>
          <p:cNvSpPr/>
          <p:nvPr/>
        </p:nvSpPr>
        <p:spPr>
          <a:xfrm>
            <a:off x="2880360" y="2331720"/>
            <a:ext cx="8412480"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Sales Forecast — Next Quarter</a:t>
            </a:r>
            <a:endParaRPr lang="en-US" sz="1500" dirty="0"/>
          </a:p>
        </p:txBody>
      </p:sp>
      <p:graphicFrame>
        <p:nvGraphicFramePr>
          <p:cNvPr id="23" name="Chart 0"/>
          <p:cNvGraphicFramePr/>
          <p:nvPr/>
        </p:nvGraphicFramePr>
        <p:xfrm>
          <a:off x="2880360" y="2743200"/>
          <a:ext cx="8503920" cy="1920240"/>
        </p:xfrm>
        <a:graphic>
          <a:graphicData uri="http://schemas.openxmlformats.org/drawingml/2006/chart">
            <c:chart xmlns:c="http://schemas.openxmlformats.org/drawingml/2006/chart" xmlns:r="http://schemas.openxmlformats.org/officeDocument/2006/relationships" r:id="rId8"/>
          </a:graphicData>
        </a:graphic>
      </p:graphicFrame>
      <p:sp>
        <p:nvSpPr>
          <p:cNvPr id="24" name="Shape 16"/>
          <p:cNvSpPr/>
          <p:nvPr/>
        </p:nvSpPr>
        <p:spPr>
          <a:xfrm>
            <a:off x="2880360" y="4846320"/>
            <a:ext cx="2697480" cy="411480"/>
          </a:xfrm>
          <a:prstGeom prst="roundRect">
            <a:avLst>
              <a:gd name="adj" fmla="val 66667"/>
            </a:avLst>
          </a:prstGeom>
          <a:solidFill>
            <a:srgbClr val="F1F5F9"/>
          </a:solidFill>
          <a:ln w="12700">
            <a:solidFill>
              <a:srgbClr val="E2E8F0"/>
            </a:solidFill>
            <a:prstDash val="solid"/>
          </a:ln>
        </p:spPr>
      </p:sp>
      <p:sp>
        <p:nvSpPr>
          <p:cNvPr id="25" name="Text 17"/>
          <p:cNvSpPr/>
          <p:nvPr/>
        </p:nvSpPr>
        <p:spPr>
          <a:xfrm>
            <a:off x="3063240" y="4846320"/>
            <a:ext cx="2377440" cy="4114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Select Region ▾</a:t>
            </a:r>
            <a:endParaRPr lang="en-US" sz="1000" dirty="0"/>
          </a:p>
        </p:txBody>
      </p:sp>
      <p:sp>
        <p:nvSpPr>
          <p:cNvPr id="26" name="Shape 18"/>
          <p:cNvSpPr/>
          <p:nvPr/>
        </p:nvSpPr>
        <p:spPr>
          <a:xfrm>
            <a:off x="5760720" y="4846320"/>
            <a:ext cx="2697480" cy="411480"/>
          </a:xfrm>
          <a:prstGeom prst="roundRect">
            <a:avLst>
              <a:gd name="adj" fmla="val 66667"/>
            </a:avLst>
          </a:prstGeom>
          <a:solidFill>
            <a:srgbClr val="F1F5F9"/>
          </a:solidFill>
          <a:ln w="12700">
            <a:solidFill>
              <a:srgbClr val="E2E8F0"/>
            </a:solidFill>
            <a:prstDash val="solid"/>
          </a:ln>
        </p:spPr>
      </p:sp>
      <p:sp>
        <p:nvSpPr>
          <p:cNvPr id="27" name="Text 19"/>
          <p:cNvSpPr/>
          <p:nvPr/>
        </p:nvSpPr>
        <p:spPr>
          <a:xfrm>
            <a:off x="5943600" y="4846320"/>
            <a:ext cx="2377440" cy="4114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Select Category ▾</a:t>
            </a:r>
            <a:endParaRPr lang="en-US" sz="1000" dirty="0"/>
          </a:p>
        </p:txBody>
      </p:sp>
      <p:sp>
        <p:nvSpPr>
          <p:cNvPr id="28" name="Shape 20"/>
          <p:cNvSpPr/>
          <p:nvPr/>
        </p:nvSpPr>
        <p:spPr>
          <a:xfrm>
            <a:off x="8641080" y="4846320"/>
            <a:ext cx="2697480" cy="411480"/>
          </a:xfrm>
          <a:prstGeom prst="roundRect">
            <a:avLst>
              <a:gd name="adj" fmla="val 66667"/>
            </a:avLst>
          </a:prstGeom>
          <a:solidFill>
            <a:srgbClr val="F1F5F9"/>
          </a:solidFill>
          <a:ln w="12700">
            <a:solidFill>
              <a:srgbClr val="E2E8F0"/>
            </a:solidFill>
            <a:prstDash val="solid"/>
          </a:ln>
        </p:spPr>
      </p:sp>
      <p:sp>
        <p:nvSpPr>
          <p:cNvPr id="29" name="Text 21"/>
          <p:cNvSpPr/>
          <p:nvPr/>
        </p:nvSpPr>
        <p:spPr>
          <a:xfrm>
            <a:off x="8823960" y="4846320"/>
            <a:ext cx="2377440" cy="4114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Forecast Horizon: 30 days</a:t>
            </a:r>
            <a:endParaRPr lang="en-US" sz="1000" dirty="0"/>
          </a:p>
        </p:txBody>
      </p:sp>
      <p:sp>
        <p:nvSpPr>
          <p:cNvPr id="30" name="Text 22"/>
          <p:cNvSpPr/>
          <p:nvPr/>
        </p:nvSpPr>
        <p:spPr>
          <a:xfrm>
            <a:off x="2880360" y="5440680"/>
            <a:ext cx="841248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Screens: Home · Dashboard · Forecast · Customer Segmentation · Analytics</a:t>
            </a:r>
            <a:endParaRPr lang="en-US" sz="1000" dirty="0"/>
          </a:p>
        </p:txBody>
      </p:sp>
      <p:sp>
        <p:nvSpPr>
          <p:cNvPr id="32" name="Text 23"/>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OUTCOMES</a:t>
            </a:r>
            <a:endParaRPr lang="en-US" sz="1200" dirty="0"/>
          </a:p>
        </p:txBody>
      </p:sp>
      <p:sp>
        <p:nvSpPr>
          <p:cNvPr id="3" name="Text 1"/>
          <p:cNvSpPr/>
          <p:nvPr/>
        </p:nvSpPr>
        <p:spPr>
          <a:xfrm>
            <a:off x="548640" y="621792"/>
            <a:ext cx="10881360" cy="731520"/>
          </a:xfrm>
          <a:prstGeom prst="rect">
            <a:avLst/>
          </a:prstGeom>
          <a:noFill/>
          <a:ln/>
        </p:spPr>
        <p:txBody>
          <a:bodyPr wrap="square" lIns="0" tIns="0" rIns="0" bIns="0" rtlCol="0" anchor="ctr"/>
          <a:lstStyle/>
          <a:p>
            <a:pPr marL="0" indent="0">
              <a:buNone/>
            </a:pPr>
            <a:r>
              <a:rPr lang="en-US" sz="3000" b="1" dirty="0">
                <a:solidFill>
                  <a:srgbClr val="0F172A"/>
                </a:solidFill>
                <a:latin typeface="Cambria" pitchFamily="34" charset="0"/>
                <a:ea typeface="Cambria" pitchFamily="34" charset="-122"/>
                <a:cs typeface="Cambria" pitchFamily="34" charset="-120"/>
              </a:rPr>
              <a:t>Results</a:t>
            </a:r>
            <a:endParaRPr lang="en-US" sz="30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What the platform delivers, measured</a:t>
            </a:r>
            <a:endParaRPr lang="en-US" sz="1400" dirty="0"/>
          </a:p>
        </p:txBody>
      </p:sp>
      <p:sp>
        <p:nvSpPr>
          <p:cNvPr id="5" name="Shape 3"/>
          <p:cNvSpPr/>
          <p:nvPr/>
        </p:nvSpPr>
        <p:spPr>
          <a:xfrm>
            <a:off x="548640" y="1965960"/>
            <a:ext cx="5394960" cy="1920240"/>
          </a:xfrm>
          <a:prstGeom prst="roundRect">
            <a:avLst>
              <a:gd name="adj" fmla="val 3810"/>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6" name="Shape 4"/>
          <p:cNvSpPr/>
          <p:nvPr/>
        </p:nvSpPr>
        <p:spPr>
          <a:xfrm>
            <a:off x="777240" y="2194560"/>
            <a:ext cx="548640" cy="548640"/>
          </a:xfrm>
          <a:prstGeom prst="ellipse">
            <a:avLst/>
          </a:prstGeom>
          <a:solidFill>
            <a:srgbClr val="0A1F44"/>
          </a:solidFill>
          <a:ln/>
        </p:spPr>
      </p:sp>
      <p:pic>
        <p:nvPicPr>
          <p:cNvPr id="7" name="Image 0" descr="/home/claude/deck/icons/bulb_cyan.png"/>
          <p:cNvPicPr>
            <a:picLocks noChangeAspect="1"/>
          </p:cNvPicPr>
          <p:nvPr/>
        </p:nvPicPr>
        <p:blipFill>
          <a:blip r:embed="rId3"/>
          <a:stretch>
            <a:fillRect/>
          </a:stretch>
        </p:blipFill>
        <p:spPr>
          <a:xfrm>
            <a:off x="905256" y="2322576"/>
            <a:ext cx="292608" cy="292608"/>
          </a:xfrm>
          <a:prstGeom prst="rect">
            <a:avLst/>
          </a:prstGeom>
        </p:spPr>
      </p:pic>
      <p:sp>
        <p:nvSpPr>
          <p:cNvPr id="8" name="Text 5"/>
          <p:cNvSpPr/>
          <p:nvPr/>
        </p:nvSpPr>
        <p:spPr>
          <a:xfrm>
            <a:off x="1508760" y="2221992"/>
            <a:ext cx="4206240" cy="45720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Business Insights</a:t>
            </a:r>
            <a:endParaRPr lang="en-US" sz="1500" dirty="0"/>
          </a:p>
        </p:txBody>
      </p:sp>
      <p:sp>
        <p:nvSpPr>
          <p:cNvPr id="9" name="Text 6"/>
          <p:cNvSpPr/>
          <p:nvPr/>
        </p:nvSpPr>
        <p:spPr>
          <a:xfrm>
            <a:off x="822960" y="2926080"/>
            <a:ext cx="4846320" cy="8686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Clear view of top regions, categories and seasonal peaks driving revenue.</a:t>
            </a:r>
            <a:endParaRPr lang="en-US" sz="1200" dirty="0"/>
          </a:p>
        </p:txBody>
      </p:sp>
      <p:sp>
        <p:nvSpPr>
          <p:cNvPr id="10" name="Shape 7"/>
          <p:cNvSpPr/>
          <p:nvPr/>
        </p:nvSpPr>
        <p:spPr>
          <a:xfrm>
            <a:off x="6217920" y="1965960"/>
            <a:ext cx="5394960" cy="1920240"/>
          </a:xfrm>
          <a:prstGeom prst="roundRect">
            <a:avLst>
              <a:gd name="adj" fmla="val 3810"/>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1" name="Shape 8"/>
          <p:cNvSpPr/>
          <p:nvPr/>
        </p:nvSpPr>
        <p:spPr>
          <a:xfrm>
            <a:off x="6446520" y="2194560"/>
            <a:ext cx="548640" cy="548640"/>
          </a:xfrm>
          <a:prstGeom prst="ellipse">
            <a:avLst/>
          </a:prstGeom>
          <a:solidFill>
            <a:srgbClr val="0A1F44"/>
          </a:solidFill>
          <a:ln/>
        </p:spPr>
      </p:sp>
      <p:pic>
        <p:nvPicPr>
          <p:cNvPr id="12" name="Image 1" descr="/home/claude/deck/icons/chartLine_cyan.png"/>
          <p:cNvPicPr>
            <a:picLocks noChangeAspect="1"/>
          </p:cNvPicPr>
          <p:nvPr/>
        </p:nvPicPr>
        <p:blipFill>
          <a:blip r:embed="rId4"/>
          <a:stretch>
            <a:fillRect/>
          </a:stretch>
        </p:blipFill>
        <p:spPr>
          <a:xfrm>
            <a:off x="6574536" y="2322576"/>
            <a:ext cx="292608" cy="292608"/>
          </a:xfrm>
          <a:prstGeom prst="rect">
            <a:avLst/>
          </a:prstGeom>
        </p:spPr>
      </p:pic>
      <p:sp>
        <p:nvSpPr>
          <p:cNvPr id="13" name="Text 9"/>
          <p:cNvSpPr/>
          <p:nvPr/>
        </p:nvSpPr>
        <p:spPr>
          <a:xfrm>
            <a:off x="7178040" y="2221992"/>
            <a:ext cx="4206240" cy="45720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Forecast Accuracy</a:t>
            </a:r>
            <a:endParaRPr lang="en-US" sz="1500" dirty="0"/>
          </a:p>
        </p:txBody>
      </p:sp>
      <p:sp>
        <p:nvSpPr>
          <p:cNvPr id="14" name="Text 10"/>
          <p:cNvSpPr/>
          <p:nvPr/>
        </p:nvSpPr>
        <p:spPr>
          <a:xfrm>
            <a:off x="6492240" y="2926080"/>
            <a:ext cx="4846320" cy="8686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Regression model explains ~84% of sales variance (R²) on held-out data.</a:t>
            </a:r>
            <a:endParaRPr lang="en-US" sz="1200" dirty="0"/>
          </a:p>
        </p:txBody>
      </p:sp>
      <p:sp>
        <p:nvSpPr>
          <p:cNvPr id="15" name="Shape 11"/>
          <p:cNvSpPr/>
          <p:nvPr/>
        </p:nvSpPr>
        <p:spPr>
          <a:xfrm>
            <a:off x="548640" y="4160520"/>
            <a:ext cx="5394960" cy="1920240"/>
          </a:xfrm>
          <a:prstGeom prst="roundRect">
            <a:avLst>
              <a:gd name="adj" fmla="val 3810"/>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6" name="Shape 12"/>
          <p:cNvSpPr/>
          <p:nvPr/>
        </p:nvSpPr>
        <p:spPr>
          <a:xfrm>
            <a:off x="777240" y="4389120"/>
            <a:ext cx="548640" cy="548640"/>
          </a:xfrm>
          <a:prstGeom prst="ellipse">
            <a:avLst/>
          </a:prstGeom>
          <a:solidFill>
            <a:srgbClr val="0A1F44"/>
          </a:solidFill>
          <a:ln/>
        </p:spPr>
      </p:sp>
      <p:pic>
        <p:nvPicPr>
          <p:cNvPr id="17" name="Image 2" descr="/home/claude/deck/icons/users_cyan.png"/>
          <p:cNvPicPr>
            <a:picLocks noChangeAspect="1"/>
          </p:cNvPicPr>
          <p:nvPr/>
        </p:nvPicPr>
        <p:blipFill>
          <a:blip r:embed="rId5"/>
          <a:stretch>
            <a:fillRect/>
          </a:stretch>
        </p:blipFill>
        <p:spPr>
          <a:xfrm>
            <a:off x="905256" y="4517136"/>
            <a:ext cx="292608" cy="292608"/>
          </a:xfrm>
          <a:prstGeom prst="rect">
            <a:avLst/>
          </a:prstGeom>
        </p:spPr>
      </p:pic>
      <p:sp>
        <p:nvSpPr>
          <p:cNvPr id="18" name="Text 13"/>
          <p:cNvSpPr/>
          <p:nvPr/>
        </p:nvSpPr>
        <p:spPr>
          <a:xfrm>
            <a:off x="1508760" y="4416552"/>
            <a:ext cx="4206240" cy="45720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Customer Clusters</a:t>
            </a:r>
            <a:endParaRPr lang="en-US" sz="1500" dirty="0"/>
          </a:p>
        </p:txBody>
      </p:sp>
      <p:sp>
        <p:nvSpPr>
          <p:cNvPr id="19" name="Text 14"/>
          <p:cNvSpPr/>
          <p:nvPr/>
        </p:nvSpPr>
        <p:spPr>
          <a:xfrm>
            <a:off x="822960" y="5120640"/>
            <a:ext cx="4846320" cy="8686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Three actionable segments — Premium, Regular, Low-Value — ready for targeting.</a:t>
            </a:r>
            <a:endParaRPr lang="en-US" sz="1200" dirty="0"/>
          </a:p>
        </p:txBody>
      </p:sp>
      <p:sp>
        <p:nvSpPr>
          <p:cNvPr id="20" name="Shape 15"/>
          <p:cNvSpPr/>
          <p:nvPr/>
        </p:nvSpPr>
        <p:spPr>
          <a:xfrm>
            <a:off x="6217920" y="4160520"/>
            <a:ext cx="5394960" cy="1920240"/>
          </a:xfrm>
          <a:prstGeom prst="roundRect">
            <a:avLst>
              <a:gd name="adj" fmla="val 3810"/>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21" name="Shape 16"/>
          <p:cNvSpPr/>
          <p:nvPr/>
        </p:nvSpPr>
        <p:spPr>
          <a:xfrm>
            <a:off x="6446520" y="4389120"/>
            <a:ext cx="548640" cy="548640"/>
          </a:xfrm>
          <a:prstGeom prst="ellipse">
            <a:avLst/>
          </a:prstGeom>
          <a:solidFill>
            <a:srgbClr val="0A1F44"/>
          </a:solidFill>
          <a:ln/>
        </p:spPr>
      </p:sp>
      <p:pic>
        <p:nvPicPr>
          <p:cNvPr id="22" name="Image 3" descr="/home/claude/deck/icons/chartBar_cyan.png"/>
          <p:cNvPicPr>
            <a:picLocks noChangeAspect="1"/>
          </p:cNvPicPr>
          <p:nvPr/>
        </p:nvPicPr>
        <p:blipFill>
          <a:blip r:embed="rId6"/>
          <a:stretch>
            <a:fillRect/>
          </a:stretch>
        </p:blipFill>
        <p:spPr>
          <a:xfrm>
            <a:off x="6574536" y="4517136"/>
            <a:ext cx="292608" cy="292608"/>
          </a:xfrm>
          <a:prstGeom prst="rect">
            <a:avLst/>
          </a:prstGeom>
        </p:spPr>
      </p:pic>
      <p:sp>
        <p:nvSpPr>
          <p:cNvPr id="23" name="Text 17"/>
          <p:cNvSpPr/>
          <p:nvPr/>
        </p:nvSpPr>
        <p:spPr>
          <a:xfrm>
            <a:off x="7178040" y="4416552"/>
            <a:ext cx="4206240" cy="45720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Dashboard Capabilities</a:t>
            </a:r>
            <a:endParaRPr lang="en-US" sz="1500" dirty="0"/>
          </a:p>
        </p:txBody>
      </p:sp>
      <p:sp>
        <p:nvSpPr>
          <p:cNvPr id="24" name="Text 18"/>
          <p:cNvSpPr/>
          <p:nvPr/>
        </p:nvSpPr>
        <p:spPr>
          <a:xfrm>
            <a:off x="6492240" y="5120640"/>
            <a:ext cx="4846320" cy="8686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Self-serve Power BI views eliminate manual monthly reporting effort.</a:t>
            </a:r>
            <a:endParaRPr lang="en-US" sz="1200" dirty="0"/>
          </a:p>
        </p:txBody>
      </p:sp>
      <p:sp>
        <p:nvSpPr>
          <p:cNvPr id="26" name="Text 19"/>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F44"/>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548640" y="621792"/>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Future Scope</a:t>
            </a:r>
            <a:endParaRPr lang="en-US" sz="3200" dirty="0"/>
          </a:p>
        </p:txBody>
      </p:sp>
      <p:sp>
        <p:nvSpPr>
          <p:cNvPr id="4" name="Text 2"/>
          <p:cNvSpPr/>
          <p:nvPr/>
        </p:nvSpPr>
        <p:spPr>
          <a:xfrm>
            <a:off x="548640" y="1234440"/>
            <a:ext cx="10515600" cy="45720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Extending the platform beyond the current release</a:t>
            </a:r>
            <a:endParaRPr lang="en-US" sz="1500" dirty="0"/>
          </a:p>
        </p:txBody>
      </p:sp>
      <p:sp>
        <p:nvSpPr>
          <p:cNvPr id="5" name="Shape 3"/>
          <p:cNvSpPr/>
          <p:nvPr/>
        </p:nvSpPr>
        <p:spPr>
          <a:xfrm>
            <a:off x="676656" y="1920240"/>
            <a:ext cx="2606040" cy="1691640"/>
          </a:xfrm>
          <a:prstGeom prst="roundRect">
            <a:avLst>
              <a:gd name="adj" fmla="val 4324"/>
            </a:avLst>
          </a:prstGeom>
          <a:solidFill>
            <a:srgbClr val="0F2A5C"/>
          </a:solidFill>
          <a:ln/>
        </p:spPr>
      </p:sp>
      <p:pic>
        <p:nvPicPr>
          <p:cNvPr id="6" name="Image 0" descr="/home/claude/deck/icons/brain_cyan.png"/>
          <p:cNvPicPr>
            <a:picLocks noChangeAspect="1"/>
          </p:cNvPicPr>
          <p:nvPr/>
        </p:nvPicPr>
        <p:blipFill>
          <a:blip r:embed="rId3"/>
          <a:stretch>
            <a:fillRect/>
          </a:stretch>
        </p:blipFill>
        <p:spPr>
          <a:xfrm>
            <a:off x="859536" y="2103120"/>
            <a:ext cx="310896" cy="310896"/>
          </a:xfrm>
          <a:prstGeom prst="rect">
            <a:avLst/>
          </a:prstGeom>
        </p:spPr>
      </p:pic>
      <p:sp>
        <p:nvSpPr>
          <p:cNvPr id="7" name="Text 4"/>
          <p:cNvSpPr/>
          <p:nvPr/>
        </p:nvSpPr>
        <p:spPr>
          <a:xfrm>
            <a:off x="859536" y="2514600"/>
            <a:ext cx="224028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Deep Learning</a:t>
            </a:r>
            <a:endParaRPr lang="en-US" sz="1250" dirty="0"/>
          </a:p>
        </p:txBody>
      </p:sp>
      <p:sp>
        <p:nvSpPr>
          <p:cNvPr id="8" name="Text 5"/>
          <p:cNvSpPr/>
          <p:nvPr/>
        </p:nvSpPr>
        <p:spPr>
          <a:xfrm>
            <a:off x="859536" y="2852928"/>
            <a:ext cx="2240280" cy="685800"/>
          </a:xfrm>
          <a:prstGeom prst="rect">
            <a:avLst/>
          </a:prstGeom>
          <a:noFill/>
          <a:ln/>
        </p:spPr>
        <p:txBody>
          <a:bodyPr wrap="square" lIns="0" tIns="0" rIns="0" bIns="0" rtlCol="0" anchor="t"/>
          <a:lstStyle/>
          <a:p>
            <a:pPr marL="0" indent="0">
              <a:buNone/>
            </a:pPr>
            <a:r>
              <a:rPr lang="en-US" sz="950" dirty="0">
                <a:solidFill>
                  <a:srgbClr val="94A3B8"/>
                </a:solidFill>
                <a:latin typeface="Calibri" pitchFamily="34" charset="0"/>
                <a:ea typeface="Calibri" pitchFamily="34" charset="-122"/>
                <a:cs typeface="Calibri" pitchFamily="34" charset="-120"/>
              </a:rPr>
              <a:t>LSTM/Transformer models for finer-grained time-series forecasting</a:t>
            </a:r>
            <a:endParaRPr lang="en-US" sz="950" dirty="0"/>
          </a:p>
        </p:txBody>
      </p:sp>
      <p:sp>
        <p:nvSpPr>
          <p:cNvPr id="9" name="Shape 6"/>
          <p:cNvSpPr/>
          <p:nvPr/>
        </p:nvSpPr>
        <p:spPr>
          <a:xfrm>
            <a:off x="3419856" y="1920240"/>
            <a:ext cx="2606040" cy="1691640"/>
          </a:xfrm>
          <a:prstGeom prst="roundRect">
            <a:avLst>
              <a:gd name="adj" fmla="val 4324"/>
            </a:avLst>
          </a:prstGeom>
          <a:solidFill>
            <a:srgbClr val="0F2A5C"/>
          </a:solidFill>
          <a:ln/>
        </p:spPr>
      </p:sp>
      <p:pic>
        <p:nvPicPr>
          <p:cNvPr id="10" name="Image 1" descr="/home/claude/deck/icons/cart_cyan.png"/>
          <p:cNvPicPr>
            <a:picLocks noChangeAspect="1"/>
          </p:cNvPicPr>
          <p:nvPr/>
        </p:nvPicPr>
        <p:blipFill>
          <a:blip r:embed="rId4"/>
          <a:stretch>
            <a:fillRect/>
          </a:stretch>
        </p:blipFill>
        <p:spPr>
          <a:xfrm>
            <a:off x="3602736" y="2103120"/>
            <a:ext cx="310896" cy="310896"/>
          </a:xfrm>
          <a:prstGeom prst="rect">
            <a:avLst/>
          </a:prstGeom>
        </p:spPr>
      </p:pic>
      <p:sp>
        <p:nvSpPr>
          <p:cNvPr id="11" name="Text 7"/>
          <p:cNvSpPr/>
          <p:nvPr/>
        </p:nvSpPr>
        <p:spPr>
          <a:xfrm>
            <a:off x="3602736" y="2514600"/>
            <a:ext cx="224028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Recommendation System</a:t>
            </a:r>
            <a:endParaRPr lang="en-US" sz="1250" dirty="0"/>
          </a:p>
        </p:txBody>
      </p:sp>
      <p:sp>
        <p:nvSpPr>
          <p:cNvPr id="12" name="Text 8"/>
          <p:cNvSpPr/>
          <p:nvPr/>
        </p:nvSpPr>
        <p:spPr>
          <a:xfrm>
            <a:off x="3602736" y="2852928"/>
            <a:ext cx="2240280" cy="685800"/>
          </a:xfrm>
          <a:prstGeom prst="rect">
            <a:avLst/>
          </a:prstGeom>
          <a:noFill/>
          <a:ln/>
        </p:spPr>
        <p:txBody>
          <a:bodyPr wrap="square" lIns="0" tIns="0" rIns="0" bIns="0" rtlCol="0" anchor="t"/>
          <a:lstStyle/>
          <a:p>
            <a:pPr marL="0" indent="0">
              <a:buNone/>
            </a:pPr>
            <a:r>
              <a:rPr lang="en-US" sz="950" dirty="0">
                <a:solidFill>
                  <a:srgbClr val="94A3B8"/>
                </a:solidFill>
                <a:latin typeface="Calibri" pitchFamily="34" charset="0"/>
                <a:ea typeface="Calibri" pitchFamily="34" charset="-122"/>
                <a:cs typeface="Calibri" pitchFamily="34" charset="-120"/>
              </a:rPr>
              <a:t>Product recommendations based on purchase and browsing patterns</a:t>
            </a:r>
            <a:endParaRPr lang="en-US" sz="950" dirty="0"/>
          </a:p>
        </p:txBody>
      </p:sp>
      <p:sp>
        <p:nvSpPr>
          <p:cNvPr id="13" name="Shape 9"/>
          <p:cNvSpPr/>
          <p:nvPr/>
        </p:nvSpPr>
        <p:spPr>
          <a:xfrm>
            <a:off x="6163056" y="1920240"/>
            <a:ext cx="2606040" cy="1691640"/>
          </a:xfrm>
          <a:prstGeom prst="roundRect">
            <a:avLst>
              <a:gd name="adj" fmla="val 4324"/>
            </a:avLst>
          </a:prstGeom>
          <a:solidFill>
            <a:srgbClr val="0F2A5C"/>
          </a:solidFill>
          <a:ln/>
        </p:spPr>
      </p:sp>
      <p:pic>
        <p:nvPicPr>
          <p:cNvPr id="14" name="Image 2" descr="/home/claude/deck/icons/comments_cyan.png"/>
          <p:cNvPicPr>
            <a:picLocks noChangeAspect="1"/>
          </p:cNvPicPr>
          <p:nvPr/>
        </p:nvPicPr>
        <p:blipFill>
          <a:blip r:embed="rId5"/>
          <a:stretch>
            <a:fillRect/>
          </a:stretch>
        </p:blipFill>
        <p:spPr>
          <a:xfrm>
            <a:off x="6345936" y="2103120"/>
            <a:ext cx="310896" cy="310896"/>
          </a:xfrm>
          <a:prstGeom prst="rect">
            <a:avLst/>
          </a:prstGeom>
        </p:spPr>
      </p:pic>
      <p:sp>
        <p:nvSpPr>
          <p:cNvPr id="15" name="Text 10"/>
          <p:cNvSpPr/>
          <p:nvPr/>
        </p:nvSpPr>
        <p:spPr>
          <a:xfrm>
            <a:off x="6345936" y="2514600"/>
            <a:ext cx="224028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AI Chatbot</a:t>
            </a:r>
            <a:endParaRPr lang="en-US" sz="1250" dirty="0"/>
          </a:p>
        </p:txBody>
      </p:sp>
      <p:sp>
        <p:nvSpPr>
          <p:cNvPr id="16" name="Text 11"/>
          <p:cNvSpPr/>
          <p:nvPr/>
        </p:nvSpPr>
        <p:spPr>
          <a:xfrm>
            <a:off x="6345936" y="2852928"/>
            <a:ext cx="2240280" cy="685800"/>
          </a:xfrm>
          <a:prstGeom prst="rect">
            <a:avLst/>
          </a:prstGeom>
          <a:noFill/>
          <a:ln/>
        </p:spPr>
        <p:txBody>
          <a:bodyPr wrap="square" lIns="0" tIns="0" rIns="0" bIns="0" rtlCol="0" anchor="t"/>
          <a:lstStyle/>
          <a:p>
            <a:pPr marL="0" indent="0">
              <a:buNone/>
            </a:pPr>
            <a:r>
              <a:rPr lang="en-US" sz="950" dirty="0">
                <a:solidFill>
                  <a:srgbClr val="94A3B8"/>
                </a:solidFill>
                <a:latin typeface="Calibri" pitchFamily="34" charset="0"/>
                <a:ea typeface="Calibri" pitchFamily="34" charset="-122"/>
                <a:cs typeface="Calibri" pitchFamily="34" charset="-120"/>
              </a:rPr>
              <a:t>Conversational assistant for querying sales data in plain language</a:t>
            </a:r>
            <a:endParaRPr lang="en-US" sz="950" dirty="0"/>
          </a:p>
        </p:txBody>
      </p:sp>
      <p:sp>
        <p:nvSpPr>
          <p:cNvPr id="17" name="Shape 12"/>
          <p:cNvSpPr/>
          <p:nvPr/>
        </p:nvSpPr>
        <p:spPr>
          <a:xfrm>
            <a:off x="8906256" y="1920240"/>
            <a:ext cx="2606040" cy="1691640"/>
          </a:xfrm>
          <a:prstGeom prst="roundRect">
            <a:avLst>
              <a:gd name="adj" fmla="val 4324"/>
            </a:avLst>
          </a:prstGeom>
          <a:solidFill>
            <a:srgbClr val="0F2A5C"/>
          </a:solidFill>
          <a:ln/>
        </p:spPr>
      </p:sp>
      <p:pic>
        <p:nvPicPr>
          <p:cNvPr id="18" name="Image 3" descr="/home/claude/deck/icons/bolt_cyan.png"/>
          <p:cNvPicPr>
            <a:picLocks noChangeAspect="1"/>
          </p:cNvPicPr>
          <p:nvPr/>
        </p:nvPicPr>
        <p:blipFill>
          <a:blip r:embed="rId6"/>
          <a:stretch>
            <a:fillRect/>
          </a:stretch>
        </p:blipFill>
        <p:spPr>
          <a:xfrm>
            <a:off x="9089136" y="2103120"/>
            <a:ext cx="310896" cy="310896"/>
          </a:xfrm>
          <a:prstGeom prst="rect">
            <a:avLst/>
          </a:prstGeom>
        </p:spPr>
      </p:pic>
      <p:sp>
        <p:nvSpPr>
          <p:cNvPr id="19" name="Text 13"/>
          <p:cNvSpPr/>
          <p:nvPr/>
        </p:nvSpPr>
        <p:spPr>
          <a:xfrm>
            <a:off x="9089136" y="2514600"/>
            <a:ext cx="224028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Real-Time Analytics</a:t>
            </a:r>
            <a:endParaRPr lang="en-US" sz="1250" dirty="0"/>
          </a:p>
        </p:txBody>
      </p:sp>
      <p:sp>
        <p:nvSpPr>
          <p:cNvPr id="20" name="Text 14"/>
          <p:cNvSpPr/>
          <p:nvPr/>
        </p:nvSpPr>
        <p:spPr>
          <a:xfrm>
            <a:off x="9089136" y="2852928"/>
            <a:ext cx="2240280" cy="685800"/>
          </a:xfrm>
          <a:prstGeom prst="rect">
            <a:avLst/>
          </a:prstGeom>
          <a:noFill/>
          <a:ln/>
        </p:spPr>
        <p:txBody>
          <a:bodyPr wrap="square" lIns="0" tIns="0" rIns="0" bIns="0" rtlCol="0" anchor="t"/>
          <a:lstStyle/>
          <a:p>
            <a:pPr marL="0" indent="0">
              <a:buNone/>
            </a:pPr>
            <a:r>
              <a:rPr lang="en-US" sz="950" dirty="0">
                <a:solidFill>
                  <a:srgbClr val="94A3B8"/>
                </a:solidFill>
                <a:latin typeface="Calibri" pitchFamily="34" charset="0"/>
                <a:ea typeface="Calibri" pitchFamily="34" charset="-122"/>
                <a:cs typeface="Calibri" pitchFamily="34" charset="-120"/>
              </a:rPr>
              <a:t>Streaming ingestion for live, up-to-the-minute dashboards</a:t>
            </a:r>
            <a:endParaRPr lang="en-US" sz="950" dirty="0"/>
          </a:p>
        </p:txBody>
      </p:sp>
      <p:sp>
        <p:nvSpPr>
          <p:cNvPr id="21" name="Shape 15"/>
          <p:cNvSpPr/>
          <p:nvPr/>
        </p:nvSpPr>
        <p:spPr>
          <a:xfrm>
            <a:off x="2048256" y="3794760"/>
            <a:ext cx="2606040" cy="1691640"/>
          </a:xfrm>
          <a:prstGeom prst="roundRect">
            <a:avLst>
              <a:gd name="adj" fmla="val 4324"/>
            </a:avLst>
          </a:prstGeom>
          <a:solidFill>
            <a:srgbClr val="0F2A5C"/>
          </a:solidFill>
          <a:ln/>
        </p:spPr>
      </p:sp>
      <p:pic>
        <p:nvPicPr>
          <p:cNvPr id="22" name="Image 4" descr="/home/claude/deck/icons/cloud_cyan.png"/>
          <p:cNvPicPr>
            <a:picLocks noChangeAspect="1"/>
          </p:cNvPicPr>
          <p:nvPr/>
        </p:nvPicPr>
        <p:blipFill>
          <a:blip r:embed="rId7"/>
          <a:stretch>
            <a:fillRect/>
          </a:stretch>
        </p:blipFill>
        <p:spPr>
          <a:xfrm>
            <a:off x="2231136" y="3977640"/>
            <a:ext cx="310896" cy="310896"/>
          </a:xfrm>
          <a:prstGeom prst="rect">
            <a:avLst/>
          </a:prstGeom>
        </p:spPr>
      </p:pic>
      <p:sp>
        <p:nvSpPr>
          <p:cNvPr id="23" name="Text 16"/>
          <p:cNvSpPr/>
          <p:nvPr/>
        </p:nvSpPr>
        <p:spPr>
          <a:xfrm>
            <a:off x="2231136" y="4389120"/>
            <a:ext cx="224028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Cloud Deployment</a:t>
            </a:r>
            <a:endParaRPr lang="en-US" sz="1250" dirty="0"/>
          </a:p>
        </p:txBody>
      </p:sp>
      <p:sp>
        <p:nvSpPr>
          <p:cNvPr id="24" name="Text 17"/>
          <p:cNvSpPr/>
          <p:nvPr/>
        </p:nvSpPr>
        <p:spPr>
          <a:xfrm>
            <a:off x="2231136" y="4727448"/>
            <a:ext cx="2240280" cy="685800"/>
          </a:xfrm>
          <a:prstGeom prst="rect">
            <a:avLst/>
          </a:prstGeom>
          <a:noFill/>
          <a:ln/>
        </p:spPr>
        <p:txBody>
          <a:bodyPr wrap="square" lIns="0" tIns="0" rIns="0" bIns="0" rtlCol="0" anchor="t"/>
          <a:lstStyle/>
          <a:p>
            <a:pPr marL="0" indent="0">
              <a:buNone/>
            </a:pPr>
            <a:r>
              <a:rPr lang="en-US" sz="950" dirty="0">
                <a:solidFill>
                  <a:srgbClr val="94A3B8"/>
                </a:solidFill>
                <a:latin typeface="Calibri" pitchFamily="34" charset="0"/>
                <a:ea typeface="Calibri" pitchFamily="34" charset="-122"/>
                <a:cs typeface="Calibri" pitchFamily="34" charset="-120"/>
              </a:rPr>
              <a:t>Full AWS/Azure deployment for scalable, always-on access</a:t>
            </a:r>
            <a:endParaRPr lang="en-US" sz="950" dirty="0"/>
          </a:p>
        </p:txBody>
      </p:sp>
      <p:sp>
        <p:nvSpPr>
          <p:cNvPr id="25" name="Shape 18"/>
          <p:cNvSpPr/>
          <p:nvPr/>
        </p:nvSpPr>
        <p:spPr>
          <a:xfrm>
            <a:off x="4791456" y="3794760"/>
            <a:ext cx="2606040" cy="1691640"/>
          </a:xfrm>
          <a:prstGeom prst="roundRect">
            <a:avLst>
              <a:gd name="adj" fmla="val 4324"/>
            </a:avLst>
          </a:prstGeom>
          <a:solidFill>
            <a:srgbClr val="0F2A5C"/>
          </a:solidFill>
          <a:ln/>
        </p:spPr>
      </p:sp>
      <p:pic>
        <p:nvPicPr>
          <p:cNvPr id="26" name="Image 5" descr="/home/claude/deck/icons/gears_cyan.png"/>
          <p:cNvPicPr>
            <a:picLocks noChangeAspect="1"/>
          </p:cNvPicPr>
          <p:nvPr/>
        </p:nvPicPr>
        <p:blipFill>
          <a:blip r:embed="rId8"/>
          <a:stretch>
            <a:fillRect/>
          </a:stretch>
        </p:blipFill>
        <p:spPr>
          <a:xfrm>
            <a:off x="4974336" y="3977640"/>
            <a:ext cx="310896" cy="310896"/>
          </a:xfrm>
          <a:prstGeom prst="rect">
            <a:avLst/>
          </a:prstGeom>
        </p:spPr>
      </p:pic>
      <p:sp>
        <p:nvSpPr>
          <p:cNvPr id="27" name="Text 19"/>
          <p:cNvSpPr/>
          <p:nvPr/>
        </p:nvSpPr>
        <p:spPr>
          <a:xfrm>
            <a:off x="4974336" y="4389120"/>
            <a:ext cx="224028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MLOps</a:t>
            </a:r>
            <a:endParaRPr lang="en-US" sz="1250" dirty="0"/>
          </a:p>
        </p:txBody>
      </p:sp>
      <p:sp>
        <p:nvSpPr>
          <p:cNvPr id="28" name="Text 20"/>
          <p:cNvSpPr/>
          <p:nvPr/>
        </p:nvSpPr>
        <p:spPr>
          <a:xfrm>
            <a:off x="4974336" y="4727448"/>
            <a:ext cx="2240280" cy="685800"/>
          </a:xfrm>
          <a:prstGeom prst="rect">
            <a:avLst/>
          </a:prstGeom>
          <a:noFill/>
          <a:ln/>
        </p:spPr>
        <p:txBody>
          <a:bodyPr wrap="square" lIns="0" tIns="0" rIns="0" bIns="0" rtlCol="0" anchor="t"/>
          <a:lstStyle/>
          <a:p>
            <a:pPr marL="0" indent="0">
              <a:buNone/>
            </a:pPr>
            <a:r>
              <a:rPr lang="en-US" sz="950" dirty="0">
                <a:solidFill>
                  <a:srgbClr val="94A3B8"/>
                </a:solidFill>
                <a:latin typeface="Calibri" pitchFamily="34" charset="0"/>
                <a:ea typeface="Calibri" pitchFamily="34" charset="-122"/>
                <a:cs typeface="Calibri" pitchFamily="34" charset="-120"/>
              </a:rPr>
              <a:t>Automated retraining, monitoring and versioning of models</a:t>
            </a:r>
            <a:endParaRPr lang="en-US" sz="950" dirty="0"/>
          </a:p>
        </p:txBody>
      </p:sp>
      <p:sp>
        <p:nvSpPr>
          <p:cNvPr id="29" name="Shape 21"/>
          <p:cNvSpPr/>
          <p:nvPr/>
        </p:nvSpPr>
        <p:spPr>
          <a:xfrm>
            <a:off x="7534656" y="3794760"/>
            <a:ext cx="2606040" cy="1691640"/>
          </a:xfrm>
          <a:prstGeom prst="roundRect">
            <a:avLst>
              <a:gd name="adj" fmla="val 4324"/>
            </a:avLst>
          </a:prstGeom>
          <a:solidFill>
            <a:srgbClr val="0F2A5C"/>
          </a:solidFill>
          <a:ln/>
        </p:spPr>
      </p:sp>
      <p:pic>
        <p:nvPicPr>
          <p:cNvPr id="30" name="Image 6" descr="/home/claude/deck/icons/robot_cyan.png"/>
          <p:cNvPicPr>
            <a:picLocks noChangeAspect="1"/>
          </p:cNvPicPr>
          <p:nvPr/>
        </p:nvPicPr>
        <p:blipFill>
          <a:blip r:embed="rId9"/>
          <a:stretch>
            <a:fillRect/>
          </a:stretch>
        </p:blipFill>
        <p:spPr>
          <a:xfrm>
            <a:off x="7717536" y="3977640"/>
            <a:ext cx="310896" cy="310896"/>
          </a:xfrm>
          <a:prstGeom prst="rect">
            <a:avLst/>
          </a:prstGeom>
        </p:spPr>
      </p:pic>
      <p:sp>
        <p:nvSpPr>
          <p:cNvPr id="31" name="Text 22"/>
          <p:cNvSpPr/>
          <p:nvPr/>
        </p:nvSpPr>
        <p:spPr>
          <a:xfrm>
            <a:off x="7717536" y="4389120"/>
            <a:ext cx="224028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LLM-Powered Insights</a:t>
            </a:r>
            <a:endParaRPr lang="en-US" sz="1250" dirty="0"/>
          </a:p>
        </p:txBody>
      </p:sp>
      <p:sp>
        <p:nvSpPr>
          <p:cNvPr id="32" name="Text 23"/>
          <p:cNvSpPr/>
          <p:nvPr/>
        </p:nvSpPr>
        <p:spPr>
          <a:xfrm>
            <a:off x="7717536" y="4727448"/>
            <a:ext cx="2240280" cy="685800"/>
          </a:xfrm>
          <a:prstGeom prst="rect">
            <a:avLst/>
          </a:prstGeom>
          <a:noFill/>
          <a:ln/>
        </p:spPr>
        <p:txBody>
          <a:bodyPr wrap="square" lIns="0" tIns="0" rIns="0" bIns="0" rtlCol="0" anchor="t"/>
          <a:lstStyle/>
          <a:p>
            <a:pPr marL="0" indent="0">
              <a:buNone/>
            </a:pPr>
            <a:r>
              <a:rPr lang="en-US" sz="950" dirty="0">
                <a:solidFill>
                  <a:srgbClr val="94A3B8"/>
                </a:solidFill>
                <a:latin typeface="Calibri" pitchFamily="34" charset="0"/>
                <a:ea typeface="Calibri" pitchFamily="34" charset="-122"/>
                <a:cs typeface="Calibri" pitchFamily="34" charset="-120"/>
              </a:rPr>
              <a:t>Natural-language business summaries generated from live data</a:t>
            </a:r>
            <a:endParaRPr lang="en-US" sz="950" dirty="0"/>
          </a:p>
        </p:txBody>
      </p:sp>
      <p:sp>
        <p:nvSpPr>
          <p:cNvPr id="34" name="Text 24"/>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F44"/>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F3460">
              <a:alpha val="65000"/>
            </a:srgbClr>
          </a:solidFill>
          <a:ln/>
        </p:spPr>
      </p:sp>
      <p:sp>
        <p:nvSpPr>
          <p:cNvPr id="3" name="Shape 1"/>
          <p:cNvSpPr/>
          <p:nvPr/>
        </p:nvSpPr>
        <p:spPr>
          <a:xfrm>
            <a:off x="9601200" y="3657600"/>
            <a:ext cx="5029200" cy="5029200"/>
          </a:xfrm>
          <a:prstGeom prst="ellipse">
            <a:avLst/>
          </a:prstGeom>
          <a:solidFill>
            <a:srgbClr val="0891B2">
              <a:alpha val="45000"/>
            </a:srgbClr>
          </a:solidFill>
          <a:ln/>
        </p:spPr>
      </p:sp>
      <p:sp>
        <p:nvSpPr>
          <p:cNvPr id="4" name="Text 2"/>
          <p:cNvSpPr/>
          <p:nvPr/>
        </p:nvSpPr>
        <p:spPr>
          <a:xfrm>
            <a:off x="731520" y="594360"/>
            <a:ext cx="5486400" cy="320040"/>
          </a:xfrm>
          <a:prstGeom prst="rect">
            <a:avLst/>
          </a:prstGeom>
          <a:noFill/>
          <a:ln/>
        </p:spPr>
        <p:txBody>
          <a:bodyPr wrap="square" lIns="0" tIns="0" rIns="0" bIns="0" rtlCol="0" anchor="ctr"/>
          <a:lstStyle/>
          <a:p>
            <a:pPr marL="0" indent="0">
              <a:buNone/>
            </a:pPr>
            <a:r>
              <a:rPr lang="en-US" sz="1300" b="1" kern="0" spc="300" dirty="0">
                <a:solidFill>
                  <a:srgbClr val="22D3EE"/>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731520" y="960120"/>
            <a:ext cx="9144000" cy="9144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From Raw Data to a Deployable Decision Engine</a:t>
            </a:r>
            <a:endParaRPr lang="en-US" sz="2800" dirty="0"/>
          </a:p>
        </p:txBody>
      </p:sp>
      <p:pic>
        <p:nvPicPr>
          <p:cNvPr id="6" name="Image 0" descr="/home/claude/deck/icons/check_cyan.png"/>
          <p:cNvPicPr>
            <a:picLocks noChangeAspect="1"/>
          </p:cNvPicPr>
          <p:nvPr/>
        </p:nvPicPr>
        <p:blipFill>
          <a:blip r:embed="rId3"/>
          <a:stretch>
            <a:fillRect/>
          </a:stretch>
        </p:blipFill>
        <p:spPr>
          <a:xfrm>
            <a:off x="777240" y="2212848"/>
            <a:ext cx="256032" cy="256032"/>
          </a:xfrm>
          <a:prstGeom prst="rect">
            <a:avLst/>
          </a:prstGeom>
        </p:spPr>
      </p:pic>
      <p:sp>
        <p:nvSpPr>
          <p:cNvPr id="7" name="Text 4"/>
          <p:cNvSpPr/>
          <p:nvPr/>
        </p:nvSpPr>
        <p:spPr>
          <a:xfrm>
            <a:off x="1188720" y="2139696"/>
            <a:ext cx="9875520" cy="502920"/>
          </a:xfrm>
          <a:prstGeom prst="rect">
            <a:avLst/>
          </a:prstGeom>
          <a:noFill/>
          <a:ln/>
        </p:spPr>
        <p:txBody>
          <a:bodyPr wrap="square" lIns="0" tIns="0" rIns="0" bIns="0" rtlCol="0" anchor="t"/>
          <a:lstStyle/>
          <a:p>
            <a:pPr marL="0" indent="0">
              <a:buNone/>
            </a:pPr>
            <a:r>
              <a:rPr lang="en-US" sz="1500" dirty="0">
                <a:solidFill>
                  <a:srgbClr val="94A3B8"/>
                </a:solidFill>
                <a:latin typeface="Calibri" pitchFamily="34" charset="0"/>
                <a:ea typeface="Calibri" pitchFamily="34" charset="-122"/>
                <a:cs typeface="Calibri" pitchFamily="34" charset="-120"/>
              </a:rPr>
              <a:t>Built a complete, reproducible pipeline: cleaning → SQL → ML → BI → web app</a:t>
            </a:r>
            <a:endParaRPr lang="en-US" sz="1500" dirty="0"/>
          </a:p>
        </p:txBody>
      </p:sp>
      <p:pic>
        <p:nvPicPr>
          <p:cNvPr id="8" name="Image 1" descr="/home/claude/deck/icons/check_cyan.png"/>
          <p:cNvPicPr>
            <a:picLocks noChangeAspect="1"/>
          </p:cNvPicPr>
          <p:nvPr/>
        </p:nvPicPr>
        <p:blipFill>
          <a:blip r:embed="rId3"/>
          <a:stretch>
            <a:fillRect/>
          </a:stretch>
        </p:blipFill>
        <p:spPr>
          <a:xfrm>
            <a:off x="777240" y="2898648"/>
            <a:ext cx="256032" cy="256032"/>
          </a:xfrm>
          <a:prstGeom prst="rect">
            <a:avLst/>
          </a:prstGeom>
        </p:spPr>
      </p:pic>
      <p:sp>
        <p:nvSpPr>
          <p:cNvPr id="9" name="Text 5"/>
          <p:cNvSpPr/>
          <p:nvPr/>
        </p:nvSpPr>
        <p:spPr>
          <a:xfrm>
            <a:off x="1188720" y="2825496"/>
            <a:ext cx="9875520" cy="502920"/>
          </a:xfrm>
          <a:prstGeom prst="rect">
            <a:avLst/>
          </a:prstGeom>
          <a:noFill/>
          <a:ln/>
        </p:spPr>
        <p:txBody>
          <a:bodyPr wrap="square" lIns="0" tIns="0" rIns="0" bIns="0" rtlCol="0" anchor="t"/>
          <a:lstStyle/>
          <a:p>
            <a:pPr marL="0" indent="0">
              <a:buNone/>
            </a:pPr>
            <a:r>
              <a:rPr lang="en-US" sz="1500" dirty="0">
                <a:solidFill>
                  <a:srgbClr val="94A3B8"/>
                </a:solidFill>
                <a:latin typeface="Calibri" pitchFamily="34" charset="0"/>
                <a:ea typeface="Calibri" pitchFamily="34" charset="-122"/>
                <a:cs typeface="Calibri" pitchFamily="34" charset="-120"/>
              </a:rPr>
              <a:t>Delivered two working models — sales forecasting and customer segmentation — backed by honest, verifiable metrics</a:t>
            </a:r>
            <a:endParaRPr lang="en-US" sz="1500" dirty="0"/>
          </a:p>
        </p:txBody>
      </p:sp>
      <p:pic>
        <p:nvPicPr>
          <p:cNvPr id="10" name="Image 2" descr="/home/claude/deck/icons/check_cyan.png"/>
          <p:cNvPicPr>
            <a:picLocks noChangeAspect="1"/>
          </p:cNvPicPr>
          <p:nvPr/>
        </p:nvPicPr>
        <p:blipFill>
          <a:blip r:embed="rId3"/>
          <a:stretch>
            <a:fillRect/>
          </a:stretch>
        </p:blipFill>
        <p:spPr>
          <a:xfrm>
            <a:off x="777240" y="3584448"/>
            <a:ext cx="256032" cy="256032"/>
          </a:xfrm>
          <a:prstGeom prst="rect">
            <a:avLst/>
          </a:prstGeom>
        </p:spPr>
      </p:pic>
      <p:sp>
        <p:nvSpPr>
          <p:cNvPr id="11" name="Text 6"/>
          <p:cNvSpPr/>
          <p:nvPr/>
        </p:nvSpPr>
        <p:spPr>
          <a:xfrm>
            <a:off x="1188720" y="3511296"/>
            <a:ext cx="9875520" cy="502920"/>
          </a:xfrm>
          <a:prstGeom prst="rect">
            <a:avLst/>
          </a:prstGeom>
          <a:noFill/>
          <a:ln/>
        </p:spPr>
        <p:txBody>
          <a:bodyPr wrap="square" lIns="0" tIns="0" rIns="0" bIns="0" rtlCol="0" anchor="t"/>
          <a:lstStyle/>
          <a:p>
            <a:pPr marL="0" indent="0">
              <a:buNone/>
            </a:pPr>
            <a:r>
              <a:rPr lang="en-US" sz="1500" dirty="0">
                <a:solidFill>
                  <a:srgbClr val="94A3B8"/>
                </a:solidFill>
                <a:latin typeface="Calibri" pitchFamily="34" charset="0"/>
                <a:ea typeface="Calibri" pitchFamily="34" charset="-122"/>
                <a:cs typeface="Calibri" pitchFamily="34" charset="-120"/>
              </a:rPr>
              <a:t>Produced a Power BI dashboard and a deployed Streamlit app that a non-technical stakeholder can use directly</a:t>
            </a:r>
            <a:endParaRPr lang="en-US" sz="1500" dirty="0"/>
          </a:p>
        </p:txBody>
      </p:sp>
      <p:pic>
        <p:nvPicPr>
          <p:cNvPr id="12" name="Image 3" descr="/home/claude/deck/icons/check_cyan.png"/>
          <p:cNvPicPr>
            <a:picLocks noChangeAspect="1"/>
          </p:cNvPicPr>
          <p:nvPr/>
        </p:nvPicPr>
        <p:blipFill>
          <a:blip r:embed="rId3"/>
          <a:stretch>
            <a:fillRect/>
          </a:stretch>
        </p:blipFill>
        <p:spPr>
          <a:xfrm>
            <a:off x="777240" y="4270248"/>
            <a:ext cx="256032" cy="256032"/>
          </a:xfrm>
          <a:prstGeom prst="rect">
            <a:avLst/>
          </a:prstGeom>
        </p:spPr>
      </p:pic>
      <p:sp>
        <p:nvSpPr>
          <p:cNvPr id="13" name="Text 7"/>
          <p:cNvSpPr/>
          <p:nvPr/>
        </p:nvSpPr>
        <p:spPr>
          <a:xfrm>
            <a:off x="1188720" y="4197096"/>
            <a:ext cx="9875520" cy="502920"/>
          </a:xfrm>
          <a:prstGeom prst="rect">
            <a:avLst/>
          </a:prstGeom>
          <a:noFill/>
          <a:ln/>
        </p:spPr>
        <p:txBody>
          <a:bodyPr wrap="square" lIns="0" tIns="0" rIns="0" bIns="0" rtlCol="0" anchor="t"/>
          <a:lstStyle/>
          <a:p>
            <a:pPr marL="0" indent="0">
              <a:buNone/>
            </a:pPr>
            <a:r>
              <a:rPr lang="en-US" sz="1500" dirty="0">
                <a:solidFill>
                  <a:srgbClr val="94A3B8"/>
                </a:solidFill>
                <a:latin typeface="Calibri" pitchFamily="34" charset="0"/>
                <a:ea typeface="Calibri" pitchFamily="34" charset="-122"/>
                <a:cs typeface="Calibri" pitchFamily="34" charset="-120"/>
              </a:rPr>
              <a:t>Demonstrated the full data science skill set: Python, SQL, statistics, ML, visualization and deployment</a:t>
            </a:r>
            <a:endParaRPr lang="en-US" sz="1500" dirty="0"/>
          </a:p>
        </p:txBody>
      </p:sp>
      <p:sp>
        <p:nvSpPr>
          <p:cNvPr id="14" name="Text 8"/>
          <p:cNvSpPr/>
          <p:nvPr/>
        </p:nvSpPr>
        <p:spPr>
          <a:xfrm>
            <a:off x="731520" y="5257800"/>
            <a:ext cx="9966960" cy="640080"/>
          </a:xfrm>
          <a:prstGeom prst="rect">
            <a:avLst/>
          </a:prstGeom>
          <a:noFill/>
          <a:ln/>
        </p:spPr>
        <p:txBody>
          <a:bodyPr wrap="square" lIns="0" tIns="0" rIns="0" bIns="0" rtlCol="0" anchor="ctr"/>
          <a:lstStyle/>
          <a:p>
            <a:pPr marL="0" indent="0">
              <a:buNone/>
            </a:pPr>
            <a:r>
              <a:rPr lang="en-US" sz="1350" i="1" dirty="0">
                <a:solidFill>
                  <a:srgbClr val="22D3EE"/>
                </a:solidFill>
                <a:latin typeface="Calibri" pitchFamily="34" charset="0"/>
                <a:ea typeface="Calibri" pitchFamily="34" charset="-122"/>
                <a:cs typeface="Calibri" pitchFamily="34" charset="-120"/>
              </a:rPr>
              <a:t>This project reflects not just technical execution, but the ability to translate data into business value — the core of a Data Analyst's role.</a:t>
            </a:r>
            <a:endParaRPr lang="en-US" sz="1350" dirty="0"/>
          </a:p>
        </p:txBody>
      </p:sp>
      <p:sp>
        <p:nvSpPr>
          <p:cNvPr id="16" name="Text 9"/>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F44"/>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F3460">
              <a:alpha val="70000"/>
            </a:srgbClr>
          </a:solidFill>
          <a:ln/>
        </p:spPr>
      </p:sp>
      <p:sp>
        <p:nvSpPr>
          <p:cNvPr id="3" name="Shape 1"/>
          <p:cNvSpPr/>
          <p:nvPr/>
        </p:nvSpPr>
        <p:spPr>
          <a:xfrm>
            <a:off x="-2286000" y="4206240"/>
            <a:ext cx="5029200" cy="5029200"/>
          </a:xfrm>
          <a:prstGeom prst="ellipse">
            <a:avLst/>
          </a:prstGeom>
          <a:solidFill>
            <a:srgbClr val="0891B2">
              <a:alpha val="50000"/>
            </a:srgbClr>
          </a:solidFill>
          <a:ln/>
        </p:spPr>
      </p:sp>
      <p:sp>
        <p:nvSpPr>
          <p:cNvPr id="4" name="Text 2"/>
          <p:cNvSpPr/>
          <p:nvPr/>
        </p:nvSpPr>
        <p:spPr>
          <a:xfrm>
            <a:off x="822960" y="2377440"/>
            <a:ext cx="7315200" cy="10972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868680" y="3383280"/>
            <a:ext cx="7315200" cy="457200"/>
          </a:xfrm>
          <a:prstGeom prst="rect">
            <a:avLst/>
          </a:prstGeom>
          <a:noFill/>
          <a:ln/>
        </p:spPr>
        <p:txBody>
          <a:bodyPr wrap="square" lIns="0" tIns="0" rIns="0" bIns="0" rtlCol="0" anchor="ctr"/>
          <a:lstStyle/>
          <a:p>
            <a:pPr marL="0" indent="0">
              <a:buNone/>
            </a:pPr>
            <a:r>
              <a:rPr lang="en-US" sz="1800" dirty="0">
                <a:solidFill>
                  <a:srgbClr val="22D3EE"/>
                </a:solidFill>
                <a:latin typeface="Calibri" pitchFamily="34" charset="0"/>
                <a:ea typeface="Calibri" pitchFamily="34" charset="-122"/>
                <a:cs typeface="Calibri" pitchFamily="34" charset="-120"/>
              </a:rPr>
              <a:t>Questions &amp; Answers</a:t>
            </a:r>
            <a:endParaRPr lang="en-US" sz="1800" dirty="0"/>
          </a:p>
        </p:txBody>
      </p:sp>
      <p:sp>
        <p:nvSpPr>
          <p:cNvPr id="6" name="Shape 4"/>
          <p:cNvSpPr/>
          <p:nvPr/>
        </p:nvSpPr>
        <p:spPr>
          <a:xfrm>
            <a:off x="822960" y="4206240"/>
            <a:ext cx="5669280" cy="1234440"/>
          </a:xfrm>
          <a:prstGeom prst="roundRect">
            <a:avLst>
              <a:gd name="adj" fmla="val 5926"/>
            </a:avLst>
          </a:prstGeom>
          <a:solidFill>
            <a:srgbClr val="0F2A5C"/>
          </a:solidFill>
          <a:ln/>
        </p:spPr>
      </p:sp>
      <p:sp>
        <p:nvSpPr>
          <p:cNvPr id="7" name="Text 5"/>
          <p:cNvSpPr/>
          <p:nvPr/>
        </p:nvSpPr>
        <p:spPr>
          <a:xfrm>
            <a:off x="1051560" y="4370832"/>
            <a:ext cx="521208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Deepak Bailwal</a:t>
            </a:r>
            <a:endParaRPr lang="en-US" sz="1600" dirty="0"/>
          </a:p>
        </p:txBody>
      </p:sp>
      <p:sp>
        <p:nvSpPr>
          <p:cNvPr id="8" name="Text 6"/>
          <p:cNvSpPr/>
          <p:nvPr/>
        </p:nvSpPr>
        <p:spPr>
          <a:xfrm>
            <a:off x="1051560" y="4736592"/>
            <a:ext cx="5212080" cy="320040"/>
          </a:xfrm>
          <a:prstGeom prst="rect">
            <a:avLst/>
          </a:prstGeom>
          <a:noFill/>
          <a:ln/>
        </p:spPr>
        <p:txBody>
          <a:bodyPr wrap="square" lIns="0" tIns="0" rIns="0" bIns="0" rtlCol="0" anchor="ctr"/>
          <a:lstStyle/>
          <a:p>
            <a:pPr marL="0" indent="0">
              <a:buNone/>
            </a:pPr>
            <a:r>
              <a:rPr lang="en-US" sz="1200">
                <a:solidFill>
                  <a:srgbClr val="94A3B8"/>
                </a:solidFill>
                <a:latin typeface="Calibri" pitchFamily="34" charset="0"/>
                <a:ea typeface="Calibri" pitchFamily="34" charset="-122"/>
                <a:cs typeface="Calibri" pitchFamily="34" charset="-120"/>
              </a:rPr>
              <a:t> </a:t>
            </a:r>
            <a:r>
              <a:rPr lang="en-US" sz="1200" dirty="0">
                <a:solidFill>
                  <a:srgbClr val="94A3B8"/>
                </a:solidFill>
                <a:latin typeface="Calibri" pitchFamily="34" charset="0"/>
                <a:ea typeface="Calibri" pitchFamily="34" charset="-122"/>
                <a:cs typeface="Calibri" pitchFamily="34" charset="-120"/>
              </a:rPr>
              <a:t>Diploma in Data Science</a:t>
            </a:r>
            <a:endParaRPr lang="en-US" sz="1200" dirty="0"/>
          </a:p>
        </p:txBody>
      </p:sp>
      <p:sp>
        <p:nvSpPr>
          <p:cNvPr id="9" name="Text 7"/>
          <p:cNvSpPr/>
          <p:nvPr/>
        </p:nvSpPr>
        <p:spPr>
          <a:xfrm>
            <a:off x="1051560" y="5074920"/>
            <a:ext cx="5212080" cy="32004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AI-Powered E-Commerce Analytics &amp; Sales Forecasting Platform</a:t>
            </a:r>
            <a:endParaRPr lang="en-US" sz="1100" dirty="0"/>
          </a:p>
        </p:txBody>
      </p:sp>
      <p:sp>
        <p:nvSpPr>
          <p:cNvPr id="11" name="Text 8"/>
          <p:cNvSpPr/>
          <p:nvPr/>
        </p:nvSpPr>
        <p:spPr>
          <a:xfrm>
            <a:off x="11521440" y="6446520"/>
            <a:ext cx="548640" cy="32004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2414</Words>
  <Application>Microsoft Office PowerPoint</Application>
  <PresentationFormat>Widescreen</PresentationFormat>
  <Paragraphs>435</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E-Commerce Analytics &amp; Sales Forecasting Platform</dc:title>
  <dc:subject>PptxGenJS Presentation</dc:subject>
  <dc:creator>Deepak Bailwal</dc:creator>
  <cp:lastModifiedBy>deepak81259@outlook.com</cp:lastModifiedBy>
  <cp:revision>3</cp:revision>
  <dcterms:created xsi:type="dcterms:W3CDTF">2026-07-07T03:59:31Z</dcterms:created>
  <dcterms:modified xsi:type="dcterms:W3CDTF">2026-07-08T13:01:32Z</dcterms:modified>
</cp:coreProperties>
</file>